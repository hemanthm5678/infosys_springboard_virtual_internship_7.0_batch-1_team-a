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8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4CE5B-B45B-4D84-B0B3-B4845495E33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15E0A-3328-4B02-B78B-FEE4643B2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95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15E0A-3328-4B02-B78B-FEE4643B289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917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9144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9144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9144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18320" y="0"/>
            <a:ext cx="9144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698480" y="0"/>
            <a:ext cx="9144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38559" y="0"/>
            <a:ext cx="9144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4572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1D4FA"/>
                </a:solidFill>
                <a:latin typeface="Segoe UI"/>
              </a:defRPr>
            </a:pPr>
            <a:r>
              <a:t>INFOSYS SPRINGBOARD VIRTUAL INTERNSHIP 7.0  |  MILESTONE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9601200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 Analytics Platform with Incident Visualization System </a:t>
            </a:r>
            <a:endParaRPr dirty="0"/>
          </a:p>
          <a:p>
            <a:pPr>
              <a:defRPr sz="1800">
                <a:solidFill>
                  <a:srgbClr val="8892B0"/>
                </a:solidFill>
                <a:latin typeface="Segoe UI"/>
              </a:defRPr>
            </a:pPr>
            <a:r>
              <a:rPr dirty="0"/>
              <a:t>Understanding how data analytics and visualization help identify, monitor, and respond to cybersecurity threats.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Prepared by: Akshay Jaiswal</a:t>
            </a:r>
          </a:p>
          <a:p>
            <a:pPr>
              <a:defRPr sz="1300">
                <a:solidFill>
                  <a:srgbClr val="8892B0"/>
                </a:solidFill>
                <a:latin typeface="Segoe UI"/>
              </a:defRPr>
            </a:pPr>
            <a:r>
              <a:t>Data Visualization Intern  •  Infosys Springboard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45920"/>
            <a:ext cx="94914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0A192F"/>
                </a:solidFill>
                <a:latin typeface="Segoe UI"/>
              </a:defRPr>
            </a:pPr>
            <a:r>
              <a:t>Build a Clean, Analysis-Ready Dataset</a:t>
            </a:r>
          </a:p>
          <a:p>
            <a:pPr>
              <a:lnSpc>
                <a:spcPct val="115000"/>
              </a:lnSpc>
              <a:defRPr sz="1150">
                <a:solidFill>
                  <a:srgbClr val="64748B"/>
                </a:solidFill>
                <a:latin typeface="Segoe UI"/>
              </a:defRPr>
            </a:pPr>
            <a:r>
              <a:t>Transform raw cybersecurity network logs into a structured table using Power Query in Power BI.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591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329184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00400"/>
            <a:ext cx="94914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0A192F"/>
                </a:solidFill>
                <a:latin typeface="Segoe UI"/>
              </a:defRPr>
            </a:pPr>
            <a:r>
              <a:t>Engineer Risk Indicators</a:t>
            </a:r>
          </a:p>
          <a:p>
            <a:pPr>
              <a:lnSpc>
                <a:spcPct val="115000"/>
              </a:lnSpc>
              <a:defRPr sz="1150">
                <a:solidFill>
                  <a:srgbClr val="64748B"/>
                </a:solidFill>
                <a:latin typeface="Segoe UI"/>
              </a:defRPr>
            </a:pPr>
            <a:r>
              <a:t>Derive fields such as Severity Score, Urgency Flag and Incident ID to support faster triage of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591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484632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754880"/>
            <a:ext cx="94914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0A192F"/>
                </a:solidFill>
                <a:latin typeface="Segoe UI"/>
              </a:defRPr>
            </a:pPr>
            <a:r>
              <a:t>Enable Real-Time Threat Visualization</a:t>
            </a:r>
          </a:p>
          <a:p>
            <a:pPr>
              <a:lnSpc>
                <a:spcPct val="115000"/>
              </a:lnSpc>
              <a:defRPr sz="1150">
                <a:solidFill>
                  <a:srgbClr val="64748B"/>
                </a:solidFill>
                <a:latin typeface="Segoe UI"/>
              </a:defRPr>
            </a:pPr>
            <a:r>
              <a:t>Use the structured data to power an interactive Power BI dashboard for monitoring and investigating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A192F"/>
                </a:solidFill>
                <a:latin typeface="Segoe UI"/>
              </a:defRPr>
            </a:pPr>
            <a:r>
              <a:t>What is Advanced Threat Incident Analytics?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The process of collecting, analyzing and interpreting cybersecurity data to detect, investigate and respond to security threats in real time.</a:t>
            </a:r>
          </a:p>
          <a:p>
            <a:pPr>
              <a:spcAft>
                <a:spcPts val="400"/>
              </a:spcAft>
              <a:defRPr sz="1350" b="1">
                <a:solidFill>
                  <a:srgbClr val="0A192F"/>
                </a:solidFill>
                <a:latin typeface="Segoe UI"/>
              </a:defRPr>
            </a:pPr>
            <a:r>
              <a:t>It focuses on:</a:t>
            </a:r>
          </a:p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• Detecting cyber attacks early</a:t>
            </a:r>
          </a:p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• Identifying suspicious user or network behaviour</a:t>
            </a:r>
          </a:p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• Reducing incident response time</a:t>
            </a:r>
          </a:p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• Supporting informed, data-driven security decisions</a:t>
            </a:r>
          </a:p>
          <a:p>
            <a:br/>
            <a:r>
              <a:t>About ThreatLens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ThreatLens works with a simulated network-log dataset, preparing it in Power BI's Power Query editor and building it into an interactive security visualization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63040"/>
            <a:ext cx="4480560" cy="475488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73736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Typical Data Sources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81D4FA"/>
                </a:solidFill>
                <a:latin typeface="Segoe MDL2 Assets"/>
              </a:rPr>
              <a:t></a:t>
            </a:r>
            <a:r>
              <a:rPr sz="1300">
                <a:solidFill>
                  <a:srgbClr val="DCE6F5"/>
                </a:solidFill>
                <a:latin typeface="Segoe UI"/>
              </a:rPr>
              <a:t>    Network Logs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81D4FA"/>
                </a:solidFill>
                <a:latin typeface="Segoe MDL2 Assets"/>
              </a:rPr>
              <a:t></a:t>
            </a:r>
            <a:r>
              <a:rPr sz="1300">
                <a:solidFill>
                  <a:srgbClr val="DCE6F5"/>
                </a:solidFill>
                <a:latin typeface="Segoe UI"/>
              </a:rPr>
              <a:t>    Firewall Logs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81D4FA"/>
                </a:solidFill>
                <a:latin typeface="Segoe MDL2 Assets"/>
              </a:rPr>
              <a:t></a:t>
            </a:r>
            <a:r>
              <a:rPr sz="1300">
                <a:solidFill>
                  <a:srgbClr val="DCE6F5"/>
                </a:solidFill>
                <a:latin typeface="Segoe UI"/>
              </a:rPr>
              <a:t>    User Login Activity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81D4FA"/>
                </a:solidFill>
                <a:latin typeface="Segoe MDL2 Assets"/>
              </a:rPr>
              <a:t></a:t>
            </a:r>
            <a:r>
              <a:rPr sz="1300">
                <a:solidFill>
                  <a:srgbClr val="DCE6F5"/>
                </a:solidFill>
                <a:latin typeface="Segoe UI"/>
              </a:rPr>
              <a:t>    Endpoint Devices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81D4FA"/>
                </a:solidFill>
                <a:latin typeface="Segoe MDL2 Assets"/>
              </a:rPr>
              <a:t></a:t>
            </a:r>
            <a:r>
              <a:rPr sz="1300">
                <a:solidFill>
                  <a:srgbClr val="DCE6F5"/>
                </a:solidFill>
                <a:latin typeface="Segoe UI"/>
              </a:rPr>
              <a:t>    Cloud Applications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81D4FA"/>
                </a:solidFill>
                <a:latin typeface="Segoe MDL2 Assets"/>
              </a:rPr>
              <a:t></a:t>
            </a:r>
            <a:r>
              <a:rPr sz="1300">
                <a:solidFill>
                  <a:srgbClr val="DCE6F5"/>
                </a:solidFill>
                <a:latin typeface="Segoe UI"/>
              </a:rPr>
              <a:t>    SIEM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E6F2FF"/>
                </a:solidFill>
                <a:latin typeface="Segoe UI"/>
              </a:defRPr>
            </a:pPr>
            <a:r>
              <a:t>END-TO-END POWER QUERY PROCESS, FROM RAW LOGS TO A LOAD-READY ANALYTICAL TABLE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Workflow (Pre processing)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D4FA"/>
                </a:solidFill>
                <a:latin typeface="Segoe UI"/>
              </a:defRPr>
            </a:pPr>
            <a:r>
              <a:t>01   </a:t>
            </a:r>
            <a:r>
              <a:rPr sz="1200">
                <a:solidFill>
                  <a:srgbClr val="81D4FA"/>
                </a:solidFill>
                <a:latin typeface="Segoe MDL2 Assets"/>
              </a:rPr>
              <a:t>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Load Data</a:t>
            </a:r>
          </a:p>
          <a:p>
            <a:pPr>
              <a:defRPr sz="1000">
                <a:solidFill>
                  <a:srgbClr val="8892B0"/>
                </a:solidFill>
                <a:latin typeface="Segoe UI"/>
              </a:defRPr>
            </a:pPr>
            <a:r>
              <a:t>Connect to raw log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1645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D4FA"/>
                </a:solidFill>
                <a:latin typeface="Segoe UI"/>
              </a:defRPr>
            </a:pPr>
            <a:r>
              <a:t>02   </a:t>
            </a:r>
            <a:r>
              <a:rPr sz="1200">
                <a:solidFill>
                  <a:srgbClr val="81D4FA"/>
                </a:solidFill>
                <a:latin typeface="Segoe MDL2 Assets"/>
              </a:rPr>
              <a:t>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Remove Duplicates &amp; Blanks</a:t>
            </a:r>
          </a:p>
          <a:p>
            <a:pPr>
              <a:defRPr sz="1000">
                <a:solidFill>
                  <a:srgbClr val="8892B0"/>
                </a:solidFill>
                <a:latin typeface="Segoe UI"/>
              </a:defRPr>
            </a:pPr>
            <a:r>
              <a:t>De-duplicate log entries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645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D4FA"/>
                </a:solidFill>
                <a:latin typeface="Segoe UI"/>
              </a:defRPr>
            </a:pPr>
            <a:r>
              <a:t>03   </a:t>
            </a:r>
            <a:r>
              <a:rPr sz="1200">
                <a:solidFill>
                  <a:srgbClr val="81D4FA"/>
                </a:solidFill>
                <a:latin typeface="Segoe MDL2 Assets"/>
              </a:rPr>
              <a:t>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Fix Data Types</a:t>
            </a:r>
          </a:p>
          <a:p>
            <a:pPr>
              <a:defRPr sz="1000">
                <a:solidFill>
                  <a:srgbClr val="8892B0"/>
                </a:solidFill>
                <a:latin typeface="Segoe UI"/>
              </a:defRPr>
            </a:pPr>
            <a:r>
              <a:t>Correct date, time &amp; numeric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1645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D4FA"/>
                </a:solidFill>
                <a:latin typeface="Segoe UI"/>
              </a:defRPr>
            </a:pPr>
            <a:r>
              <a:t>04   </a:t>
            </a:r>
            <a:r>
              <a:rPr sz="1200">
                <a:solidFill>
                  <a:srgbClr val="81D4FA"/>
                </a:solidFill>
                <a:latin typeface="Segoe MDL2 Assets"/>
              </a:rPr>
              <a:t>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Trim &amp; Clean Text</a:t>
            </a:r>
          </a:p>
          <a:p>
            <a:pPr>
              <a:defRPr sz="1000">
                <a:solidFill>
                  <a:srgbClr val="8892B0"/>
                </a:solidFill>
                <a:latin typeface="Segoe UI"/>
              </a:defRPr>
            </a:pPr>
            <a:r>
              <a:t>Standardise protocol &amp; text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2468880" cy="1645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D4FA"/>
                </a:solidFill>
                <a:latin typeface="Segoe UI"/>
              </a:defRPr>
            </a:pPr>
            <a:r>
              <a:t>05   </a:t>
            </a:r>
            <a:r>
              <a:rPr sz="1200">
                <a:solidFill>
                  <a:srgbClr val="81D4FA"/>
                </a:solidFill>
                <a:latin typeface="Segoe MDL2 Assets"/>
              </a:rPr>
              <a:t>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Engineer Risk Fields</a:t>
            </a:r>
          </a:p>
          <a:p>
            <a:pPr>
              <a:defRPr sz="1000">
                <a:solidFill>
                  <a:srgbClr val="8892B0"/>
                </a:solidFill>
                <a:latin typeface="Segoe UI"/>
              </a:defRPr>
            </a:pPr>
            <a:r>
              <a:t>Severity score &amp; urgency flag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657600"/>
            <a:ext cx="2468880" cy="1645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37947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D4FA"/>
                </a:solidFill>
                <a:latin typeface="Segoe UI"/>
              </a:defRPr>
            </a:pPr>
            <a:r>
              <a:t>06   </a:t>
            </a:r>
            <a:r>
              <a:rPr sz="1200">
                <a:solidFill>
                  <a:srgbClr val="81D4FA"/>
                </a:solidFill>
                <a:latin typeface="Segoe MDL2 Assets"/>
              </a:rPr>
              <a:t>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Generate Incident ID</a:t>
            </a:r>
          </a:p>
          <a:p>
            <a:pPr>
              <a:defRPr sz="1000">
                <a:solidFill>
                  <a:srgbClr val="8892B0"/>
                </a:solidFill>
                <a:latin typeface="Segoe UI"/>
              </a:defRPr>
            </a:pPr>
            <a:r>
              <a:t>Unique identifier per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57600"/>
            <a:ext cx="2468880" cy="1645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7947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D4FA"/>
                </a:solidFill>
                <a:latin typeface="Segoe UI"/>
              </a:defRPr>
            </a:pPr>
            <a:r>
              <a:t>07   </a:t>
            </a:r>
            <a:r>
              <a:rPr sz="1200">
                <a:solidFill>
                  <a:srgbClr val="81D4FA"/>
                </a:solidFill>
                <a:latin typeface="Segoe MDL2 Assets"/>
              </a:rPr>
              <a:t>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Drop Noisy Columns</a:t>
            </a:r>
          </a:p>
          <a:p>
            <a:pPr>
              <a:defRPr sz="1000">
                <a:solidFill>
                  <a:srgbClr val="8892B0"/>
                </a:solidFill>
                <a:latin typeface="Segoe UI"/>
              </a:defRPr>
            </a:pPr>
            <a:r>
              <a:t>Remove high-cardinality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657600"/>
            <a:ext cx="2468880" cy="1645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37947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D4FA"/>
                </a:solidFill>
                <a:latin typeface="Segoe UI"/>
              </a:defRPr>
            </a:pPr>
            <a:r>
              <a:t>08   </a:t>
            </a:r>
            <a:r>
              <a:rPr sz="1200">
                <a:solidFill>
                  <a:srgbClr val="81D4FA"/>
                </a:solidFill>
                <a:latin typeface="Segoe MDL2 Assets"/>
              </a:rPr>
              <a:t>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Close &amp; Load</a:t>
            </a:r>
          </a:p>
          <a:p>
            <a:pPr>
              <a:defRPr sz="1000">
                <a:solidFill>
                  <a:srgbClr val="8892B0"/>
                </a:solidFill>
                <a:latin typeface="Segoe UI"/>
              </a:defRPr>
            </a:pPr>
            <a:r>
              <a:t>Load into the Power BI data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E6F2FF"/>
                </a:solidFill>
                <a:latin typeface="Segoe UI"/>
              </a:defRPr>
            </a:pPr>
            <a:r>
              <a:t>PLANNED WORKFLOW AFTER THE DATA IS CONNECTED AND LOADED INTO POWER BI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Workflow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Problem Understanding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Define objectives &amp;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64592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71800" y="173736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 Ingestion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Establish source connection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173736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 Preprocessing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Applied steps in Power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4592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173736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1D4FA"/>
                </a:solidFill>
                <a:latin typeface="Segoe UI"/>
              </a:defRPr>
            </a:pPr>
            <a:r>
              <a:t>04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Build Data Model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Set up table relationships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4592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0" y="173736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1D4FA"/>
                </a:solidFill>
                <a:latin typeface="Segoe UI"/>
              </a:defRPr>
            </a:pPr>
            <a:r>
              <a:t>05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Define KPIs &amp; DAX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Incident counts &amp; ratios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1D4FA"/>
                </a:solidFill>
                <a:latin typeface="Segoe UI"/>
              </a:defRPr>
            </a:pPr>
            <a:r>
              <a:t>06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Design Visuals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Select chart visual styles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365760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37490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1D4FA"/>
                </a:solidFill>
                <a:latin typeface="Segoe UI"/>
              </a:defRPr>
            </a:pPr>
            <a:r>
              <a:t>07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Build Dashboard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Assemble visuals in layout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65760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37490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1D4FA"/>
                </a:solidFill>
                <a:latin typeface="Segoe UI"/>
              </a:defRPr>
            </a:pPr>
            <a:r>
              <a:t>08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Add Interactivity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Slicers &amp; drill-throughs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65760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37490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1D4FA"/>
                </a:solidFill>
                <a:latin typeface="Segoe UI"/>
              </a:defRPr>
            </a:pPr>
            <a:r>
              <a:t>09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Test &amp; Validate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Check data alignment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657600"/>
            <a:ext cx="19202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0" y="37490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1D4FA"/>
                </a:solidFill>
                <a:latin typeface="Segoe UI"/>
              </a:defRPr>
            </a:pPr>
            <a:r>
              <a:t>10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Publish &amp; Share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Publish to Power BI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892B0"/>
                </a:solidFill>
                <a:latin typeface="Segoe UI"/>
              </a:defRPr>
            </a:pPr>
            <a:r>
              <a:t>* Green borders represent Milestone 1 (Foundation stage). Blue borders represent Milestone 2 &amp; 3 (Modeling &amp; Dashboard visualization stages).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Problem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64592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73736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MDL2 Assets"/>
              </a:defRPr>
            </a:pPr>
            <a:r>
              <a:t>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54480"/>
            <a:ext cx="8778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D2DCF0"/>
                </a:solidFill>
                <a:latin typeface="Segoe UI"/>
              </a:defRPr>
            </a:pPr>
            <a:r>
              <a:t>Security teams generate massive volumes of raw log data every day across firewalls, endpoints and network devices. In its raw form, this data is inconsistent — mixed data types, duplicate entries, unstructured timestamps and noisy, high-cardinality fields — making it difficult for analysts to quickly judge how severe or urgent an event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2F"/>
                </a:solidFill>
                <a:latin typeface="Segoe UI"/>
              </a:defRPr>
            </a:pPr>
            <a:r>
              <a:t>What's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41071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3191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66CC"/>
                </a:solidFill>
                <a:latin typeface="Segoe MDL2 Assets"/>
              </a:defRPr>
            </a:pPr>
            <a:r>
              <a:t>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931919"/>
            <a:ext cx="222199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0A192F"/>
                </a:solidFill>
                <a:latin typeface="Segoe UI"/>
              </a:defRPr>
            </a:pPr>
            <a:r>
              <a:t>Data Standardization</a:t>
            </a:r>
          </a:p>
          <a:p>
            <a:pPr>
              <a:lnSpc>
                <a:spcPct val="115000"/>
              </a:lnSpc>
              <a:defRPr sz="1150">
                <a:solidFill>
                  <a:srgbClr val="64748B"/>
                </a:solidFill>
                <a:latin typeface="Segoe UI"/>
              </a:defRPr>
            </a:pPr>
            <a:r>
              <a:t>A repeatable Power Query pipeline that cleans and standardises raw traffic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41071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1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66CC"/>
                </a:solidFill>
                <a:latin typeface="Segoe MDL2 Assets"/>
              </a:defRPr>
            </a:pPr>
            <a:r>
              <a:t>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931919"/>
            <a:ext cx="222199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0A192F"/>
                </a:solidFill>
                <a:latin typeface="Segoe UI"/>
              </a:defRPr>
            </a:pPr>
            <a:r>
              <a:t>Derived Risk Indicators</a:t>
            </a:r>
          </a:p>
          <a:p>
            <a:pPr>
              <a:lnSpc>
                <a:spcPct val="115000"/>
              </a:lnSpc>
              <a:defRPr sz="1150">
                <a:solidFill>
                  <a:srgbClr val="64748B"/>
                </a:solidFill>
                <a:latin typeface="Segoe UI"/>
              </a:defRPr>
            </a:pPr>
            <a:r>
              <a:t>Derived risk fields (severity, urgency) so analysts can triage without manual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41071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393191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66CC"/>
                </a:solidFill>
                <a:latin typeface="Segoe MDL2 Assets"/>
              </a:defRPr>
            </a:pPr>
            <a:r>
              <a:t>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931919"/>
            <a:ext cx="222199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0A192F"/>
                </a:solidFill>
                <a:latin typeface="Segoe UI"/>
              </a:defRPr>
            </a:pPr>
            <a:r>
              <a:t>Dashboard Readiness</a:t>
            </a:r>
          </a:p>
          <a:p>
            <a:pPr>
              <a:lnSpc>
                <a:spcPct val="115000"/>
              </a:lnSpc>
              <a:defRPr sz="1150">
                <a:solidFill>
                  <a:srgbClr val="64748B"/>
                </a:solidFill>
                <a:latin typeface="Segoe UI"/>
              </a:defRPr>
            </a:pPr>
            <a:r>
              <a:t>A structured table ready to feed dashboards, KPIs and trend visualizations.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Data Collection and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A192F"/>
                </a:solidFill>
                <a:latin typeface="Consolas"/>
              </a:defRPr>
            </a:pPr>
            <a:r>
              <a:t>cybersecurity_threat_detection_logs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Power BI query / table name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A simulated network-traffic log capturing connection attempts across internal and external IP ranges, each labelled allowed or blocked across common protocols (TCP, UDP, HTTP, HTTPS, FTP, SSH, ICMP).</a:t>
            </a:r>
          </a:p>
          <a:p>
            <a:pPr>
              <a:spcAft>
                <a:spcPts val="600"/>
              </a:spcAft>
              <a:defRPr sz="1300" b="1">
                <a:solidFill>
                  <a:srgbClr val="0A192F"/>
                </a:solidFill>
                <a:latin typeface="Segoe UI"/>
              </a:defRPr>
            </a:pPr>
            <a:r>
              <a:t>Raw fields captured at source:</a:t>
            </a:r>
          </a:p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•  timestamp  (date &amp; time of the event)</a:t>
            </a:r>
          </a:p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•  source_ip &amp; dest_ip  (connection endpoints)</a:t>
            </a:r>
          </a:p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•  protocol &amp; action  (network protocol &amp; firewall choice (allowed/blocked))</a:t>
            </a:r>
          </a:p>
          <a:p>
            <a:pPr>
              <a:spcAft>
                <a:spcPts val="4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•  user_agent &amp; request_path  (high-cardinality metadata (later dropped))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63040"/>
            <a:ext cx="4480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164592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Segoe UI"/>
              </a:defRPr>
            </a:pPr>
            <a:r>
              <a:t>6 Million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rows previewed in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044952"/>
            <a:ext cx="4480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3227832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Segoe UI"/>
              </a:defRPr>
            </a:pPr>
            <a:r>
              <a:t>13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final columns after 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626864"/>
            <a:ext cx="4480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4809744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Segoe UI"/>
              </a:defRPr>
            </a:pPr>
            <a:r>
              <a:t>7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protocol types observed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COLUMN-LEVEL UNDERSTANDING OF THE FINAL STRUCTURED TABLE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Data Collection and Understanding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59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Date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Date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Calendar date of the network event, split out from the raw timestamp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Time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Time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Time of day the connection attempt occurred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source_ip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Originating IP address of the connection attempt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dest_ip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Destination / internal IP address that was contacted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protocol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Text (categorical)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Network protocol used — TCP, UDP, HTTP, HTTPS, FTP, SSH or ICMP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Text (categorical)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Firewall decision recorded for the event — allowed or blocked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Severity_score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Whole number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Conditional column scoring the risk level of the event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Urgency_Flag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Flag / text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Derived flag marking events that need immediate analyst review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IP_Network_Origin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Subnet portion extracted from source_ip, used to group traffic by origin</a:t>
                      </a:r>
                    </a:p>
                  </a:txBody>
                  <a:tcPr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Incident_ID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Unique identifier generated for every logged event</a:t>
                      </a:r>
                    </a:p>
                  </a:txBody>
                  <a:tcPr marT="54864" marB="54864">
                    <a:solidFill>
                      <a:srgbClr val="EB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  <a:latin typeface="Segoe UI"/>
              </a:defRPr>
            </a:pPr>
            <a:r>
              <a:t>+ 3 supporting fields retained after the transformation (e.g. protocol grouping / reordering helpers) — total 13 columns.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Data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A192F"/>
                </a:solidFill>
                <a:latin typeface="Segoe UI"/>
              </a:defRPr>
            </a:pPr>
            <a:r>
              <a:t>Connecting the Source in Power BI</a:t>
            </a:r>
          </a:p>
          <a:p>
            <a:pPr>
              <a:spcAft>
                <a:spcPts val="12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The raw cybersecurity_threat_detection_logs file was connected to Power BI as a new data source, opening it directly in the Power Query editor.</a:t>
            </a:r>
          </a:p>
          <a:p>
            <a:pPr>
              <a:spcAft>
                <a:spcPts val="12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The first row of the raw file — containing the actual field names — was promoted to become proper column headers.</a:t>
            </a:r>
          </a:p>
          <a:p>
            <a:pPr>
              <a:spcAft>
                <a:spcPts val="12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Power Query then auto-detected an initial data type for every column, based on a sample of the values, as a starting point before further correction.</a:t>
            </a:r>
          </a:p>
          <a:p>
            <a:pPr>
              <a:spcAft>
                <a:spcPts val="1000"/>
              </a:spcAft>
              <a:defRPr>
                <a:solidFill>
                  <a:srgbClr val="E2E8F0"/>
                </a:solidFill>
              </a:defRPr>
            </a:pPr>
            <a:r>
              <a:t>—</a:t>
            </a:r>
          </a:p>
          <a:p>
            <a:pPr>
              <a:defRPr sz="1200" i="1">
                <a:solidFill>
                  <a:srgbClr val="64748B"/>
                </a:solidFill>
                <a:latin typeface="Segoe UI"/>
              </a:defRPr>
            </a:pPr>
            <a:r>
              <a:t>This connection step is the entry point of the pipeline — everything from here (preprocessing, modeling, visualization) builds on top of this initial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63040"/>
            <a:ext cx="4480560" cy="475488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73736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Connection Summary</a:t>
            </a:r>
          </a:p>
          <a:p>
            <a:pPr>
              <a:defRPr sz="1000" b="1">
                <a:solidFill>
                  <a:srgbClr val="96AAC3"/>
                </a:solidFill>
                <a:latin typeface="Segoe UI"/>
              </a:defRPr>
            </a:pPr>
            <a:r>
              <a:t>SOURCE</a:t>
            </a:r>
          </a:p>
          <a:p>
            <a:pPr>
              <a:spcAft>
                <a:spcPts val="20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cybersecurity_threat_detection_logs</a:t>
            </a:r>
          </a:p>
          <a:p>
            <a:pPr>
              <a:defRPr sz="1000" b="1">
                <a:solidFill>
                  <a:srgbClr val="96AAC3"/>
                </a:solidFill>
                <a:latin typeface="Segoe UI"/>
              </a:defRPr>
            </a:pPr>
            <a:r>
              <a:t>TOOL</a:t>
            </a:r>
          </a:p>
          <a:p>
            <a:pPr>
              <a:spcAft>
                <a:spcPts val="20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Power BI - Power Query Editor</a:t>
            </a:r>
          </a:p>
          <a:p>
            <a:pPr>
              <a:defRPr sz="1000" b="1">
                <a:solidFill>
                  <a:srgbClr val="96AAC3"/>
                </a:solidFill>
                <a:latin typeface="Segoe UI"/>
              </a:defRPr>
            </a:pPr>
            <a:r>
              <a:t>ROWS CONNECTED</a:t>
            </a:r>
          </a:p>
          <a:p>
            <a:pPr>
              <a:spcAft>
                <a:spcPts val="20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999+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21 APPLIED STEPS IN THE POWER QUERY EDITOR, GROUPED INTO 10 TRANSFORMATION STAGES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Data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1. Source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Connect to the raw network-log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2. Promote Headers &amp; Set Types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Promoted headers; changed column &amp; datatypes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3. Filter Date Range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Filtered the dataset to the relevant date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4. Remove Duplicates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Removed duplicate log entries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5. Format Timestamp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Formatted timestamp; inserted separate Date &amp; Time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63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6. Trim &amp; Standardise Text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Trimmed metadata; cleaned protocol groupings; reordered columns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7744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7. Engineer Risk Fields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Added Severity_score (conditional) &amp; Urgency_Flag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8. Extract IP Origin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Duplicated column; extracted subnet; renamed to IP_Network_Origin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8912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9. Generate Incident ID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Generated &amp; renamed a unique Incident_ID per row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39496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Segoe UI"/>
              </a:defRPr>
            </a:pPr>
            <a:r>
              <a:t>10. Drop High-Cardinality Columns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Removed user_agent, request_path &amp; raw timestamp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KEY CLEANING TECHNIQUES APPLIED DURING PREPROCESSING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Data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66CC"/>
                </a:solidFill>
                <a:latin typeface="Segoe MDL2 Assets"/>
              </a:defRPr>
            </a:pPr>
            <a:r>
              <a:t>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A192F"/>
                </a:solidFill>
                <a:latin typeface="Segoe UI"/>
              </a:defRPr>
            </a:pPr>
            <a:r>
              <a:t>Removing Duplicates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Eliminated repeated log entries so every incident is represented exactly once in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04872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69464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66CC"/>
                </a:solidFill>
                <a:latin typeface="Segoe MDL2 Assets"/>
              </a:defRPr>
            </a:pPr>
            <a:r>
              <a:t>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42032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A192F"/>
                </a:solidFill>
                <a:latin typeface="Segoe UI"/>
              </a:defRPr>
            </a:pPr>
            <a:r>
              <a:t>Fixing Data Types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Converted date, time and numeric fields to their correct types for accurate filtering, sorting and aggregation.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38144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602736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66CC"/>
                </a:solidFill>
                <a:latin typeface="Segoe MDL2 Assets"/>
              </a:defRPr>
            </a:pPr>
            <a:r>
              <a:t>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75304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A192F"/>
                </a:solidFill>
                <a:latin typeface="Segoe UI"/>
              </a:defRPr>
            </a:pPr>
            <a:r>
              <a:t>Text Standardisation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Trimmed technical metadata and whitespace; grouped inconsistent protocol labels into clean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71416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636008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66CC"/>
                </a:solidFill>
                <a:latin typeface="Segoe MDL2 Assets"/>
              </a:defRPr>
            </a:pPr>
            <a:r>
              <a:t>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08576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A192F"/>
                </a:solidFill>
                <a:latin typeface="Segoe UI"/>
              </a:defRPr>
            </a:pPr>
            <a:r>
              <a:t>Handling High-Cardinality Noise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Dropped free-text columns (user_agent, request_path, raw timestamp) that added noise without analytical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04688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66CC"/>
                </a:solidFill>
                <a:latin typeface="Segoe MDL2 Assets"/>
              </a:defRPr>
            </a:pPr>
            <a:r>
              <a:t>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641848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A192F"/>
                </a:solidFill>
                <a:latin typeface="Segoe UI"/>
              </a:defRPr>
            </a:pPr>
            <a:r>
              <a:t>Feature Engineering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Created Severity_score, Urgency_Flag, IP_Network_Origin and Incident_ID to enable risk-based analysis downstream.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PAGE 1 OF THE POWER BI REPORT: 1,495,242 NETWORK LOG EVENTS, JAN–MAR 2024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Dashboard — Network Traffic &amp; Protocol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2F"/>
                </a:solidFill>
                <a:latin typeface="Segoe UI"/>
              </a:defRPr>
            </a:pPr>
            <a:r>
              <a:t>Key Visuals &amp; Findings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KPI cards: </a:t>
            </a:r>
            <a:r>
              <a:t>Total Log Events, % Traffic Blocked, and Total Data Transferred set the scale for the page: ~1.5 million events, close to half blocked, and the total data volume moved during the quarter.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Daily Traffic Trend: </a:t>
            </a:r>
            <a:r>
              <a:t>tracks daily event volume from January to March, split by allowed vs. blocked. The steady, consistent pattern shows the network was under normal load, with no major spikes or incidents.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Traffic by Protocol: </a:t>
            </a:r>
            <a:r>
              <a:t>breaks total traffic down across the seven protocols in the dataset. TCP and the web protocols dominate, which is expected for a typical enterprise network.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Log Volume by Log Type &amp; Action: </a:t>
            </a:r>
            <a:r>
              <a:t>compares application, IDS, and firewall logs by how much traffic each allowed vs. blocked, acting as a quick check on whether defenses are behaving.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Traffic Volume Category by Protocol Security Type: </a:t>
            </a:r>
            <a:r>
              <a:t>uses two engineered columns (security grouping &amp; volume quartiles) to show whether heavy traffic moves over encrypted or unencrypted channels.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89B64E-4E3A-B646-5862-09F2978A2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26" y="1722120"/>
            <a:ext cx="586735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PAGE 2 OF THE POWER BI REPORT: WHAT WAS DANGEROUS, AND DID WE CATCH IT?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Dashboard — Threat Intelligence &amp; Incident Severity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2F"/>
                </a:solidFill>
                <a:latin typeface="Segoe UI"/>
              </a:defRPr>
            </a:pPr>
            <a:r>
              <a:rPr dirty="0"/>
              <a:t>Key Visuals &amp; Findings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KPI cards: </a:t>
            </a:r>
            <a:r>
              <a:rPr dirty="0"/>
              <a:t>Total Malicious Incidents, Critical Breaches (Missed Threats), and Malicious Allowed Rate % show that ~30,000 events were malicious, and nearly half of those (49.89%) were still marked 'allowed' — the key number on this dashboard.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Incident Count by Threat Response Status: </a:t>
            </a:r>
            <a:r>
              <a:rPr dirty="0"/>
              <a:t>a custom status column combining threat label and action into readable categories like Missed Threat, Threat Blocked, and False Positive, with Missed Threats highlighted in red as the biggest concern.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</a:t>
            </a:r>
            <a:r>
              <a:rPr b="1" dirty="0" err="1">
                <a:solidFill>
                  <a:srgbClr val="0066CC"/>
                </a:solidFill>
              </a:rPr>
              <a:t>threat_label</a:t>
            </a:r>
            <a:r>
              <a:rPr b="1" dirty="0">
                <a:solidFill>
                  <a:srgbClr val="0066CC"/>
                </a:solidFill>
              </a:rPr>
              <a:t> by Source Origin Type: </a:t>
            </a:r>
            <a:r>
              <a:rPr dirty="0"/>
              <a:t>splits traffic into internal vs. external origin to show whether threats are mostly coming from outside attackers or from within the network.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Top 10 Source IPs by Malicious Incident Count: </a:t>
            </a:r>
            <a:r>
              <a:rPr dirty="0"/>
              <a:t>a ranked table of the riskiest source IPs, meant as a direct starting point for investigation.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Weekly Trend of Malicious &amp; Suspicious Incidents: </a:t>
            </a:r>
            <a:r>
              <a:rPr dirty="0"/>
              <a:t>tracks threat activity by week (instead of by day, since the time field lacked hourly detail) to show whether threats are rising, falling, or flat across the quarter.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04DFC2-B3EF-B2EA-9AFD-CC0643F1F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850" y="1371600"/>
            <a:ext cx="581389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PAGE 3 OF THE POWER BI REPORT: HOW TRAFFIC SPLITS AND BEHAVES ACROSS DIFFERENT PROTOCOLS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Dashboard — Protocol &amp; Action Behavior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2F"/>
                </a:solidFill>
                <a:latin typeface="Segoe UI"/>
              </a:defRPr>
            </a:pPr>
            <a:r>
              <a:t>Key Visuals &amp; Findings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KPI cards: </a:t>
            </a:r>
            <a:r>
              <a:t>Total Allowed Traffic (748K), Distinct Protocols count (7), and Average Bytes Transferred (25.03K).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Action Status by Protocol: </a:t>
            </a:r>
            <a:r>
              <a:t>A stacked bar chart comparing how much traffic was allowed vs. blocked on each protocol. Highlights block rates on UDP/ICMP vs. standard TCP web traffic.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Total Data Transferred (GB): </a:t>
            </a:r>
            <a:r>
              <a:t>A horizontal bar chart displaying byte sum conversions into Gigabytes. TCP (9.3 GB) dominates, followed closely by HTTP and HTTPS (7.5 GB each).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Protocol Security Matrix: </a:t>
            </a:r>
            <a:r>
              <a:t>Cross-tabulates protocols against calculated security classifications to identify unencrypted protocol volume (HTTP/FTP at 374K events).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Threat Distribution: </a:t>
            </a:r>
            <a:r>
              <a:t>A 100% stacked column chart detailing threat label percentages (benign, suspicious, malicious) per protocol. Highlights ICMP as having the highest suspicious footprint (20%).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3A9552-B43A-F5B9-1F7B-62D8ABA9C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1920"/>
            <a:ext cx="6106160" cy="4307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PAGE 4 OF THE POWER BI REPORT: ISOLATING CRITICAL EVENTS BASED ON THREAT SEVERITY WEIGHTS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Dashboard — Severity &amp; Incident Urgency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7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2F"/>
                </a:solidFill>
                <a:latin typeface="Segoe UI"/>
              </a:defRPr>
            </a:pPr>
            <a:r>
              <a:rPr dirty="0"/>
              <a:t>Key Visuals &amp; Findings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KPI cards: </a:t>
            </a:r>
            <a:r>
              <a:rPr dirty="0"/>
              <a:t>Average Severity Score (1.10), Total Critical Urgency Incidents (15K allowed missed threats), and Total Malicious Incidents (30K).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Severity Level Label: </a:t>
            </a:r>
            <a:r>
              <a:rPr dirty="0"/>
              <a:t>A donut chart summarizing events. 91.93% (1.37M) are Low-severity, while ~8% represent Medium and High severity incidents requiring quick SOC analysis.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Incident Urgency vs Action: </a:t>
            </a:r>
            <a:r>
              <a:rPr dirty="0"/>
              <a:t>A clustered bar chart grouping events into 'Standard' and 'Critical Breach'. Directly isolates the 15,000 allowed High-Severity malicious breaches.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Severity Distribution: </a:t>
            </a:r>
            <a:r>
              <a:rPr dirty="0"/>
              <a:t>A trellis column chart displaying connection counts by protocol, grouped under High, Low, and Medium severity panels to map vulnerability trends.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ED203E-40C7-ECB0-A118-8E4EF335C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480" y="1219199"/>
            <a:ext cx="6461760" cy="45224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PAGE 5 OF THE POWER BI REPORT: MAPPING BOUNDARY DISTRIBUTIONS AND NETWORK FLOW VECTORS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Dashboard — Source &amp; Destination Network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2F"/>
                </a:solidFill>
                <a:latin typeface="Segoe UI"/>
              </a:defRPr>
            </a:pPr>
            <a:r>
              <a:t>Key Visuals &amp; Findings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KPI cards: </a:t>
            </a:r>
            <a:r>
              <a:t>Distinct Source IP Count (354), Unique External Networks (82), and Total Malicious Incidents (30K).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Source Origin Type: </a:t>
            </a:r>
            <a:r>
              <a:t>A donut chart mapping boundaries. Shows 69.98% of connections are internal corporate communications, while 30.02% represent external traffic.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IP Network Origin: </a:t>
            </a:r>
            <a:r>
              <a:t>A bar chart identifying subnets generating the highest traffic loads. Subnet `192` dominates, followed by subnets `88` and `95`.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Destination Target IP Table: </a:t>
            </a:r>
            <a:r>
              <a:t>A table ranking target internal destination IPs. Identifies target internal assets under communication or threat (led by `192.168.1.217` with 154 events).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Threat Labels: </a:t>
            </a:r>
            <a:r>
              <a:t>A vertical bar chart profiling network threat ratios (1.37M Benign, 90K Suspicious, and 30K Malicious).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AE6D56-D98E-49D3-D257-352EFDDA7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90" y="1280160"/>
            <a:ext cx="5645086" cy="41773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PAGE 6 OF THE POWER BI REPORT: MONITORING ANOMALOUS BANDWIDTH AND EXFILTRATION PATHS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Dashboard — Data Volume &amp; Exfiltration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2F"/>
                </a:solidFill>
                <a:latin typeface="Segoe UI"/>
              </a:defRPr>
            </a:pPr>
            <a:r>
              <a:t>Key Visuals &amp; Findings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KPI cards: </a:t>
            </a:r>
            <a:r>
              <a:t>Total High Volume Malicious Transfers (7,678 events), High Volume Malicious Rate (25.20%), and Average Bytes per Malicious Event (25.04K) establish size parameters of anomalies.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Weekly Bandwidth Trend: </a:t>
            </a:r>
            <a:r>
              <a:t>A line chart tracking data volume. Shows steady network bandwidth ranging between 2.86 GB and 2.89 GB per week with minor fluctuations.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High Volume Donut: </a:t>
            </a:r>
            <a:r>
              <a:t>Summarizes that exactly 25.01% (0.37M) of connection events are categorized as High Volume transfers, which represent potential exfiltration pipelines.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>
                <a:solidFill>
                  <a:srgbClr val="0066CC"/>
                </a:solidFill>
              </a:rPr>
              <a:t>•  Exfiltration Path Visual: </a:t>
            </a:r>
            <a:r>
              <a:t>Traces connection counts through categories down to threat labels, isolating the 7,678 Very High Volume malicious files that bypassed network controls.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5B4C30-A420-F210-D735-79436DB9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18547"/>
            <a:ext cx="6339840" cy="35479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CC"/>
                </a:solidFill>
                <a:latin typeface="Segoe UI"/>
              </a:defRPr>
            </a:pPr>
            <a:r>
              <a:t>PAGE 7 OF THE POWER BI REPORT: EVALUATING DEFENSE PERFORMANCE, LOGS BREAKDOWN AND VECTOR GAPS</a:t>
            </a:r>
          </a:p>
          <a:p>
            <a:pPr>
              <a:defRPr sz="2800" b="1">
                <a:solidFill>
                  <a:srgbClr val="0A192F"/>
                </a:solidFill>
                <a:latin typeface="Segoe UI"/>
              </a:defRPr>
            </a:pPr>
            <a:r>
              <a:t>Dashboard — Overall Threat Detection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256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2F"/>
                </a:solidFill>
                <a:latin typeface="Segoe UI"/>
              </a:defRPr>
            </a:pPr>
            <a:r>
              <a:rPr dirty="0"/>
              <a:t>Key Visuals &amp; Findings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Network Risk Index: </a:t>
            </a:r>
            <a:r>
              <a:rPr dirty="0"/>
              <a:t>A gauge showing our risk at 44.60, which exceeds our safety target line of 40.00, suggesting elevated network vulnerability.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Overall Metrics: </a:t>
            </a:r>
            <a:r>
              <a:rPr dirty="0"/>
              <a:t>Reports crucial performance ratios: 50.11% Ingestion/Detection Rate, 49.89% Allowed Rate, and 1.10 Average Severity.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Detection Effectiveness Trend: </a:t>
            </a:r>
            <a:r>
              <a:rPr dirty="0"/>
              <a:t>Goal-tracking visual showing current performance is 49.98% against our SLA target of 60.00% (-16.7% variance).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Weekly Missed Threats by Origin: </a:t>
            </a:r>
            <a:r>
              <a:rPr dirty="0"/>
              <a:t>Confirms that allowed malicious events are driven almost entirely by external network vectors, remaining flat over the quarter.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rPr b="1" dirty="0">
                <a:solidFill>
                  <a:srgbClr val="0066CC"/>
                </a:solidFill>
              </a:rPr>
              <a:t>•  Critical Breaches by Protocol: </a:t>
            </a:r>
            <a:r>
              <a:rPr dirty="0" err="1"/>
              <a:t>Treemap</a:t>
            </a:r>
            <a:r>
              <a:rPr dirty="0"/>
              <a:t> breaks down allowed threats (15K total), identifying SSH (5K) and TCP (3K) as the principal vulnerabilities.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9B4282-D69F-05D2-4129-E1D8C0D22D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463" t="72" r="25861" b="-72"/>
          <a:stretch>
            <a:fillRect/>
          </a:stretch>
        </p:blipFill>
        <p:spPr>
          <a:xfrm>
            <a:off x="5294671" y="1171726"/>
            <a:ext cx="6749845" cy="45550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500">
                <a:solidFill>
                  <a:srgbClr val="DCE6F5"/>
                </a:solidFill>
                <a:latin typeface="Segoe UI"/>
              </a:defRPr>
            </a:pPr>
            <a:r>
              <a:t>•   Cybersecurity systems generate massive amounts of raw data that only becomes useful once it is cleaned and structured.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500">
                <a:solidFill>
                  <a:srgbClr val="DCE6F5"/>
                </a:solidFill>
                <a:latin typeface="Segoe UI"/>
              </a:defRPr>
            </a:pPr>
            <a:r>
              <a:t>•   Power Query transformed inconsistent, noisy logs into an analysis-ready dataset with built-in risk indicators — Severity_score, Urgency_Flag and Incident_ID.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500">
                <a:solidFill>
                  <a:srgbClr val="DCE6F5"/>
                </a:solidFill>
                <a:latin typeface="Segoe UI"/>
              </a:defRPr>
            </a:pPr>
            <a:r>
              <a:t>•   With the data connected, cleaned and structured, ThreatLens is now ready to move into data modeling, dashboard design and real-time threat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725912" cy="137160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94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81D4FA"/>
                </a:solidFill>
                <a:latin typeface="Segoe UI"/>
              </a:defRPr>
            </a:pPr>
            <a:r>
              <a:rPr lang="en-IN" i="1" dirty="0"/>
              <a:t>Data transforms into real value when it enables teams to make swift, well-informed security choices.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8892B0"/>
                </a:solidFill>
                <a:latin typeface="Segoe UI"/>
              </a:defRPr>
            </a:pPr>
            <a:r>
              <a:t>Akshay Jaiswal  •  Data Visualization Intern  •  Infosys Springboard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2613</Words>
  <Application>Microsoft Office PowerPoint</Application>
  <PresentationFormat>Widescreen</PresentationFormat>
  <Paragraphs>269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Cambria</vt:lpstr>
      <vt:lpstr>Segoe MDL2 Assets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Jaiswal</cp:lastModifiedBy>
  <cp:revision>6</cp:revision>
  <dcterms:created xsi:type="dcterms:W3CDTF">2013-01-27T09:14:16Z</dcterms:created>
  <dcterms:modified xsi:type="dcterms:W3CDTF">2026-08-17T09:35:18Z</dcterms:modified>
  <cp:category/>
</cp:coreProperties>
</file>