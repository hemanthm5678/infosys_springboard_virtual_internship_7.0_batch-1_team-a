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</p:sldIdLst>
  <p:sldSz cx="18288000" cy="10287000"/>
  <p:notesSz cx="6858000" cy="9144000"/>
  <p:embeddedFontLst>
    <p:embeddedFont>
      <p:font typeface="IBM Plex Sans Bold" charset="1" panose="020B0803050203000203"/>
      <p:regular r:id="rId18"/>
    </p:embeddedFont>
    <p:embeddedFont>
      <p:font typeface="League Spartan" charset="1" panose="00000800000000000000"/>
      <p:regular r:id="rId19"/>
    </p:embeddedFont>
    <p:embeddedFont>
      <p:font typeface="IBM Plex Sans" charset="1" panose="020B0503050203000203"/>
      <p:regular r:id="rId20"/>
    </p:embeddedFont>
    <p:embeddedFont>
      <p:font typeface="IBM Plex Mono" charset="1" panose="020B0509050203000203"/>
      <p:regular r:id="rId2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666" r="0" b="-666"/>
            </a:stretch>
          </a:blipFill>
          <a:ln cap="sq">
            <a:noFill/>
            <a:prstDash val="solid"/>
            <a:miter/>
          </a:ln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71426">
                <a:alpha val="54902"/>
              </a:srgbClr>
            </a:solidFill>
            <a:ln cap="sq">
              <a:noFill/>
              <a:prstDash val="solid"/>
              <a:miter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24384000" cy="13754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990600" y="1666875"/>
            <a:ext cx="95250" cy="4857750"/>
            <a:chOff x="0" y="0"/>
            <a:chExt cx="127000" cy="64770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27000" cy="6477000"/>
            </a:xfrm>
            <a:custGeom>
              <a:avLst/>
              <a:gdLst/>
              <a:ahLst/>
              <a:cxnLst/>
              <a:rect r="r" b="b" t="t" l="l"/>
              <a:pathLst>
                <a:path h="6477000" w="127000">
                  <a:moveTo>
                    <a:pt x="0" y="0"/>
                  </a:moveTo>
                  <a:lnTo>
                    <a:pt x="127000" y="0"/>
                  </a:lnTo>
                  <a:lnTo>
                    <a:pt x="127000" y="6477000"/>
                  </a:lnTo>
                  <a:lnTo>
                    <a:pt x="0" y="6477000"/>
                  </a:lnTo>
                  <a:close/>
                </a:path>
              </a:pathLst>
            </a:custGeom>
            <a:solidFill>
              <a:srgbClr val="35D2FF"/>
            </a:solidFill>
            <a:ln cap="sq">
              <a:noFill/>
              <a:prstDash val="solid"/>
              <a:miter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127000" cy="6515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1381125" y="1495425"/>
            <a:ext cx="7239000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162" b="true">
                <a:solidFill>
                  <a:srgbClr val="35D2F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CYBER THREAT ANALYTICS PLATFORM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381125" y="2219325"/>
            <a:ext cx="10191750" cy="26913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038"/>
              </a:lnSpc>
            </a:pPr>
            <a:r>
              <a:rPr lang="en-US" sz="6900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Advanced Threat</a:t>
            </a:r>
          </a:p>
          <a:p>
            <a:pPr algn="l">
              <a:lnSpc>
                <a:spcPts val="7038"/>
              </a:lnSpc>
            </a:pPr>
            <a:r>
              <a:rPr lang="en-US" sz="6900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Incident Analytics</a:t>
            </a:r>
          </a:p>
          <a:p>
            <a:pPr algn="l">
              <a:lnSpc>
                <a:spcPts val="7038"/>
              </a:lnSpc>
            </a:pPr>
            <a:r>
              <a:rPr lang="en-US" sz="6900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Framework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428750" y="5248275"/>
            <a:ext cx="809625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35"/>
              </a:lnSpc>
            </a:pPr>
            <a:r>
              <a:rPr lang="en-US" sz="2100">
                <a:solidFill>
                  <a:srgbClr val="B9CBE0"/>
                </a:solidFill>
                <a:latin typeface="IBM Plex Sans"/>
                <a:ea typeface="IBM Plex Sans"/>
                <a:cs typeface="IBM Plex Sans"/>
                <a:sym typeface="IBM Plex Sans"/>
              </a:rPr>
              <a:t>Cyber Threat Analytics Platform with Incident Visualization System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428750" y="6962775"/>
            <a:ext cx="8572500" cy="2819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Presented by Akshay Jaiswal  |  Mentor: Mrs. Nithyasri S J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7431726" y="123586"/>
            <a:ext cx="9827574" cy="9051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627"/>
              </a:lnSpc>
            </a:pPr>
            <a:r>
              <a:rPr lang="en-US" sz="2501" b="true">
                <a:solidFill>
                  <a:srgbClr val="D8E7F7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INFOSYS SPRINGBOARD VIRTUAL INTERNSHIP 7.0</a:t>
            </a:r>
          </a:p>
          <a:p>
            <a:pPr algn="r">
              <a:lnSpc>
                <a:spcPts val="3627"/>
              </a:lnSpc>
            </a:pP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90600" y="523875"/>
            <a:ext cx="4762500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162" b="true">
                <a:solidFill>
                  <a:srgbClr val="2475F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FRAMEWORK / 02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990600" y="1038225"/>
            <a:ext cx="14287500" cy="5219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95"/>
              </a:lnSpc>
            </a:pPr>
            <a:r>
              <a:rPr lang="en-US" sz="3900">
                <a:solidFill>
                  <a:srgbClr val="10213A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Project Objectives</a:t>
            </a:r>
          </a:p>
        </p:txBody>
      </p:sp>
      <p:sp>
        <p:nvSpPr>
          <p:cNvPr name="AutoShape 4" id="4"/>
          <p:cNvSpPr/>
          <p:nvPr/>
        </p:nvSpPr>
        <p:spPr>
          <a:xfrm>
            <a:off x="990600" y="9477375"/>
            <a:ext cx="16306800" cy="0"/>
          </a:xfrm>
          <a:prstGeom prst="line">
            <a:avLst/>
          </a:prstGeom>
          <a:ln cap="flat" w="9525">
            <a:solidFill>
              <a:srgbClr val="CBD8E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5" id="5"/>
          <p:cNvSpPr txBox="true"/>
          <p:nvPr/>
        </p:nvSpPr>
        <p:spPr>
          <a:xfrm rot="0">
            <a:off x="990600" y="9696450"/>
            <a:ext cx="6667500" cy="190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74"/>
              </a:lnSpc>
            </a:pPr>
            <a:r>
              <a:rPr lang="en-US" sz="1125" spc="89">
                <a:solidFill>
                  <a:srgbClr val="8495AA"/>
                </a:solidFill>
                <a:latin typeface="IBM Plex Mono"/>
                <a:ea typeface="IBM Plex Mono"/>
                <a:cs typeface="IBM Plex Mono"/>
                <a:sym typeface="IBM Plex Mono"/>
              </a:rPr>
              <a:t>ADVANCED THREAT INCIDENT ANALYTICS  •  2026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6764000" y="9677400"/>
            <a:ext cx="571500" cy="198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679"/>
              </a:lnSpc>
            </a:pPr>
            <a:r>
              <a:rPr lang="en-US" sz="1200">
                <a:solidFill>
                  <a:srgbClr val="2475FF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990600" y="2857500"/>
            <a:ext cx="3714750" cy="5334000"/>
            <a:chOff x="0" y="0"/>
            <a:chExt cx="4953000" cy="7112000"/>
          </a:xfrm>
        </p:grpSpPr>
        <p:grpSp>
          <p:nvGrpSpPr>
            <p:cNvPr name="Group 8" id="8"/>
            <p:cNvGrpSpPr/>
            <p:nvPr/>
          </p:nvGrpSpPr>
          <p:grpSpPr>
            <a:xfrm rot="0">
              <a:off x="0" y="0"/>
              <a:ext cx="4953000" cy="7112000"/>
              <a:chOff x="0" y="0"/>
              <a:chExt cx="4953000" cy="7112000"/>
            </a:xfrm>
          </p:grpSpPr>
          <p:sp>
            <p:nvSpPr>
              <p:cNvPr name="Freeform 9" id="9"/>
              <p:cNvSpPr/>
              <p:nvPr/>
            </p:nvSpPr>
            <p:spPr>
              <a:xfrm flipH="false" flipV="false" rot="0">
                <a:off x="0" y="0"/>
                <a:ext cx="4953000" cy="7112000"/>
              </a:xfrm>
              <a:custGeom>
                <a:avLst/>
                <a:gdLst/>
                <a:ahLst/>
                <a:cxnLst/>
                <a:rect r="r" b="b" t="t" l="l"/>
                <a:pathLst>
                  <a:path h="7112000" w="4953000">
                    <a:moveTo>
                      <a:pt x="0" y="0"/>
                    </a:moveTo>
                    <a:lnTo>
                      <a:pt x="4953000" y="0"/>
                    </a:lnTo>
                    <a:lnTo>
                      <a:pt x="4953000" y="7112000"/>
                    </a:lnTo>
                    <a:lnTo>
                      <a:pt x="0" y="7112000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0" id="10"/>
              <p:cNvSpPr txBox="true"/>
              <p:nvPr/>
            </p:nvSpPr>
            <p:spPr>
              <a:xfrm>
                <a:off x="0" y="-38100"/>
                <a:ext cx="4953000" cy="71501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grpSp>
          <p:nvGrpSpPr>
            <p:cNvPr name="Group 11" id="11"/>
            <p:cNvGrpSpPr/>
            <p:nvPr/>
          </p:nvGrpSpPr>
          <p:grpSpPr>
            <a:xfrm rot="0">
              <a:off x="0" y="0"/>
              <a:ext cx="4953000" cy="101600"/>
              <a:chOff x="0" y="0"/>
              <a:chExt cx="4953000" cy="101600"/>
            </a:xfrm>
          </p:grpSpPr>
          <p:sp>
            <p:nvSpPr>
              <p:cNvPr name="Freeform 12" id="12"/>
              <p:cNvSpPr/>
              <p:nvPr/>
            </p:nvSpPr>
            <p:spPr>
              <a:xfrm flipH="false" flipV="false" rot="0">
                <a:off x="0" y="0"/>
                <a:ext cx="4953000" cy="101600"/>
              </a:xfrm>
              <a:custGeom>
                <a:avLst/>
                <a:gdLst/>
                <a:ahLst/>
                <a:cxnLst/>
                <a:rect r="r" b="b" t="t" l="l"/>
                <a:pathLst>
                  <a:path h="101600" w="4953000">
                    <a:moveTo>
                      <a:pt x="0" y="0"/>
                    </a:moveTo>
                    <a:lnTo>
                      <a:pt x="4953000" y="0"/>
                    </a:lnTo>
                    <a:lnTo>
                      <a:pt x="4953000" y="101600"/>
                    </a:lnTo>
                    <a:lnTo>
                      <a:pt x="0" y="101600"/>
                    </a:lnTo>
                    <a:close/>
                  </a:path>
                </a:pathLst>
              </a:custGeom>
              <a:solidFill>
                <a:srgbClr val="2475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3" id="13"/>
              <p:cNvSpPr txBox="true"/>
              <p:nvPr/>
            </p:nvSpPr>
            <p:spPr>
              <a:xfrm>
                <a:off x="0" y="-38100"/>
                <a:ext cx="4953000" cy="1397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sp>
          <p:nvSpPr>
            <p:cNvPr name="TextBox 14" id="14"/>
            <p:cNvSpPr txBox="true"/>
            <p:nvPr/>
          </p:nvSpPr>
          <p:spPr>
            <a:xfrm rot="0">
              <a:off x="431800" y="479425"/>
              <a:ext cx="889000" cy="3333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en-US" sz="1500">
                  <a:solidFill>
                    <a:srgbClr val="2475FF"/>
                  </a:solidFill>
                  <a:latin typeface="IBM Plex Mono"/>
                  <a:ea typeface="IBM Plex Mono"/>
                  <a:cs typeface="IBM Plex Mono"/>
                  <a:sym typeface="IBM Plex Mono"/>
                </a:rPr>
                <a:t>01</a:t>
              </a:r>
            </a:p>
          </p:txBody>
        </p:sp>
        <p:sp>
          <p:nvSpPr>
            <p:cNvPr name="TextBox 15" id="15"/>
            <p:cNvSpPr txBox="true"/>
            <p:nvPr/>
          </p:nvSpPr>
          <p:spPr>
            <a:xfrm rot="0">
              <a:off x="431800" y="1543050"/>
              <a:ext cx="4191000" cy="83947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430"/>
                </a:lnSpc>
              </a:pPr>
              <a:r>
                <a:rPr lang="en-US" sz="2250">
                  <a:solidFill>
                    <a:srgbClr val="10213A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Manual Triage</a:t>
              </a:r>
            </a:p>
            <a:p>
              <a:pPr algn="l">
                <a:lnSpc>
                  <a:spcPts val="2430"/>
                </a:lnSpc>
              </a:pPr>
              <a:r>
                <a:rPr lang="en-US" sz="2250">
                  <a:solidFill>
                    <a:srgbClr val="10213A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Mitigation</a:t>
              </a:r>
            </a:p>
          </p:txBody>
        </p:sp>
        <p:sp>
          <p:nvSpPr>
            <p:cNvPr name="TextBox 16" id="16"/>
            <p:cNvSpPr txBox="true"/>
            <p:nvPr/>
          </p:nvSpPr>
          <p:spPr>
            <a:xfrm rot="0">
              <a:off x="431800" y="3781425"/>
              <a:ext cx="4191000" cy="7232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227"/>
                </a:lnSpc>
              </a:pPr>
              <a:r>
                <a:rPr lang="en-US" sz="1650">
                  <a:solidFill>
                    <a:srgbClr val="5F7188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Reduce analyst effort through structured prioritization.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5086350" y="2857500"/>
            <a:ext cx="3714750" cy="5334000"/>
            <a:chOff x="0" y="0"/>
            <a:chExt cx="4953000" cy="7112000"/>
          </a:xfrm>
        </p:grpSpPr>
        <p:grpSp>
          <p:nvGrpSpPr>
            <p:cNvPr name="Group 18" id="18"/>
            <p:cNvGrpSpPr/>
            <p:nvPr/>
          </p:nvGrpSpPr>
          <p:grpSpPr>
            <a:xfrm rot="0">
              <a:off x="0" y="0"/>
              <a:ext cx="4953000" cy="7112000"/>
              <a:chOff x="0" y="0"/>
              <a:chExt cx="4953000" cy="7112000"/>
            </a:xfrm>
          </p:grpSpPr>
          <p:sp>
            <p:nvSpPr>
              <p:cNvPr name="Freeform 19" id="19"/>
              <p:cNvSpPr/>
              <p:nvPr/>
            </p:nvSpPr>
            <p:spPr>
              <a:xfrm flipH="false" flipV="false" rot="0">
                <a:off x="0" y="0"/>
                <a:ext cx="4953000" cy="7112000"/>
              </a:xfrm>
              <a:custGeom>
                <a:avLst/>
                <a:gdLst/>
                <a:ahLst/>
                <a:cxnLst/>
                <a:rect r="r" b="b" t="t" l="l"/>
                <a:pathLst>
                  <a:path h="7112000" w="4953000">
                    <a:moveTo>
                      <a:pt x="0" y="0"/>
                    </a:moveTo>
                    <a:lnTo>
                      <a:pt x="4953000" y="0"/>
                    </a:lnTo>
                    <a:lnTo>
                      <a:pt x="4953000" y="7112000"/>
                    </a:lnTo>
                    <a:lnTo>
                      <a:pt x="0" y="7112000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20" id="20"/>
              <p:cNvSpPr txBox="true"/>
              <p:nvPr/>
            </p:nvSpPr>
            <p:spPr>
              <a:xfrm>
                <a:off x="0" y="-38100"/>
                <a:ext cx="4953000" cy="71501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grpSp>
          <p:nvGrpSpPr>
            <p:cNvPr name="Group 21" id="21"/>
            <p:cNvGrpSpPr/>
            <p:nvPr/>
          </p:nvGrpSpPr>
          <p:grpSpPr>
            <a:xfrm rot="0">
              <a:off x="0" y="0"/>
              <a:ext cx="4953000" cy="101600"/>
              <a:chOff x="0" y="0"/>
              <a:chExt cx="4953000" cy="101600"/>
            </a:xfrm>
          </p:grpSpPr>
          <p:sp>
            <p:nvSpPr>
              <p:cNvPr name="Freeform 22" id="22"/>
              <p:cNvSpPr/>
              <p:nvPr/>
            </p:nvSpPr>
            <p:spPr>
              <a:xfrm flipH="false" flipV="false" rot="0">
                <a:off x="0" y="0"/>
                <a:ext cx="4953000" cy="101600"/>
              </a:xfrm>
              <a:custGeom>
                <a:avLst/>
                <a:gdLst/>
                <a:ahLst/>
                <a:cxnLst/>
                <a:rect r="r" b="b" t="t" l="l"/>
                <a:pathLst>
                  <a:path h="101600" w="4953000">
                    <a:moveTo>
                      <a:pt x="0" y="0"/>
                    </a:moveTo>
                    <a:lnTo>
                      <a:pt x="4953000" y="0"/>
                    </a:lnTo>
                    <a:lnTo>
                      <a:pt x="4953000" y="101600"/>
                    </a:lnTo>
                    <a:lnTo>
                      <a:pt x="0" y="101600"/>
                    </a:lnTo>
                    <a:close/>
                  </a:path>
                </a:pathLst>
              </a:custGeom>
              <a:solidFill>
                <a:srgbClr val="2475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23" id="23"/>
              <p:cNvSpPr txBox="true"/>
              <p:nvPr/>
            </p:nvSpPr>
            <p:spPr>
              <a:xfrm>
                <a:off x="0" y="-38100"/>
                <a:ext cx="4953000" cy="1397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sp>
          <p:nvSpPr>
            <p:cNvPr name="TextBox 24" id="24"/>
            <p:cNvSpPr txBox="true"/>
            <p:nvPr/>
          </p:nvSpPr>
          <p:spPr>
            <a:xfrm rot="0">
              <a:off x="431800" y="479425"/>
              <a:ext cx="889000" cy="3333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en-US" sz="1500">
                  <a:solidFill>
                    <a:srgbClr val="2475FF"/>
                  </a:solidFill>
                  <a:latin typeface="IBM Plex Mono"/>
                  <a:ea typeface="IBM Plex Mono"/>
                  <a:cs typeface="IBM Plex Mono"/>
                  <a:sym typeface="IBM Plex Mono"/>
                </a:rPr>
                <a:t>02</a:t>
              </a:r>
            </a:p>
          </p:txBody>
        </p:sp>
        <p:sp>
          <p:nvSpPr>
            <p:cNvPr name="TextBox 25" id="25"/>
            <p:cNvSpPr txBox="true"/>
            <p:nvPr/>
          </p:nvSpPr>
          <p:spPr>
            <a:xfrm rot="0">
              <a:off x="431800" y="1543050"/>
              <a:ext cx="4191000" cy="83947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430"/>
                </a:lnSpc>
              </a:pPr>
              <a:r>
                <a:rPr lang="en-US" sz="2250">
                  <a:solidFill>
                    <a:srgbClr val="10213A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Clean Data</a:t>
              </a:r>
            </a:p>
            <a:p>
              <a:pPr algn="l">
                <a:lnSpc>
                  <a:spcPts val="2430"/>
                </a:lnSpc>
              </a:pPr>
              <a:r>
                <a:rPr lang="en-US" sz="2250">
                  <a:solidFill>
                    <a:srgbClr val="10213A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Engineering</a:t>
              </a:r>
            </a:p>
          </p:txBody>
        </p:sp>
        <p:sp>
          <p:nvSpPr>
            <p:cNvPr name="TextBox 26" id="26"/>
            <p:cNvSpPr txBox="true"/>
            <p:nvPr/>
          </p:nvSpPr>
          <p:spPr>
            <a:xfrm rot="0">
              <a:off x="431800" y="3781425"/>
              <a:ext cx="4191000" cy="7232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227"/>
                </a:lnSpc>
              </a:pPr>
              <a:r>
                <a:rPr lang="en-US" sz="1650">
                  <a:solidFill>
                    <a:srgbClr val="5F7188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Deduplicate, normalize and validate network telemetry.</a:t>
              </a: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9182100" y="2857500"/>
            <a:ext cx="3714750" cy="5334000"/>
            <a:chOff x="0" y="0"/>
            <a:chExt cx="4953000" cy="7112000"/>
          </a:xfrm>
        </p:grpSpPr>
        <p:grpSp>
          <p:nvGrpSpPr>
            <p:cNvPr name="Group 28" id="28"/>
            <p:cNvGrpSpPr/>
            <p:nvPr/>
          </p:nvGrpSpPr>
          <p:grpSpPr>
            <a:xfrm rot="0">
              <a:off x="0" y="0"/>
              <a:ext cx="4953000" cy="7112000"/>
              <a:chOff x="0" y="0"/>
              <a:chExt cx="4953000" cy="7112000"/>
            </a:xfrm>
          </p:grpSpPr>
          <p:sp>
            <p:nvSpPr>
              <p:cNvPr name="Freeform 29" id="29"/>
              <p:cNvSpPr/>
              <p:nvPr/>
            </p:nvSpPr>
            <p:spPr>
              <a:xfrm flipH="false" flipV="false" rot="0">
                <a:off x="0" y="0"/>
                <a:ext cx="4953000" cy="7112000"/>
              </a:xfrm>
              <a:custGeom>
                <a:avLst/>
                <a:gdLst/>
                <a:ahLst/>
                <a:cxnLst/>
                <a:rect r="r" b="b" t="t" l="l"/>
                <a:pathLst>
                  <a:path h="7112000" w="4953000">
                    <a:moveTo>
                      <a:pt x="0" y="0"/>
                    </a:moveTo>
                    <a:lnTo>
                      <a:pt x="4953000" y="0"/>
                    </a:lnTo>
                    <a:lnTo>
                      <a:pt x="4953000" y="7112000"/>
                    </a:lnTo>
                    <a:lnTo>
                      <a:pt x="0" y="7112000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30" id="30"/>
              <p:cNvSpPr txBox="true"/>
              <p:nvPr/>
            </p:nvSpPr>
            <p:spPr>
              <a:xfrm>
                <a:off x="0" y="-38100"/>
                <a:ext cx="4953000" cy="71501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grpSp>
          <p:nvGrpSpPr>
            <p:cNvPr name="Group 31" id="31"/>
            <p:cNvGrpSpPr/>
            <p:nvPr/>
          </p:nvGrpSpPr>
          <p:grpSpPr>
            <a:xfrm rot="0">
              <a:off x="0" y="0"/>
              <a:ext cx="4953000" cy="101600"/>
              <a:chOff x="0" y="0"/>
              <a:chExt cx="4953000" cy="101600"/>
            </a:xfrm>
          </p:grpSpPr>
          <p:sp>
            <p:nvSpPr>
              <p:cNvPr name="Freeform 32" id="32"/>
              <p:cNvSpPr/>
              <p:nvPr/>
            </p:nvSpPr>
            <p:spPr>
              <a:xfrm flipH="false" flipV="false" rot="0">
                <a:off x="0" y="0"/>
                <a:ext cx="4953000" cy="101600"/>
              </a:xfrm>
              <a:custGeom>
                <a:avLst/>
                <a:gdLst/>
                <a:ahLst/>
                <a:cxnLst/>
                <a:rect r="r" b="b" t="t" l="l"/>
                <a:pathLst>
                  <a:path h="101600" w="4953000">
                    <a:moveTo>
                      <a:pt x="0" y="0"/>
                    </a:moveTo>
                    <a:lnTo>
                      <a:pt x="4953000" y="0"/>
                    </a:lnTo>
                    <a:lnTo>
                      <a:pt x="4953000" y="101600"/>
                    </a:lnTo>
                    <a:lnTo>
                      <a:pt x="0" y="101600"/>
                    </a:lnTo>
                    <a:close/>
                  </a:path>
                </a:pathLst>
              </a:custGeom>
              <a:solidFill>
                <a:srgbClr val="2475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33" id="33"/>
              <p:cNvSpPr txBox="true"/>
              <p:nvPr/>
            </p:nvSpPr>
            <p:spPr>
              <a:xfrm>
                <a:off x="0" y="-38100"/>
                <a:ext cx="4953000" cy="1397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sp>
          <p:nvSpPr>
            <p:cNvPr name="TextBox 34" id="34"/>
            <p:cNvSpPr txBox="true"/>
            <p:nvPr/>
          </p:nvSpPr>
          <p:spPr>
            <a:xfrm rot="0">
              <a:off x="431800" y="479425"/>
              <a:ext cx="889000" cy="3333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en-US" sz="1500">
                  <a:solidFill>
                    <a:srgbClr val="2475FF"/>
                  </a:solidFill>
                  <a:latin typeface="IBM Plex Mono"/>
                  <a:ea typeface="IBM Plex Mono"/>
                  <a:cs typeface="IBM Plex Mono"/>
                  <a:sym typeface="IBM Plex Mono"/>
                </a:rPr>
                <a:t>03</a:t>
              </a:r>
            </a:p>
          </p:txBody>
        </p:sp>
        <p:sp>
          <p:nvSpPr>
            <p:cNvPr name="TextBox 35" id="35"/>
            <p:cNvSpPr txBox="true"/>
            <p:nvPr/>
          </p:nvSpPr>
          <p:spPr>
            <a:xfrm rot="0">
              <a:off x="431800" y="1543050"/>
              <a:ext cx="4191000" cy="83947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430"/>
                </a:lnSpc>
              </a:pPr>
              <a:r>
                <a:rPr lang="en-US" sz="2250">
                  <a:solidFill>
                    <a:srgbClr val="10213A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Interactive Visual</a:t>
              </a:r>
            </a:p>
            <a:p>
              <a:pPr algn="l">
                <a:lnSpc>
                  <a:spcPts val="2430"/>
                </a:lnSpc>
              </a:pPr>
              <a:r>
                <a:rPr lang="en-US" sz="2250">
                  <a:solidFill>
                    <a:srgbClr val="10213A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Analytics</a:t>
              </a:r>
            </a:p>
          </p:txBody>
        </p:sp>
        <p:sp>
          <p:nvSpPr>
            <p:cNvPr name="TextBox 36" id="36"/>
            <p:cNvSpPr txBox="true"/>
            <p:nvPr/>
          </p:nvSpPr>
          <p:spPr>
            <a:xfrm rot="0">
              <a:off x="431800" y="3781425"/>
              <a:ext cx="4191000" cy="7232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227"/>
                </a:lnSpc>
              </a:pPr>
              <a:r>
                <a:rPr lang="en-US" sz="1650">
                  <a:solidFill>
                    <a:srgbClr val="5F7188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Turn incident signals into decision-ready visual stories.</a:t>
              </a:r>
            </a:p>
          </p:txBody>
        </p:sp>
      </p:grpSp>
      <p:grpSp>
        <p:nvGrpSpPr>
          <p:cNvPr name="Group 37" id="37"/>
          <p:cNvGrpSpPr/>
          <p:nvPr/>
        </p:nvGrpSpPr>
        <p:grpSpPr>
          <a:xfrm rot="0">
            <a:off x="13277850" y="2857500"/>
            <a:ext cx="3714750" cy="5334000"/>
            <a:chOff x="0" y="0"/>
            <a:chExt cx="4953000" cy="7112000"/>
          </a:xfrm>
        </p:grpSpPr>
        <p:grpSp>
          <p:nvGrpSpPr>
            <p:cNvPr name="Group 38" id="38"/>
            <p:cNvGrpSpPr/>
            <p:nvPr/>
          </p:nvGrpSpPr>
          <p:grpSpPr>
            <a:xfrm rot="0">
              <a:off x="0" y="0"/>
              <a:ext cx="4953000" cy="7112000"/>
              <a:chOff x="0" y="0"/>
              <a:chExt cx="4953000" cy="7112000"/>
            </a:xfrm>
          </p:grpSpPr>
          <p:sp>
            <p:nvSpPr>
              <p:cNvPr name="Freeform 39" id="39"/>
              <p:cNvSpPr/>
              <p:nvPr/>
            </p:nvSpPr>
            <p:spPr>
              <a:xfrm flipH="false" flipV="false" rot="0">
                <a:off x="0" y="0"/>
                <a:ext cx="4953000" cy="7112000"/>
              </a:xfrm>
              <a:custGeom>
                <a:avLst/>
                <a:gdLst/>
                <a:ahLst/>
                <a:cxnLst/>
                <a:rect r="r" b="b" t="t" l="l"/>
                <a:pathLst>
                  <a:path h="7112000" w="4953000">
                    <a:moveTo>
                      <a:pt x="0" y="0"/>
                    </a:moveTo>
                    <a:lnTo>
                      <a:pt x="4953000" y="0"/>
                    </a:lnTo>
                    <a:lnTo>
                      <a:pt x="4953000" y="7112000"/>
                    </a:lnTo>
                    <a:lnTo>
                      <a:pt x="0" y="7112000"/>
                    </a:lnTo>
                    <a:close/>
                  </a:path>
                </a:pathLst>
              </a:custGeom>
              <a:solidFill>
                <a:srgbClr val="0C2340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40" id="40"/>
              <p:cNvSpPr txBox="true"/>
              <p:nvPr/>
            </p:nvSpPr>
            <p:spPr>
              <a:xfrm>
                <a:off x="0" y="-38100"/>
                <a:ext cx="4953000" cy="71501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grpSp>
          <p:nvGrpSpPr>
            <p:cNvPr name="Group 41" id="41"/>
            <p:cNvGrpSpPr/>
            <p:nvPr/>
          </p:nvGrpSpPr>
          <p:grpSpPr>
            <a:xfrm rot="0">
              <a:off x="0" y="0"/>
              <a:ext cx="4953000" cy="101600"/>
              <a:chOff x="0" y="0"/>
              <a:chExt cx="4953000" cy="101600"/>
            </a:xfrm>
          </p:grpSpPr>
          <p:sp>
            <p:nvSpPr>
              <p:cNvPr name="Freeform 42" id="42"/>
              <p:cNvSpPr/>
              <p:nvPr/>
            </p:nvSpPr>
            <p:spPr>
              <a:xfrm flipH="false" flipV="false" rot="0">
                <a:off x="0" y="0"/>
                <a:ext cx="4953000" cy="101600"/>
              </a:xfrm>
              <a:custGeom>
                <a:avLst/>
                <a:gdLst/>
                <a:ahLst/>
                <a:cxnLst/>
                <a:rect r="r" b="b" t="t" l="l"/>
                <a:pathLst>
                  <a:path h="101600" w="4953000">
                    <a:moveTo>
                      <a:pt x="0" y="0"/>
                    </a:moveTo>
                    <a:lnTo>
                      <a:pt x="4953000" y="0"/>
                    </a:lnTo>
                    <a:lnTo>
                      <a:pt x="4953000" y="101600"/>
                    </a:lnTo>
                    <a:lnTo>
                      <a:pt x="0" y="101600"/>
                    </a:lnTo>
                    <a:close/>
                  </a:path>
                </a:pathLst>
              </a:custGeom>
              <a:solidFill>
                <a:srgbClr val="35D2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43" id="43"/>
              <p:cNvSpPr txBox="true"/>
              <p:nvPr/>
            </p:nvSpPr>
            <p:spPr>
              <a:xfrm>
                <a:off x="0" y="-38100"/>
                <a:ext cx="4953000" cy="1397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sp>
          <p:nvSpPr>
            <p:cNvPr name="TextBox 44" id="44"/>
            <p:cNvSpPr txBox="true"/>
            <p:nvPr/>
          </p:nvSpPr>
          <p:spPr>
            <a:xfrm rot="0">
              <a:off x="431800" y="479425"/>
              <a:ext cx="889000" cy="3333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en-US" sz="1500">
                  <a:solidFill>
                    <a:srgbClr val="2475FF"/>
                  </a:solidFill>
                  <a:latin typeface="IBM Plex Mono"/>
                  <a:ea typeface="IBM Plex Mono"/>
                  <a:cs typeface="IBM Plex Mono"/>
                  <a:sym typeface="IBM Plex Mono"/>
                </a:rPr>
                <a:t>04</a:t>
              </a:r>
            </a:p>
          </p:txBody>
        </p:sp>
        <p:sp>
          <p:nvSpPr>
            <p:cNvPr name="TextBox 45" id="45"/>
            <p:cNvSpPr txBox="true"/>
            <p:nvPr/>
          </p:nvSpPr>
          <p:spPr>
            <a:xfrm rot="0">
              <a:off x="431800" y="1543050"/>
              <a:ext cx="4191000" cy="83947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430"/>
                </a:lnSpc>
              </a:pPr>
              <a:r>
                <a:rPr lang="en-US" sz="2250">
                  <a:solidFill>
                    <a:srgbClr val="10213A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Containment Gap</a:t>
              </a:r>
            </a:p>
            <a:p>
              <a:pPr algn="l">
                <a:lnSpc>
                  <a:spcPts val="2430"/>
                </a:lnSpc>
              </a:pPr>
              <a:r>
                <a:rPr lang="en-US" sz="2250">
                  <a:solidFill>
                    <a:srgbClr val="10213A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Detection</a:t>
              </a:r>
            </a:p>
          </p:txBody>
        </p:sp>
        <p:sp>
          <p:nvSpPr>
            <p:cNvPr name="TextBox 46" id="46"/>
            <p:cNvSpPr txBox="true"/>
            <p:nvPr/>
          </p:nvSpPr>
          <p:spPr>
            <a:xfrm rot="0">
              <a:off x="431800" y="3781425"/>
              <a:ext cx="4191000" cy="7232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227"/>
                </a:lnSpc>
              </a:pPr>
              <a:r>
                <a:rPr lang="en-US" sz="1650">
                  <a:solidFill>
                    <a:srgbClr val="5F7188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Expose critical threats that remain allowed or unresolved.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90600" y="523875"/>
            <a:ext cx="4762500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162" b="true">
                <a:solidFill>
                  <a:srgbClr val="2475F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FRAMEWORK / 03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990600" y="1038225"/>
            <a:ext cx="14287500" cy="5219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95"/>
              </a:lnSpc>
            </a:pPr>
            <a:r>
              <a:rPr lang="en-US" sz="3900">
                <a:solidFill>
                  <a:srgbClr val="10213A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Project Description &amp; Modules</a:t>
            </a:r>
          </a:p>
        </p:txBody>
      </p:sp>
      <p:sp>
        <p:nvSpPr>
          <p:cNvPr name="AutoShape 4" id="4"/>
          <p:cNvSpPr/>
          <p:nvPr/>
        </p:nvSpPr>
        <p:spPr>
          <a:xfrm>
            <a:off x="990600" y="9477375"/>
            <a:ext cx="16306800" cy="0"/>
          </a:xfrm>
          <a:prstGeom prst="line">
            <a:avLst/>
          </a:prstGeom>
          <a:ln cap="flat" w="9525">
            <a:solidFill>
              <a:srgbClr val="CBD8E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5" id="5"/>
          <p:cNvSpPr txBox="true"/>
          <p:nvPr/>
        </p:nvSpPr>
        <p:spPr>
          <a:xfrm rot="0">
            <a:off x="990600" y="9696450"/>
            <a:ext cx="6667500" cy="190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74"/>
              </a:lnSpc>
            </a:pPr>
            <a:r>
              <a:rPr lang="en-US" sz="1125" spc="89">
                <a:solidFill>
                  <a:srgbClr val="8495AA"/>
                </a:solidFill>
                <a:latin typeface="IBM Plex Mono"/>
                <a:ea typeface="IBM Plex Mono"/>
                <a:cs typeface="IBM Plex Mono"/>
                <a:sym typeface="IBM Plex Mono"/>
              </a:rPr>
              <a:t>ADVANCED THREAT INCIDENT ANALYTICS  •  2026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6764000" y="9677400"/>
            <a:ext cx="571500" cy="198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679"/>
              </a:lnSpc>
            </a:pPr>
            <a:r>
              <a:rPr lang="en-US" sz="1200">
                <a:solidFill>
                  <a:srgbClr val="2475FF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990600" y="2057400"/>
            <a:ext cx="15240000" cy="7029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35"/>
              </a:lnSpc>
            </a:pPr>
            <a:r>
              <a:rPr lang="en-US" sz="2100">
                <a:solidFill>
                  <a:srgbClr val="5F7188"/>
                </a:solidFill>
                <a:latin typeface="IBM Plex Sans"/>
                <a:ea typeface="IBM Plex Sans"/>
                <a:cs typeface="IBM Plex Sans"/>
                <a:sym typeface="IBM Plex Sans"/>
              </a:rPr>
              <a:t>Building a cyber threat analytics platform that converts raw network events into correlated incidents, interactive visuals and response-ready intelligence.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990600" y="3857625"/>
            <a:ext cx="5000625" cy="2000250"/>
            <a:chOff x="0" y="0"/>
            <a:chExt cx="6667500" cy="2667000"/>
          </a:xfrm>
        </p:grpSpPr>
        <p:grpSp>
          <p:nvGrpSpPr>
            <p:cNvPr name="Group 9" id="9"/>
            <p:cNvGrpSpPr/>
            <p:nvPr/>
          </p:nvGrpSpPr>
          <p:grpSpPr>
            <a:xfrm rot="0">
              <a:off x="0" y="0"/>
              <a:ext cx="6667500" cy="2667000"/>
              <a:chOff x="0" y="0"/>
              <a:chExt cx="6667500" cy="266700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6667500" cy="2667000"/>
              </a:xfrm>
              <a:custGeom>
                <a:avLst/>
                <a:gdLst/>
                <a:ahLst/>
                <a:cxnLst/>
                <a:rect r="r" b="b" t="t" l="l"/>
                <a:pathLst>
                  <a:path h="2667000" w="6667500">
                    <a:moveTo>
                      <a:pt x="0" y="0"/>
                    </a:moveTo>
                    <a:lnTo>
                      <a:pt x="6667500" y="0"/>
                    </a:lnTo>
                    <a:lnTo>
                      <a:pt x="6667500" y="2667000"/>
                    </a:lnTo>
                    <a:lnTo>
                      <a:pt x="0" y="2667000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38100"/>
                <a:ext cx="6667500" cy="27051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0" y="0"/>
              <a:ext cx="88900" cy="2667000"/>
              <a:chOff x="0" y="0"/>
              <a:chExt cx="88900" cy="266700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8900" cy="2667000"/>
              </a:xfrm>
              <a:custGeom>
                <a:avLst/>
                <a:gdLst/>
                <a:ahLst/>
                <a:cxnLst/>
                <a:rect r="r" b="b" t="t" l="l"/>
                <a:pathLst>
                  <a:path h="2667000" w="88900">
                    <a:moveTo>
                      <a:pt x="0" y="0"/>
                    </a:moveTo>
                    <a:lnTo>
                      <a:pt x="88900" y="0"/>
                    </a:lnTo>
                    <a:lnTo>
                      <a:pt x="88900" y="2667000"/>
                    </a:lnTo>
                    <a:lnTo>
                      <a:pt x="0" y="2667000"/>
                    </a:lnTo>
                    <a:close/>
                  </a:path>
                </a:pathLst>
              </a:custGeom>
              <a:solidFill>
                <a:srgbClr val="2475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38100"/>
                <a:ext cx="88900" cy="27051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sp>
          <p:nvSpPr>
            <p:cNvPr name="TextBox 15" id="15"/>
            <p:cNvSpPr txBox="true"/>
            <p:nvPr/>
          </p:nvSpPr>
          <p:spPr>
            <a:xfrm rot="0">
              <a:off x="355600" y="352425"/>
              <a:ext cx="762000" cy="3333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en-US" sz="1500">
                  <a:solidFill>
                    <a:srgbClr val="35D2FF"/>
                  </a:solidFill>
                  <a:latin typeface="IBM Plex Mono"/>
                  <a:ea typeface="IBM Plex Mono"/>
                  <a:cs typeface="IBM Plex Mono"/>
                  <a:sym typeface="IBM Plex Mono"/>
                </a:rPr>
                <a:t>01</a:t>
              </a:r>
            </a:p>
          </p:txBody>
        </p:sp>
        <p:sp>
          <p:nvSpPr>
            <p:cNvPr name="TextBox 16" id="16"/>
            <p:cNvSpPr txBox="true"/>
            <p:nvPr/>
          </p:nvSpPr>
          <p:spPr>
            <a:xfrm rot="0">
              <a:off x="355600" y="1019175"/>
              <a:ext cx="5969000" cy="38087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187"/>
                </a:lnSpc>
              </a:pPr>
              <a:r>
                <a:rPr lang="en-US" sz="2025">
                  <a:solidFill>
                    <a:srgbClr val="10213A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Data Ingestion &amp; Cleaning</a:t>
              </a:r>
            </a:p>
          </p:txBody>
        </p:sp>
        <p:sp>
          <p:nvSpPr>
            <p:cNvPr name="TextBox 17" id="17"/>
            <p:cNvSpPr txBox="true"/>
            <p:nvPr/>
          </p:nvSpPr>
          <p:spPr>
            <a:xfrm rot="0">
              <a:off x="355600" y="1695450"/>
              <a:ext cx="5969000" cy="3238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en-US" sz="1500">
                  <a:solidFill>
                    <a:srgbClr val="5F7188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Normalize schema • remove duplicates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6372225" y="3857625"/>
            <a:ext cx="5000625" cy="2000250"/>
            <a:chOff x="0" y="0"/>
            <a:chExt cx="6667500" cy="2667000"/>
          </a:xfrm>
        </p:grpSpPr>
        <p:grpSp>
          <p:nvGrpSpPr>
            <p:cNvPr name="Group 19" id="19"/>
            <p:cNvGrpSpPr/>
            <p:nvPr/>
          </p:nvGrpSpPr>
          <p:grpSpPr>
            <a:xfrm rot="0">
              <a:off x="0" y="0"/>
              <a:ext cx="6667500" cy="2667000"/>
              <a:chOff x="0" y="0"/>
              <a:chExt cx="6667500" cy="2667000"/>
            </a:xfrm>
          </p:grpSpPr>
          <p:sp>
            <p:nvSpPr>
              <p:cNvPr name="Freeform 20" id="20"/>
              <p:cNvSpPr/>
              <p:nvPr/>
            </p:nvSpPr>
            <p:spPr>
              <a:xfrm flipH="false" flipV="false" rot="0">
                <a:off x="0" y="0"/>
                <a:ext cx="6667500" cy="2667000"/>
              </a:xfrm>
              <a:custGeom>
                <a:avLst/>
                <a:gdLst/>
                <a:ahLst/>
                <a:cxnLst/>
                <a:rect r="r" b="b" t="t" l="l"/>
                <a:pathLst>
                  <a:path h="2667000" w="6667500">
                    <a:moveTo>
                      <a:pt x="0" y="0"/>
                    </a:moveTo>
                    <a:lnTo>
                      <a:pt x="6667500" y="0"/>
                    </a:lnTo>
                    <a:lnTo>
                      <a:pt x="6667500" y="2667000"/>
                    </a:lnTo>
                    <a:lnTo>
                      <a:pt x="0" y="2667000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21" id="21"/>
              <p:cNvSpPr txBox="true"/>
              <p:nvPr/>
            </p:nvSpPr>
            <p:spPr>
              <a:xfrm>
                <a:off x="0" y="-38100"/>
                <a:ext cx="6667500" cy="27051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grpSp>
          <p:nvGrpSpPr>
            <p:cNvPr name="Group 22" id="22"/>
            <p:cNvGrpSpPr/>
            <p:nvPr/>
          </p:nvGrpSpPr>
          <p:grpSpPr>
            <a:xfrm rot="0">
              <a:off x="0" y="0"/>
              <a:ext cx="88900" cy="2667000"/>
              <a:chOff x="0" y="0"/>
              <a:chExt cx="88900" cy="2667000"/>
            </a:xfrm>
          </p:grpSpPr>
          <p:sp>
            <p:nvSpPr>
              <p:cNvPr name="Freeform 23" id="23"/>
              <p:cNvSpPr/>
              <p:nvPr/>
            </p:nvSpPr>
            <p:spPr>
              <a:xfrm flipH="false" flipV="false" rot="0">
                <a:off x="0" y="0"/>
                <a:ext cx="88900" cy="2667000"/>
              </a:xfrm>
              <a:custGeom>
                <a:avLst/>
                <a:gdLst/>
                <a:ahLst/>
                <a:cxnLst/>
                <a:rect r="r" b="b" t="t" l="l"/>
                <a:pathLst>
                  <a:path h="2667000" w="88900">
                    <a:moveTo>
                      <a:pt x="0" y="0"/>
                    </a:moveTo>
                    <a:lnTo>
                      <a:pt x="88900" y="0"/>
                    </a:lnTo>
                    <a:lnTo>
                      <a:pt x="88900" y="2667000"/>
                    </a:lnTo>
                    <a:lnTo>
                      <a:pt x="0" y="2667000"/>
                    </a:lnTo>
                    <a:close/>
                  </a:path>
                </a:pathLst>
              </a:custGeom>
              <a:solidFill>
                <a:srgbClr val="2475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24" id="24"/>
              <p:cNvSpPr txBox="true"/>
              <p:nvPr/>
            </p:nvSpPr>
            <p:spPr>
              <a:xfrm>
                <a:off x="0" y="-38100"/>
                <a:ext cx="88900" cy="27051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sp>
          <p:nvSpPr>
            <p:cNvPr name="TextBox 25" id="25"/>
            <p:cNvSpPr txBox="true"/>
            <p:nvPr/>
          </p:nvSpPr>
          <p:spPr>
            <a:xfrm rot="0">
              <a:off x="355600" y="352425"/>
              <a:ext cx="762000" cy="3333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en-US" sz="1500">
                  <a:solidFill>
                    <a:srgbClr val="35D2FF"/>
                  </a:solidFill>
                  <a:latin typeface="IBM Plex Mono"/>
                  <a:ea typeface="IBM Plex Mono"/>
                  <a:cs typeface="IBM Plex Mono"/>
                  <a:sym typeface="IBM Plex Mono"/>
                </a:rPr>
                <a:t>02</a:t>
              </a:r>
            </a:p>
          </p:txBody>
        </p:sp>
        <p:sp>
          <p:nvSpPr>
            <p:cNvPr name="TextBox 26" id="26"/>
            <p:cNvSpPr txBox="true"/>
            <p:nvPr/>
          </p:nvSpPr>
          <p:spPr>
            <a:xfrm rot="0">
              <a:off x="355600" y="1019175"/>
              <a:ext cx="5969000" cy="38087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187"/>
                </a:lnSpc>
              </a:pPr>
              <a:r>
                <a:rPr lang="en-US" sz="2025">
                  <a:solidFill>
                    <a:srgbClr val="10213A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Threat Detection Logic</a:t>
              </a:r>
            </a:p>
          </p:txBody>
        </p:sp>
        <p:sp>
          <p:nvSpPr>
            <p:cNvPr name="TextBox 27" id="27"/>
            <p:cNvSpPr txBox="true"/>
            <p:nvPr/>
          </p:nvSpPr>
          <p:spPr>
            <a:xfrm rot="0">
              <a:off x="355600" y="1695450"/>
              <a:ext cx="5969000" cy="3238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en-US" sz="1500">
                  <a:solidFill>
                    <a:srgbClr val="5F7188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Score behavior • flag risk patterns</a:t>
              </a: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11753850" y="3857625"/>
            <a:ext cx="5000625" cy="2000250"/>
            <a:chOff x="0" y="0"/>
            <a:chExt cx="6667500" cy="2667000"/>
          </a:xfrm>
        </p:grpSpPr>
        <p:grpSp>
          <p:nvGrpSpPr>
            <p:cNvPr name="Group 29" id="29"/>
            <p:cNvGrpSpPr/>
            <p:nvPr/>
          </p:nvGrpSpPr>
          <p:grpSpPr>
            <a:xfrm rot="0">
              <a:off x="0" y="0"/>
              <a:ext cx="6667500" cy="2667000"/>
              <a:chOff x="0" y="0"/>
              <a:chExt cx="6667500" cy="2667000"/>
            </a:xfrm>
          </p:grpSpPr>
          <p:sp>
            <p:nvSpPr>
              <p:cNvPr name="Freeform 30" id="30"/>
              <p:cNvSpPr/>
              <p:nvPr/>
            </p:nvSpPr>
            <p:spPr>
              <a:xfrm flipH="false" flipV="false" rot="0">
                <a:off x="0" y="0"/>
                <a:ext cx="6667500" cy="2667000"/>
              </a:xfrm>
              <a:custGeom>
                <a:avLst/>
                <a:gdLst/>
                <a:ahLst/>
                <a:cxnLst/>
                <a:rect r="r" b="b" t="t" l="l"/>
                <a:pathLst>
                  <a:path h="2667000" w="6667500">
                    <a:moveTo>
                      <a:pt x="0" y="0"/>
                    </a:moveTo>
                    <a:lnTo>
                      <a:pt x="6667500" y="0"/>
                    </a:lnTo>
                    <a:lnTo>
                      <a:pt x="6667500" y="2667000"/>
                    </a:lnTo>
                    <a:lnTo>
                      <a:pt x="0" y="2667000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31" id="31"/>
              <p:cNvSpPr txBox="true"/>
              <p:nvPr/>
            </p:nvSpPr>
            <p:spPr>
              <a:xfrm>
                <a:off x="0" y="-38100"/>
                <a:ext cx="6667500" cy="27051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grpSp>
          <p:nvGrpSpPr>
            <p:cNvPr name="Group 32" id="32"/>
            <p:cNvGrpSpPr/>
            <p:nvPr/>
          </p:nvGrpSpPr>
          <p:grpSpPr>
            <a:xfrm rot="0">
              <a:off x="0" y="0"/>
              <a:ext cx="88900" cy="2667000"/>
              <a:chOff x="0" y="0"/>
              <a:chExt cx="88900" cy="2667000"/>
            </a:xfrm>
          </p:grpSpPr>
          <p:sp>
            <p:nvSpPr>
              <p:cNvPr name="Freeform 33" id="33"/>
              <p:cNvSpPr/>
              <p:nvPr/>
            </p:nvSpPr>
            <p:spPr>
              <a:xfrm flipH="false" flipV="false" rot="0">
                <a:off x="0" y="0"/>
                <a:ext cx="88900" cy="2667000"/>
              </a:xfrm>
              <a:custGeom>
                <a:avLst/>
                <a:gdLst/>
                <a:ahLst/>
                <a:cxnLst/>
                <a:rect r="r" b="b" t="t" l="l"/>
                <a:pathLst>
                  <a:path h="2667000" w="88900">
                    <a:moveTo>
                      <a:pt x="0" y="0"/>
                    </a:moveTo>
                    <a:lnTo>
                      <a:pt x="88900" y="0"/>
                    </a:lnTo>
                    <a:lnTo>
                      <a:pt x="88900" y="2667000"/>
                    </a:lnTo>
                    <a:lnTo>
                      <a:pt x="0" y="2667000"/>
                    </a:lnTo>
                    <a:close/>
                  </a:path>
                </a:pathLst>
              </a:custGeom>
              <a:solidFill>
                <a:srgbClr val="2475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34" id="34"/>
              <p:cNvSpPr txBox="true"/>
              <p:nvPr/>
            </p:nvSpPr>
            <p:spPr>
              <a:xfrm>
                <a:off x="0" y="-38100"/>
                <a:ext cx="88900" cy="27051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sp>
          <p:nvSpPr>
            <p:cNvPr name="TextBox 35" id="35"/>
            <p:cNvSpPr txBox="true"/>
            <p:nvPr/>
          </p:nvSpPr>
          <p:spPr>
            <a:xfrm rot="0">
              <a:off x="355600" y="352425"/>
              <a:ext cx="762000" cy="3333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en-US" sz="1500">
                  <a:solidFill>
                    <a:srgbClr val="35D2FF"/>
                  </a:solidFill>
                  <a:latin typeface="IBM Plex Mono"/>
                  <a:ea typeface="IBM Plex Mono"/>
                  <a:cs typeface="IBM Plex Mono"/>
                  <a:sym typeface="IBM Plex Mono"/>
                </a:rPr>
                <a:t>03</a:t>
              </a:r>
            </a:p>
          </p:txBody>
        </p:sp>
        <p:sp>
          <p:nvSpPr>
            <p:cNvPr name="TextBox 36" id="36"/>
            <p:cNvSpPr txBox="true"/>
            <p:nvPr/>
          </p:nvSpPr>
          <p:spPr>
            <a:xfrm rot="0">
              <a:off x="355600" y="1019175"/>
              <a:ext cx="5969000" cy="38087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187"/>
                </a:lnSpc>
              </a:pPr>
              <a:r>
                <a:rPr lang="en-US" sz="2025">
                  <a:solidFill>
                    <a:srgbClr val="10213A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Incident Triage Automation</a:t>
              </a:r>
            </a:p>
          </p:txBody>
        </p:sp>
        <p:sp>
          <p:nvSpPr>
            <p:cNvPr name="TextBox 37" id="37"/>
            <p:cNvSpPr txBox="true"/>
            <p:nvPr/>
          </p:nvSpPr>
          <p:spPr>
            <a:xfrm rot="0">
              <a:off x="355600" y="1695450"/>
              <a:ext cx="5969000" cy="3238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en-US" sz="1500">
                  <a:solidFill>
                    <a:srgbClr val="5F7188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Correlate events • prioritize queues</a:t>
              </a: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990600" y="6238875"/>
            <a:ext cx="5000625" cy="2000250"/>
            <a:chOff x="0" y="0"/>
            <a:chExt cx="6667500" cy="2667000"/>
          </a:xfrm>
        </p:grpSpPr>
        <p:grpSp>
          <p:nvGrpSpPr>
            <p:cNvPr name="Group 39" id="39"/>
            <p:cNvGrpSpPr/>
            <p:nvPr/>
          </p:nvGrpSpPr>
          <p:grpSpPr>
            <a:xfrm rot="0">
              <a:off x="0" y="0"/>
              <a:ext cx="6667500" cy="2667000"/>
              <a:chOff x="0" y="0"/>
              <a:chExt cx="6667500" cy="2667000"/>
            </a:xfrm>
          </p:grpSpPr>
          <p:sp>
            <p:nvSpPr>
              <p:cNvPr name="Freeform 40" id="40"/>
              <p:cNvSpPr/>
              <p:nvPr/>
            </p:nvSpPr>
            <p:spPr>
              <a:xfrm flipH="false" flipV="false" rot="0">
                <a:off x="0" y="0"/>
                <a:ext cx="6667500" cy="2667000"/>
              </a:xfrm>
              <a:custGeom>
                <a:avLst/>
                <a:gdLst/>
                <a:ahLst/>
                <a:cxnLst/>
                <a:rect r="r" b="b" t="t" l="l"/>
                <a:pathLst>
                  <a:path h="2667000" w="6667500">
                    <a:moveTo>
                      <a:pt x="0" y="0"/>
                    </a:moveTo>
                    <a:lnTo>
                      <a:pt x="6667500" y="0"/>
                    </a:lnTo>
                    <a:lnTo>
                      <a:pt x="6667500" y="2667000"/>
                    </a:lnTo>
                    <a:lnTo>
                      <a:pt x="0" y="2667000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41" id="41"/>
              <p:cNvSpPr txBox="true"/>
              <p:nvPr/>
            </p:nvSpPr>
            <p:spPr>
              <a:xfrm>
                <a:off x="0" y="-38100"/>
                <a:ext cx="6667500" cy="27051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grpSp>
          <p:nvGrpSpPr>
            <p:cNvPr name="Group 42" id="42"/>
            <p:cNvGrpSpPr/>
            <p:nvPr/>
          </p:nvGrpSpPr>
          <p:grpSpPr>
            <a:xfrm rot="0">
              <a:off x="0" y="0"/>
              <a:ext cx="88900" cy="2667000"/>
              <a:chOff x="0" y="0"/>
              <a:chExt cx="88900" cy="2667000"/>
            </a:xfrm>
          </p:grpSpPr>
          <p:sp>
            <p:nvSpPr>
              <p:cNvPr name="Freeform 43" id="43"/>
              <p:cNvSpPr/>
              <p:nvPr/>
            </p:nvSpPr>
            <p:spPr>
              <a:xfrm flipH="false" flipV="false" rot="0">
                <a:off x="0" y="0"/>
                <a:ext cx="88900" cy="2667000"/>
              </a:xfrm>
              <a:custGeom>
                <a:avLst/>
                <a:gdLst/>
                <a:ahLst/>
                <a:cxnLst/>
                <a:rect r="r" b="b" t="t" l="l"/>
                <a:pathLst>
                  <a:path h="2667000" w="88900">
                    <a:moveTo>
                      <a:pt x="0" y="0"/>
                    </a:moveTo>
                    <a:lnTo>
                      <a:pt x="88900" y="0"/>
                    </a:lnTo>
                    <a:lnTo>
                      <a:pt x="88900" y="2667000"/>
                    </a:lnTo>
                    <a:lnTo>
                      <a:pt x="0" y="2667000"/>
                    </a:lnTo>
                    <a:close/>
                  </a:path>
                </a:pathLst>
              </a:custGeom>
              <a:solidFill>
                <a:srgbClr val="35D2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44" id="44"/>
              <p:cNvSpPr txBox="true"/>
              <p:nvPr/>
            </p:nvSpPr>
            <p:spPr>
              <a:xfrm>
                <a:off x="0" y="-38100"/>
                <a:ext cx="88900" cy="27051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sp>
          <p:nvSpPr>
            <p:cNvPr name="TextBox 45" id="45"/>
            <p:cNvSpPr txBox="true"/>
            <p:nvPr/>
          </p:nvSpPr>
          <p:spPr>
            <a:xfrm rot="0">
              <a:off x="355600" y="352425"/>
              <a:ext cx="762000" cy="3333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en-US" sz="1500">
                  <a:solidFill>
                    <a:srgbClr val="35D2FF"/>
                  </a:solidFill>
                  <a:latin typeface="IBM Plex Mono"/>
                  <a:ea typeface="IBM Plex Mono"/>
                  <a:cs typeface="IBM Plex Mono"/>
                  <a:sym typeface="IBM Plex Mono"/>
                </a:rPr>
                <a:t>04</a:t>
              </a:r>
            </a:p>
          </p:txBody>
        </p:sp>
        <p:sp>
          <p:nvSpPr>
            <p:cNvPr name="TextBox 46" id="46"/>
            <p:cNvSpPr txBox="true"/>
            <p:nvPr/>
          </p:nvSpPr>
          <p:spPr>
            <a:xfrm rot="0">
              <a:off x="355600" y="1019175"/>
              <a:ext cx="5969000" cy="38087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187"/>
                </a:lnSpc>
              </a:pPr>
              <a:r>
                <a:rPr lang="en-US" sz="2025">
                  <a:solidFill>
                    <a:srgbClr val="10213A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Visual Analytics Dashboard</a:t>
              </a:r>
            </a:p>
          </p:txBody>
        </p:sp>
        <p:sp>
          <p:nvSpPr>
            <p:cNvPr name="TextBox 47" id="47"/>
            <p:cNvSpPr txBox="true"/>
            <p:nvPr/>
          </p:nvSpPr>
          <p:spPr>
            <a:xfrm rot="0">
              <a:off x="355600" y="1695450"/>
              <a:ext cx="5969000" cy="3238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en-US" sz="1500">
                  <a:solidFill>
                    <a:srgbClr val="5F7188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Explore trends • drill into incidents</a:t>
              </a:r>
            </a:p>
          </p:txBody>
        </p:sp>
      </p:grpSp>
      <p:grpSp>
        <p:nvGrpSpPr>
          <p:cNvPr name="Group 48" id="48"/>
          <p:cNvGrpSpPr/>
          <p:nvPr/>
        </p:nvGrpSpPr>
        <p:grpSpPr>
          <a:xfrm rot="0">
            <a:off x="6372225" y="6238875"/>
            <a:ext cx="5000625" cy="2000250"/>
            <a:chOff x="0" y="0"/>
            <a:chExt cx="6667500" cy="2667000"/>
          </a:xfrm>
        </p:grpSpPr>
        <p:grpSp>
          <p:nvGrpSpPr>
            <p:cNvPr name="Group 49" id="49"/>
            <p:cNvGrpSpPr/>
            <p:nvPr/>
          </p:nvGrpSpPr>
          <p:grpSpPr>
            <a:xfrm rot="0">
              <a:off x="0" y="0"/>
              <a:ext cx="6667500" cy="2667000"/>
              <a:chOff x="0" y="0"/>
              <a:chExt cx="6667500" cy="2667000"/>
            </a:xfrm>
          </p:grpSpPr>
          <p:sp>
            <p:nvSpPr>
              <p:cNvPr name="Freeform 50" id="50"/>
              <p:cNvSpPr/>
              <p:nvPr/>
            </p:nvSpPr>
            <p:spPr>
              <a:xfrm flipH="false" flipV="false" rot="0">
                <a:off x="0" y="0"/>
                <a:ext cx="6667500" cy="2667000"/>
              </a:xfrm>
              <a:custGeom>
                <a:avLst/>
                <a:gdLst/>
                <a:ahLst/>
                <a:cxnLst/>
                <a:rect r="r" b="b" t="t" l="l"/>
                <a:pathLst>
                  <a:path h="2667000" w="6667500">
                    <a:moveTo>
                      <a:pt x="0" y="0"/>
                    </a:moveTo>
                    <a:lnTo>
                      <a:pt x="6667500" y="0"/>
                    </a:lnTo>
                    <a:lnTo>
                      <a:pt x="6667500" y="2667000"/>
                    </a:lnTo>
                    <a:lnTo>
                      <a:pt x="0" y="2667000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51" id="51"/>
              <p:cNvSpPr txBox="true"/>
              <p:nvPr/>
            </p:nvSpPr>
            <p:spPr>
              <a:xfrm>
                <a:off x="0" y="-38100"/>
                <a:ext cx="6667500" cy="27051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grpSp>
          <p:nvGrpSpPr>
            <p:cNvPr name="Group 52" id="52"/>
            <p:cNvGrpSpPr/>
            <p:nvPr/>
          </p:nvGrpSpPr>
          <p:grpSpPr>
            <a:xfrm rot="0">
              <a:off x="0" y="0"/>
              <a:ext cx="88900" cy="2667000"/>
              <a:chOff x="0" y="0"/>
              <a:chExt cx="88900" cy="2667000"/>
            </a:xfrm>
          </p:grpSpPr>
          <p:sp>
            <p:nvSpPr>
              <p:cNvPr name="Freeform 53" id="53"/>
              <p:cNvSpPr/>
              <p:nvPr/>
            </p:nvSpPr>
            <p:spPr>
              <a:xfrm flipH="false" flipV="false" rot="0">
                <a:off x="0" y="0"/>
                <a:ext cx="88900" cy="2667000"/>
              </a:xfrm>
              <a:custGeom>
                <a:avLst/>
                <a:gdLst/>
                <a:ahLst/>
                <a:cxnLst/>
                <a:rect r="r" b="b" t="t" l="l"/>
                <a:pathLst>
                  <a:path h="2667000" w="88900">
                    <a:moveTo>
                      <a:pt x="0" y="0"/>
                    </a:moveTo>
                    <a:lnTo>
                      <a:pt x="88900" y="0"/>
                    </a:lnTo>
                    <a:lnTo>
                      <a:pt x="88900" y="2667000"/>
                    </a:lnTo>
                    <a:lnTo>
                      <a:pt x="0" y="2667000"/>
                    </a:lnTo>
                    <a:close/>
                  </a:path>
                </a:pathLst>
              </a:custGeom>
              <a:solidFill>
                <a:srgbClr val="35D2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54" id="54"/>
              <p:cNvSpPr txBox="true"/>
              <p:nvPr/>
            </p:nvSpPr>
            <p:spPr>
              <a:xfrm>
                <a:off x="0" y="-38100"/>
                <a:ext cx="88900" cy="27051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sp>
          <p:nvSpPr>
            <p:cNvPr name="TextBox 55" id="55"/>
            <p:cNvSpPr txBox="true"/>
            <p:nvPr/>
          </p:nvSpPr>
          <p:spPr>
            <a:xfrm rot="0">
              <a:off x="355600" y="352425"/>
              <a:ext cx="762000" cy="3333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en-US" sz="1500">
                  <a:solidFill>
                    <a:srgbClr val="35D2FF"/>
                  </a:solidFill>
                  <a:latin typeface="IBM Plex Mono"/>
                  <a:ea typeface="IBM Plex Mono"/>
                  <a:cs typeface="IBM Plex Mono"/>
                  <a:sym typeface="IBM Plex Mono"/>
                </a:rPr>
                <a:t>05</a:t>
              </a:r>
            </a:p>
          </p:txBody>
        </p:sp>
        <p:sp>
          <p:nvSpPr>
            <p:cNvPr name="TextBox 56" id="56"/>
            <p:cNvSpPr txBox="true"/>
            <p:nvPr/>
          </p:nvSpPr>
          <p:spPr>
            <a:xfrm rot="0">
              <a:off x="355600" y="1019175"/>
              <a:ext cx="5969000" cy="38087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187"/>
                </a:lnSpc>
              </a:pPr>
              <a:r>
                <a:rPr lang="en-US" sz="2025">
                  <a:solidFill>
                    <a:srgbClr val="10213A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Containment &amp; Response</a:t>
              </a:r>
            </a:p>
          </p:txBody>
        </p:sp>
        <p:sp>
          <p:nvSpPr>
            <p:cNvPr name="TextBox 57" id="57"/>
            <p:cNvSpPr txBox="true"/>
            <p:nvPr/>
          </p:nvSpPr>
          <p:spPr>
            <a:xfrm rot="0">
              <a:off x="355600" y="1695450"/>
              <a:ext cx="5969000" cy="3238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en-US" sz="1500">
                  <a:solidFill>
                    <a:srgbClr val="5F7188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Track actions • reveal control gaps</a:t>
              </a:r>
            </a:p>
          </p:txBody>
        </p:sp>
      </p:grpSp>
      <p:grpSp>
        <p:nvGrpSpPr>
          <p:cNvPr name="Group 58" id="58"/>
          <p:cNvGrpSpPr/>
          <p:nvPr/>
        </p:nvGrpSpPr>
        <p:grpSpPr>
          <a:xfrm rot="0">
            <a:off x="11753850" y="6238875"/>
            <a:ext cx="5000625" cy="2000250"/>
            <a:chOff x="0" y="0"/>
            <a:chExt cx="6667500" cy="2667000"/>
          </a:xfrm>
        </p:grpSpPr>
        <p:grpSp>
          <p:nvGrpSpPr>
            <p:cNvPr name="Group 59" id="59"/>
            <p:cNvGrpSpPr/>
            <p:nvPr/>
          </p:nvGrpSpPr>
          <p:grpSpPr>
            <a:xfrm rot="0">
              <a:off x="0" y="0"/>
              <a:ext cx="6667500" cy="2667000"/>
              <a:chOff x="0" y="0"/>
              <a:chExt cx="6667500" cy="2667000"/>
            </a:xfrm>
          </p:grpSpPr>
          <p:sp>
            <p:nvSpPr>
              <p:cNvPr name="Freeform 60" id="60"/>
              <p:cNvSpPr/>
              <p:nvPr/>
            </p:nvSpPr>
            <p:spPr>
              <a:xfrm flipH="false" flipV="false" rot="0">
                <a:off x="0" y="0"/>
                <a:ext cx="6667500" cy="2667000"/>
              </a:xfrm>
              <a:custGeom>
                <a:avLst/>
                <a:gdLst/>
                <a:ahLst/>
                <a:cxnLst/>
                <a:rect r="r" b="b" t="t" l="l"/>
                <a:pathLst>
                  <a:path h="2667000" w="6667500">
                    <a:moveTo>
                      <a:pt x="0" y="0"/>
                    </a:moveTo>
                    <a:lnTo>
                      <a:pt x="6667500" y="0"/>
                    </a:lnTo>
                    <a:lnTo>
                      <a:pt x="6667500" y="2667000"/>
                    </a:lnTo>
                    <a:lnTo>
                      <a:pt x="0" y="2667000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61" id="61"/>
              <p:cNvSpPr txBox="true"/>
              <p:nvPr/>
            </p:nvSpPr>
            <p:spPr>
              <a:xfrm>
                <a:off x="0" y="-38100"/>
                <a:ext cx="6667500" cy="27051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grpSp>
          <p:nvGrpSpPr>
            <p:cNvPr name="Group 62" id="62"/>
            <p:cNvGrpSpPr/>
            <p:nvPr/>
          </p:nvGrpSpPr>
          <p:grpSpPr>
            <a:xfrm rot="0">
              <a:off x="0" y="0"/>
              <a:ext cx="88900" cy="2667000"/>
              <a:chOff x="0" y="0"/>
              <a:chExt cx="88900" cy="2667000"/>
            </a:xfrm>
          </p:grpSpPr>
          <p:sp>
            <p:nvSpPr>
              <p:cNvPr name="Freeform 63" id="63"/>
              <p:cNvSpPr/>
              <p:nvPr/>
            </p:nvSpPr>
            <p:spPr>
              <a:xfrm flipH="false" flipV="false" rot="0">
                <a:off x="0" y="0"/>
                <a:ext cx="88900" cy="2667000"/>
              </a:xfrm>
              <a:custGeom>
                <a:avLst/>
                <a:gdLst/>
                <a:ahLst/>
                <a:cxnLst/>
                <a:rect r="r" b="b" t="t" l="l"/>
                <a:pathLst>
                  <a:path h="2667000" w="88900">
                    <a:moveTo>
                      <a:pt x="0" y="0"/>
                    </a:moveTo>
                    <a:lnTo>
                      <a:pt x="88900" y="0"/>
                    </a:lnTo>
                    <a:lnTo>
                      <a:pt x="88900" y="2667000"/>
                    </a:lnTo>
                    <a:lnTo>
                      <a:pt x="0" y="2667000"/>
                    </a:lnTo>
                    <a:close/>
                  </a:path>
                </a:pathLst>
              </a:custGeom>
              <a:solidFill>
                <a:srgbClr val="35D2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64" id="64"/>
              <p:cNvSpPr txBox="true"/>
              <p:nvPr/>
            </p:nvSpPr>
            <p:spPr>
              <a:xfrm>
                <a:off x="0" y="-38100"/>
                <a:ext cx="88900" cy="27051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sp>
          <p:nvSpPr>
            <p:cNvPr name="TextBox 65" id="65"/>
            <p:cNvSpPr txBox="true"/>
            <p:nvPr/>
          </p:nvSpPr>
          <p:spPr>
            <a:xfrm rot="0">
              <a:off x="355600" y="352425"/>
              <a:ext cx="762000" cy="3333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en-US" sz="1500">
                  <a:solidFill>
                    <a:srgbClr val="35D2FF"/>
                  </a:solidFill>
                  <a:latin typeface="IBM Plex Mono"/>
                  <a:ea typeface="IBM Plex Mono"/>
                  <a:cs typeface="IBM Plex Mono"/>
                  <a:sym typeface="IBM Plex Mono"/>
                </a:rPr>
                <a:t>06</a:t>
              </a:r>
            </a:p>
          </p:txBody>
        </p:sp>
        <p:sp>
          <p:nvSpPr>
            <p:cNvPr name="TextBox 66" id="66"/>
            <p:cNvSpPr txBox="true"/>
            <p:nvPr/>
          </p:nvSpPr>
          <p:spPr>
            <a:xfrm rot="0">
              <a:off x="355600" y="1019175"/>
              <a:ext cx="5969000" cy="38087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187"/>
                </a:lnSpc>
              </a:pPr>
              <a:r>
                <a:rPr lang="en-US" sz="2025">
                  <a:solidFill>
                    <a:srgbClr val="10213A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Reporting &amp; Alerts</a:t>
              </a:r>
            </a:p>
          </p:txBody>
        </p:sp>
        <p:sp>
          <p:nvSpPr>
            <p:cNvPr name="TextBox 67" id="67"/>
            <p:cNvSpPr txBox="true"/>
            <p:nvPr/>
          </p:nvSpPr>
          <p:spPr>
            <a:xfrm rot="0">
              <a:off x="355600" y="1695450"/>
              <a:ext cx="5969000" cy="3238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en-US" sz="1500">
                  <a:solidFill>
                    <a:srgbClr val="5F7188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Share findings • trigger escalation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bg>
      <p:bgPr>
        <a:solidFill>
          <a:srgbClr val="07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90600" y="523875"/>
            <a:ext cx="4762500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162" b="true">
                <a:solidFill>
                  <a:srgbClr val="35D2F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FRAMEWORK / 04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990600" y="1038225"/>
            <a:ext cx="14287500" cy="5219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95"/>
              </a:lnSpc>
            </a:pPr>
            <a:r>
              <a:rPr lang="en-US" sz="3900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8-Step Project Workflow</a:t>
            </a:r>
          </a:p>
        </p:txBody>
      </p:sp>
      <p:sp>
        <p:nvSpPr>
          <p:cNvPr name="AutoShape 4" id="4"/>
          <p:cNvSpPr/>
          <p:nvPr/>
        </p:nvSpPr>
        <p:spPr>
          <a:xfrm>
            <a:off x="990600" y="9477375"/>
            <a:ext cx="16306800" cy="0"/>
          </a:xfrm>
          <a:prstGeom prst="line">
            <a:avLst/>
          </a:prstGeom>
          <a:ln cap="flat" w="9525">
            <a:solidFill>
              <a:srgbClr val="24415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5" id="5"/>
          <p:cNvSpPr txBox="true"/>
          <p:nvPr/>
        </p:nvSpPr>
        <p:spPr>
          <a:xfrm rot="0">
            <a:off x="990600" y="9696450"/>
            <a:ext cx="6667500" cy="190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74"/>
              </a:lnSpc>
            </a:pPr>
            <a:r>
              <a:rPr lang="en-US" sz="1125" spc="89">
                <a:solidFill>
                  <a:srgbClr val="7188A3"/>
                </a:solidFill>
                <a:latin typeface="IBM Plex Mono"/>
                <a:ea typeface="IBM Plex Mono"/>
                <a:cs typeface="IBM Plex Mono"/>
                <a:sym typeface="IBM Plex Mono"/>
              </a:rPr>
              <a:t>ADVANCED THREAT INCIDENT ANALYTICS  •  2026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6764000" y="9677400"/>
            <a:ext cx="571500" cy="198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679"/>
              </a:lnSpc>
            </a:pPr>
            <a:r>
              <a:rPr lang="en-US" sz="1200">
                <a:solidFill>
                  <a:srgbClr val="35D2FF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</a:p>
        </p:txBody>
      </p:sp>
      <p:sp>
        <p:nvSpPr>
          <p:cNvPr name="AutoShape 7" id="7"/>
          <p:cNvSpPr/>
          <p:nvPr/>
        </p:nvSpPr>
        <p:spPr>
          <a:xfrm>
            <a:off x="1619250" y="4857750"/>
            <a:ext cx="15049500" cy="0"/>
          </a:xfrm>
          <a:prstGeom prst="line">
            <a:avLst/>
          </a:prstGeom>
          <a:ln cap="rnd" w="38100">
            <a:solidFill>
              <a:srgbClr val="244F78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8" id="8"/>
          <p:cNvGrpSpPr/>
          <p:nvPr/>
        </p:nvGrpSpPr>
        <p:grpSpPr>
          <a:xfrm rot="0">
            <a:off x="781050" y="4000500"/>
            <a:ext cx="1676400" cy="1820227"/>
            <a:chOff x="0" y="0"/>
            <a:chExt cx="2235200" cy="2426970"/>
          </a:xfrm>
        </p:grpSpPr>
        <p:grpSp>
          <p:nvGrpSpPr>
            <p:cNvPr name="Group 9" id="9"/>
            <p:cNvGrpSpPr/>
            <p:nvPr/>
          </p:nvGrpSpPr>
          <p:grpSpPr>
            <a:xfrm rot="0">
              <a:off x="927100" y="762000"/>
              <a:ext cx="762000" cy="762000"/>
              <a:chOff x="0" y="0"/>
              <a:chExt cx="762000" cy="76200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762000" cy="762000"/>
              </a:xfrm>
              <a:custGeom>
                <a:avLst/>
                <a:gdLst/>
                <a:ahLst/>
                <a:cxnLst/>
                <a:rect r="r" b="b" t="t" l="l"/>
                <a:pathLst>
                  <a:path h="762000" w="762000">
                    <a:moveTo>
                      <a:pt x="381000" y="0"/>
                    </a:moveTo>
                    <a:cubicBezTo>
                      <a:pt x="591420" y="0"/>
                      <a:pt x="762000" y="170580"/>
                      <a:pt x="762000" y="381000"/>
                    </a:cubicBezTo>
                    <a:cubicBezTo>
                      <a:pt x="762000" y="591420"/>
                      <a:pt x="591420" y="762000"/>
                      <a:pt x="381000" y="762000"/>
                    </a:cubicBezTo>
                    <a:cubicBezTo>
                      <a:pt x="170580" y="762000"/>
                      <a:pt x="0" y="591420"/>
                      <a:pt x="0" y="381000"/>
                    </a:cubicBezTo>
                    <a:cubicBezTo>
                      <a:pt x="0" y="170580"/>
                      <a:pt x="170580" y="0"/>
                      <a:pt x="381000" y="0"/>
                    </a:cubicBezTo>
                    <a:close/>
                  </a:path>
                </a:pathLst>
              </a:custGeom>
              <a:solidFill>
                <a:srgbClr val="2475FF"/>
              </a:solidFill>
              <a:ln cap="sq">
                <a:noFill/>
                <a:prstDash val="solid"/>
                <a:miter/>
              </a:ln>
            </p:spPr>
          </p:sp>
        </p:grpSp>
        <p:sp>
          <p:nvSpPr>
            <p:cNvPr name="TextBox 11" id="11"/>
            <p:cNvSpPr txBox="true"/>
            <p:nvPr/>
          </p:nvSpPr>
          <p:spPr>
            <a:xfrm rot="0">
              <a:off x="355600" y="-76200"/>
              <a:ext cx="1524000" cy="89154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5670"/>
                </a:lnSpc>
              </a:pPr>
              <a:r>
                <a:rPr lang="en-US" sz="4050">
                  <a:solidFill>
                    <a:srgbClr val="FFFFFF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01</a:t>
              </a:r>
            </a:p>
          </p:txBody>
        </p:sp>
        <p:sp>
          <p:nvSpPr>
            <p:cNvPr name="TextBox 12" id="12"/>
            <p:cNvSpPr txBox="true"/>
            <p:nvPr/>
          </p:nvSpPr>
          <p:spPr>
            <a:xfrm rot="0">
              <a:off x="0" y="1787525"/>
              <a:ext cx="2235200" cy="6394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897"/>
                </a:lnSpc>
              </a:pPr>
              <a:r>
                <a:rPr lang="en-US" sz="1650" b="true">
                  <a:solidFill>
                    <a:srgbClr val="DBE8F5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Data</a:t>
              </a:r>
            </a:p>
            <a:p>
              <a:pPr algn="ctr">
                <a:lnSpc>
                  <a:spcPts val="1897"/>
                </a:lnSpc>
              </a:pPr>
              <a:r>
                <a:rPr lang="en-US" sz="1650" b="true">
                  <a:solidFill>
                    <a:srgbClr val="DBE8F5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Collection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2857500" y="4000500"/>
            <a:ext cx="1676400" cy="1820227"/>
            <a:chOff x="0" y="0"/>
            <a:chExt cx="2235200" cy="2426970"/>
          </a:xfrm>
        </p:grpSpPr>
        <p:grpSp>
          <p:nvGrpSpPr>
            <p:cNvPr name="Group 14" id="14"/>
            <p:cNvGrpSpPr/>
            <p:nvPr/>
          </p:nvGrpSpPr>
          <p:grpSpPr>
            <a:xfrm rot="0">
              <a:off x="927100" y="762000"/>
              <a:ext cx="762000" cy="762000"/>
              <a:chOff x="0" y="0"/>
              <a:chExt cx="762000" cy="762000"/>
            </a:xfrm>
          </p:grpSpPr>
          <p:sp>
            <p:nvSpPr>
              <p:cNvPr name="Freeform 15" id="15"/>
              <p:cNvSpPr/>
              <p:nvPr/>
            </p:nvSpPr>
            <p:spPr>
              <a:xfrm flipH="false" flipV="false" rot="0">
                <a:off x="0" y="0"/>
                <a:ext cx="762000" cy="762000"/>
              </a:xfrm>
              <a:custGeom>
                <a:avLst/>
                <a:gdLst/>
                <a:ahLst/>
                <a:cxnLst/>
                <a:rect r="r" b="b" t="t" l="l"/>
                <a:pathLst>
                  <a:path h="762000" w="762000">
                    <a:moveTo>
                      <a:pt x="381000" y="0"/>
                    </a:moveTo>
                    <a:cubicBezTo>
                      <a:pt x="591420" y="0"/>
                      <a:pt x="762000" y="170580"/>
                      <a:pt x="762000" y="381000"/>
                    </a:cubicBezTo>
                    <a:cubicBezTo>
                      <a:pt x="762000" y="591420"/>
                      <a:pt x="591420" y="762000"/>
                      <a:pt x="381000" y="762000"/>
                    </a:cubicBezTo>
                    <a:cubicBezTo>
                      <a:pt x="170580" y="762000"/>
                      <a:pt x="0" y="591420"/>
                      <a:pt x="0" y="381000"/>
                    </a:cubicBezTo>
                    <a:cubicBezTo>
                      <a:pt x="0" y="170580"/>
                      <a:pt x="170580" y="0"/>
                      <a:pt x="381000" y="0"/>
                    </a:cubicBezTo>
                    <a:close/>
                  </a:path>
                </a:pathLst>
              </a:custGeom>
              <a:solidFill>
                <a:srgbClr val="2475FF"/>
              </a:solidFill>
              <a:ln cap="sq">
                <a:noFill/>
                <a:prstDash val="solid"/>
                <a:miter/>
              </a:ln>
            </p:spPr>
          </p:sp>
        </p:grpSp>
        <p:sp>
          <p:nvSpPr>
            <p:cNvPr name="TextBox 16" id="16"/>
            <p:cNvSpPr txBox="true"/>
            <p:nvPr/>
          </p:nvSpPr>
          <p:spPr>
            <a:xfrm rot="0">
              <a:off x="355600" y="-76200"/>
              <a:ext cx="1524000" cy="89154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5670"/>
                </a:lnSpc>
              </a:pPr>
              <a:r>
                <a:rPr lang="en-US" sz="4050">
                  <a:solidFill>
                    <a:srgbClr val="FFFFFF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02</a:t>
              </a:r>
            </a:p>
          </p:txBody>
        </p:sp>
        <p:sp>
          <p:nvSpPr>
            <p:cNvPr name="TextBox 17" id="17"/>
            <p:cNvSpPr txBox="true"/>
            <p:nvPr/>
          </p:nvSpPr>
          <p:spPr>
            <a:xfrm rot="0">
              <a:off x="0" y="1787525"/>
              <a:ext cx="2235200" cy="6394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897"/>
                </a:lnSpc>
              </a:pPr>
              <a:r>
                <a:rPr lang="en-US" sz="1650" b="true">
                  <a:solidFill>
                    <a:srgbClr val="DBE8F5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Preprocessing</a:t>
              </a:r>
            </a:p>
            <a:p>
              <a:pPr algn="ctr">
                <a:lnSpc>
                  <a:spcPts val="1897"/>
                </a:lnSpc>
              </a:pPr>
              <a:r>
                <a:rPr lang="en-US" sz="1650" b="true">
                  <a:solidFill>
                    <a:srgbClr val="DBE8F5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&amp; Cleaning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4933950" y="4000500"/>
            <a:ext cx="1676400" cy="1820227"/>
            <a:chOff x="0" y="0"/>
            <a:chExt cx="2235200" cy="2426970"/>
          </a:xfrm>
        </p:grpSpPr>
        <p:grpSp>
          <p:nvGrpSpPr>
            <p:cNvPr name="Group 19" id="19"/>
            <p:cNvGrpSpPr/>
            <p:nvPr/>
          </p:nvGrpSpPr>
          <p:grpSpPr>
            <a:xfrm rot="0">
              <a:off x="927100" y="762000"/>
              <a:ext cx="762000" cy="762000"/>
              <a:chOff x="0" y="0"/>
              <a:chExt cx="762000" cy="762000"/>
            </a:xfrm>
          </p:grpSpPr>
          <p:sp>
            <p:nvSpPr>
              <p:cNvPr name="Freeform 20" id="20"/>
              <p:cNvSpPr/>
              <p:nvPr/>
            </p:nvSpPr>
            <p:spPr>
              <a:xfrm flipH="false" flipV="false" rot="0">
                <a:off x="0" y="0"/>
                <a:ext cx="762000" cy="762000"/>
              </a:xfrm>
              <a:custGeom>
                <a:avLst/>
                <a:gdLst/>
                <a:ahLst/>
                <a:cxnLst/>
                <a:rect r="r" b="b" t="t" l="l"/>
                <a:pathLst>
                  <a:path h="762000" w="762000">
                    <a:moveTo>
                      <a:pt x="381000" y="0"/>
                    </a:moveTo>
                    <a:cubicBezTo>
                      <a:pt x="591420" y="0"/>
                      <a:pt x="762000" y="170580"/>
                      <a:pt x="762000" y="381000"/>
                    </a:cubicBezTo>
                    <a:cubicBezTo>
                      <a:pt x="762000" y="591420"/>
                      <a:pt x="591420" y="762000"/>
                      <a:pt x="381000" y="762000"/>
                    </a:cubicBezTo>
                    <a:cubicBezTo>
                      <a:pt x="170580" y="762000"/>
                      <a:pt x="0" y="591420"/>
                      <a:pt x="0" y="381000"/>
                    </a:cubicBezTo>
                    <a:cubicBezTo>
                      <a:pt x="0" y="170580"/>
                      <a:pt x="170580" y="0"/>
                      <a:pt x="381000" y="0"/>
                    </a:cubicBezTo>
                    <a:close/>
                  </a:path>
                </a:pathLst>
              </a:custGeom>
              <a:solidFill>
                <a:srgbClr val="2475FF"/>
              </a:solidFill>
              <a:ln cap="sq">
                <a:noFill/>
                <a:prstDash val="solid"/>
                <a:miter/>
              </a:ln>
            </p:spPr>
          </p:sp>
        </p:grpSp>
        <p:sp>
          <p:nvSpPr>
            <p:cNvPr name="TextBox 21" id="21"/>
            <p:cNvSpPr txBox="true"/>
            <p:nvPr/>
          </p:nvSpPr>
          <p:spPr>
            <a:xfrm rot="0">
              <a:off x="355600" y="-76200"/>
              <a:ext cx="1524000" cy="89154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5670"/>
                </a:lnSpc>
              </a:pPr>
              <a:r>
                <a:rPr lang="en-US" sz="4050">
                  <a:solidFill>
                    <a:srgbClr val="FFFFFF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03</a:t>
              </a:r>
            </a:p>
          </p:txBody>
        </p:sp>
        <p:sp>
          <p:nvSpPr>
            <p:cNvPr name="TextBox 22" id="22"/>
            <p:cNvSpPr txBox="true"/>
            <p:nvPr/>
          </p:nvSpPr>
          <p:spPr>
            <a:xfrm rot="0">
              <a:off x="0" y="1787525"/>
              <a:ext cx="2235200" cy="6394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897"/>
                </a:lnSpc>
              </a:pPr>
              <a:r>
                <a:rPr lang="en-US" sz="1650" b="true">
                  <a:solidFill>
                    <a:srgbClr val="DBE8F5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Threat</a:t>
              </a:r>
            </a:p>
            <a:p>
              <a:pPr algn="ctr">
                <a:lnSpc>
                  <a:spcPts val="1897"/>
                </a:lnSpc>
              </a:pPr>
              <a:r>
                <a:rPr lang="en-US" sz="1650" b="true">
                  <a:solidFill>
                    <a:srgbClr val="DBE8F5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Scoring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7010400" y="4000500"/>
            <a:ext cx="1676400" cy="1820227"/>
            <a:chOff x="0" y="0"/>
            <a:chExt cx="2235200" cy="2426970"/>
          </a:xfrm>
        </p:grpSpPr>
        <p:grpSp>
          <p:nvGrpSpPr>
            <p:cNvPr name="Group 24" id="24"/>
            <p:cNvGrpSpPr/>
            <p:nvPr/>
          </p:nvGrpSpPr>
          <p:grpSpPr>
            <a:xfrm rot="0">
              <a:off x="927100" y="762000"/>
              <a:ext cx="762000" cy="762000"/>
              <a:chOff x="0" y="0"/>
              <a:chExt cx="762000" cy="762000"/>
            </a:xfrm>
          </p:grpSpPr>
          <p:sp>
            <p:nvSpPr>
              <p:cNvPr name="Freeform 25" id="25"/>
              <p:cNvSpPr/>
              <p:nvPr/>
            </p:nvSpPr>
            <p:spPr>
              <a:xfrm flipH="false" flipV="false" rot="0">
                <a:off x="0" y="0"/>
                <a:ext cx="762000" cy="762000"/>
              </a:xfrm>
              <a:custGeom>
                <a:avLst/>
                <a:gdLst/>
                <a:ahLst/>
                <a:cxnLst/>
                <a:rect r="r" b="b" t="t" l="l"/>
                <a:pathLst>
                  <a:path h="762000" w="762000">
                    <a:moveTo>
                      <a:pt x="381000" y="0"/>
                    </a:moveTo>
                    <a:cubicBezTo>
                      <a:pt x="591420" y="0"/>
                      <a:pt x="762000" y="170580"/>
                      <a:pt x="762000" y="381000"/>
                    </a:cubicBezTo>
                    <a:cubicBezTo>
                      <a:pt x="762000" y="591420"/>
                      <a:pt x="591420" y="762000"/>
                      <a:pt x="381000" y="762000"/>
                    </a:cubicBezTo>
                    <a:cubicBezTo>
                      <a:pt x="170580" y="762000"/>
                      <a:pt x="0" y="591420"/>
                      <a:pt x="0" y="381000"/>
                    </a:cubicBezTo>
                    <a:cubicBezTo>
                      <a:pt x="0" y="170580"/>
                      <a:pt x="170580" y="0"/>
                      <a:pt x="381000" y="0"/>
                    </a:cubicBezTo>
                    <a:close/>
                  </a:path>
                </a:pathLst>
              </a:custGeom>
              <a:solidFill>
                <a:srgbClr val="2475FF"/>
              </a:solidFill>
              <a:ln cap="sq">
                <a:noFill/>
                <a:prstDash val="solid"/>
                <a:miter/>
              </a:ln>
            </p:spPr>
          </p:sp>
        </p:grpSp>
        <p:sp>
          <p:nvSpPr>
            <p:cNvPr name="TextBox 26" id="26"/>
            <p:cNvSpPr txBox="true"/>
            <p:nvPr/>
          </p:nvSpPr>
          <p:spPr>
            <a:xfrm rot="0">
              <a:off x="355600" y="-76200"/>
              <a:ext cx="1524000" cy="89154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5670"/>
                </a:lnSpc>
              </a:pPr>
              <a:r>
                <a:rPr lang="en-US" sz="4050">
                  <a:solidFill>
                    <a:srgbClr val="FFFFFF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04</a:t>
              </a:r>
            </a:p>
          </p:txBody>
        </p:sp>
        <p:sp>
          <p:nvSpPr>
            <p:cNvPr name="TextBox 27" id="27"/>
            <p:cNvSpPr txBox="true"/>
            <p:nvPr/>
          </p:nvSpPr>
          <p:spPr>
            <a:xfrm rot="0">
              <a:off x="0" y="1787525"/>
              <a:ext cx="2235200" cy="6394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897"/>
                </a:lnSpc>
              </a:pPr>
              <a:r>
                <a:rPr lang="en-US" sz="1650" b="true">
                  <a:solidFill>
                    <a:srgbClr val="DBE8F5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Incident</a:t>
              </a:r>
            </a:p>
            <a:p>
              <a:pPr algn="ctr">
                <a:lnSpc>
                  <a:spcPts val="1897"/>
                </a:lnSpc>
              </a:pPr>
              <a:r>
                <a:rPr lang="en-US" sz="1650" b="true">
                  <a:solidFill>
                    <a:srgbClr val="DBE8F5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Correlation</a:t>
              </a: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9086850" y="4000500"/>
            <a:ext cx="1676400" cy="1820227"/>
            <a:chOff x="0" y="0"/>
            <a:chExt cx="2235200" cy="2426970"/>
          </a:xfrm>
        </p:grpSpPr>
        <p:grpSp>
          <p:nvGrpSpPr>
            <p:cNvPr name="Group 29" id="29"/>
            <p:cNvGrpSpPr/>
            <p:nvPr/>
          </p:nvGrpSpPr>
          <p:grpSpPr>
            <a:xfrm rot="0">
              <a:off x="927100" y="762000"/>
              <a:ext cx="762000" cy="762000"/>
              <a:chOff x="0" y="0"/>
              <a:chExt cx="762000" cy="762000"/>
            </a:xfrm>
          </p:grpSpPr>
          <p:sp>
            <p:nvSpPr>
              <p:cNvPr name="Freeform 30" id="30"/>
              <p:cNvSpPr/>
              <p:nvPr/>
            </p:nvSpPr>
            <p:spPr>
              <a:xfrm flipH="false" flipV="false" rot="0">
                <a:off x="0" y="0"/>
                <a:ext cx="762000" cy="762000"/>
              </a:xfrm>
              <a:custGeom>
                <a:avLst/>
                <a:gdLst/>
                <a:ahLst/>
                <a:cxnLst/>
                <a:rect r="r" b="b" t="t" l="l"/>
                <a:pathLst>
                  <a:path h="762000" w="762000">
                    <a:moveTo>
                      <a:pt x="381000" y="0"/>
                    </a:moveTo>
                    <a:cubicBezTo>
                      <a:pt x="591420" y="0"/>
                      <a:pt x="762000" y="170580"/>
                      <a:pt x="762000" y="381000"/>
                    </a:cubicBezTo>
                    <a:cubicBezTo>
                      <a:pt x="762000" y="591420"/>
                      <a:pt x="591420" y="762000"/>
                      <a:pt x="381000" y="762000"/>
                    </a:cubicBezTo>
                    <a:cubicBezTo>
                      <a:pt x="170580" y="762000"/>
                      <a:pt x="0" y="591420"/>
                      <a:pt x="0" y="381000"/>
                    </a:cubicBezTo>
                    <a:cubicBezTo>
                      <a:pt x="0" y="170580"/>
                      <a:pt x="170580" y="0"/>
                      <a:pt x="381000" y="0"/>
                    </a:cubicBezTo>
                    <a:close/>
                  </a:path>
                </a:pathLst>
              </a:custGeom>
              <a:solidFill>
                <a:srgbClr val="2475FF"/>
              </a:solidFill>
              <a:ln cap="sq">
                <a:noFill/>
                <a:prstDash val="solid"/>
                <a:miter/>
              </a:ln>
            </p:spPr>
          </p:sp>
        </p:grpSp>
        <p:sp>
          <p:nvSpPr>
            <p:cNvPr name="TextBox 31" id="31"/>
            <p:cNvSpPr txBox="true"/>
            <p:nvPr/>
          </p:nvSpPr>
          <p:spPr>
            <a:xfrm rot="0">
              <a:off x="355600" y="-76200"/>
              <a:ext cx="1524000" cy="89154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5670"/>
                </a:lnSpc>
              </a:pPr>
              <a:r>
                <a:rPr lang="en-US" sz="4050">
                  <a:solidFill>
                    <a:srgbClr val="FFFFFF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05</a:t>
              </a:r>
            </a:p>
          </p:txBody>
        </p:sp>
        <p:sp>
          <p:nvSpPr>
            <p:cNvPr name="TextBox 32" id="32"/>
            <p:cNvSpPr txBox="true"/>
            <p:nvPr/>
          </p:nvSpPr>
          <p:spPr>
            <a:xfrm rot="0">
              <a:off x="0" y="1787525"/>
              <a:ext cx="2235200" cy="6394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897"/>
                </a:lnSpc>
              </a:pPr>
              <a:r>
                <a:rPr lang="en-US" sz="1650" b="true">
                  <a:solidFill>
                    <a:srgbClr val="DBE8F5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Triage &amp;</a:t>
              </a:r>
            </a:p>
            <a:p>
              <a:pPr algn="ctr">
                <a:lnSpc>
                  <a:spcPts val="1897"/>
                </a:lnSpc>
              </a:pPr>
              <a:r>
                <a:rPr lang="en-US" sz="1650" b="true">
                  <a:solidFill>
                    <a:srgbClr val="DBE8F5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Prioritization</a:t>
              </a: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11163300" y="4000500"/>
            <a:ext cx="1676400" cy="1820227"/>
            <a:chOff x="0" y="0"/>
            <a:chExt cx="2235200" cy="2426970"/>
          </a:xfrm>
        </p:grpSpPr>
        <p:grpSp>
          <p:nvGrpSpPr>
            <p:cNvPr name="Group 34" id="34"/>
            <p:cNvGrpSpPr/>
            <p:nvPr/>
          </p:nvGrpSpPr>
          <p:grpSpPr>
            <a:xfrm rot="0">
              <a:off x="927100" y="762000"/>
              <a:ext cx="762000" cy="762000"/>
              <a:chOff x="0" y="0"/>
              <a:chExt cx="762000" cy="762000"/>
            </a:xfrm>
          </p:grpSpPr>
          <p:sp>
            <p:nvSpPr>
              <p:cNvPr name="Freeform 35" id="35"/>
              <p:cNvSpPr/>
              <p:nvPr/>
            </p:nvSpPr>
            <p:spPr>
              <a:xfrm flipH="false" flipV="false" rot="0">
                <a:off x="0" y="0"/>
                <a:ext cx="762000" cy="762000"/>
              </a:xfrm>
              <a:custGeom>
                <a:avLst/>
                <a:gdLst/>
                <a:ahLst/>
                <a:cxnLst/>
                <a:rect r="r" b="b" t="t" l="l"/>
                <a:pathLst>
                  <a:path h="762000" w="762000">
                    <a:moveTo>
                      <a:pt x="381000" y="0"/>
                    </a:moveTo>
                    <a:cubicBezTo>
                      <a:pt x="591420" y="0"/>
                      <a:pt x="762000" y="170580"/>
                      <a:pt x="762000" y="381000"/>
                    </a:cubicBezTo>
                    <a:cubicBezTo>
                      <a:pt x="762000" y="591420"/>
                      <a:pt x="591420" y="762000"/>
                      <a:pt x="381000" y="762000"/>
                    </a:cubicBezTo>
                    <a:cubicBezTo>
                      <a:pt x="170580" y="762000"/>
                      <a:pt x="0" y="591420"/>
                      <a:pt x="0" y="381000"/>
                    </a:cubicBezTo>
                    <a:cubicBezTo>
                      <a:pt x="0" y="170580"/>
                      <a:pt x="170580" y="0"/>
                      <a:pt x="381000" y="0"/>
                    </a:cubicBezTo>
                    <a:close/>
                  </a:path>
                </a:pathLst>
              </a:custGeom>
              <a:solidFill>
                <a:srgbClr val="2475FF"/>
              </a:solidFill>
              <a:ln cap="sq">
                <a:noFill/>
                <a:prstDash val="solid"/>
                <a:miter/>
              </a:ln>
            </p:spPr>
          </p:sp>
        </p:grpSp>
        <p:sp>
          <p:nvSpPr>
            <p:cNvPr name="TextBox 36" id="36"/>
            <p:cNvSpPr txBox="true"/>
            <p:nvPr/>
          </p:nvSpPr>
          <p:spPr>
            <a:xfrm rot="0">
              <a:off x="355600" y="-76200"/>
              <a:ext cx="1524000" cy="89154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5670"/>
                </a:lnSpc>
              </a:pPr>
              <a:r>
                <a:rPr lang="en-US" sz="4050">
                  <a:solidFill>
                    <a:srgbClr val="FFFFFF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06</a:t>
              </a:r>
            </a:p>
          </p:txBody>
        </p:sp>
        <p:sp>
          <p:nvSpPr>
            <p:cNvPr name="TextBox 37" id="37"/>
            <p:cNvSpPr txBox="true"/>
            <p:nvPr/>
          </p:nvSpPr>
          <p:spPr>
            <a:xfrm rot="0">
              <a:off x="0" y="1787525"/>
              <a:ext cx="2235200" cy="6394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897"/>
                </a:lnSpc>
              </a:pPr>
              <a:r>
                <a:rPr lang="en-US" sz="1650" b="true">
                  <a:solidFill>
                    <a:srgbClr val="DBE8F5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Visuali-</a:t>
              </a:r>
            </a:p>
            <a:p>
              <a:pPr algn="ctr">
                <a:lnSpc>
                  <a:spcPts val="1897"/>
                </a:lnSpc>
              </a:pPr>
              <a:r>
                <a:rPr lang="en-US" sz="1650" b="true">
                  <a:solidFill>
                    <a:srgbClr val="DBE8F5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zation</a:t>
              </a: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13239750" y="4000500"/>
            <a:ext cx="1676400" cy="1820227"/>
            <a:chOff x="0" y="0"/>
            <a:chExt cx="2235200" cy="2426970"/>
          </a:xfrm>
        </p:grpSpPr>
        <p:grpSp>
          <p:nvGrpSpPr>
            <p:cNvPr name="Group 39" id="39"/>
            <p:cNvGrpSpPr/>
            <p:nvPr/>
          </p:nvGrpSpPr>
          <p:grpSpPr>
            <a:xfrm rot="0">
              <a:off x="927100" y="762000"/>
              <a:ext cx="762000" cy="762000"/>
              <a:chOff x="0" y="0"/>
              <a:chExt cx="762000" cy="762000"/>
            </a:xfrm>
          </p:grpSpPr>
          <p:sp>
            <p:nvSpPr>
              <p:cNvPr name="Freeform 40" id="40"/>
              <p:cNvSpPr/>
              <p:nvPr/>
            </p:nvSpPr>
            <p:spPr>
              <a:xfrm flipH="false" flipV="false" rot="0">
                <a:off x="0" y="0"/>
                <a:ext cx="762000" cy="762000"/>
              </a:xfrm>
              <a:custGeom>
                <a:avLst/>
                <a:gdLst/>
                <a:ahLst/>
                <a:cxnLst/>
                <a:rect r="r" b="b" t="t" l="l"/>
                <a:pathLst>
                  <a:path h="762000" w="762000">
                    <a:moveTo>
                      <a:pt x="381000" y="0"/>
                    </a:moveTo>
                    <a:cubicBezTo>
                      <a:pt x="591420" y="0"/>
                      <a:pt x="762000" y="170580"/>
                      <a:pt x="762000" y="381000"/>
                    </a:cubicBezTo>
                    <a:cubicBezTo>
                      <a:pt x="762000" y="591420"/>
                      <a:pt x="591420" y="762000"/>
                      <a:pt x="381000" y="762000"/>
                    </a:cubicBezTo>
                    <a:cubicBezTo>
                      <a:pt x="170580" y="762000"/>
                      <a:pt x="0" y="591420"/>
                      <a:pt x="0" y="381000"/>
                    </a:cubicBezTo>
                    <a:cubicBezTo>
                      <a:pt x="0" y="170580"/>
                      <a:pt x="170580" y="0"/>
                      <a:pt x="381000" y="0"/>
                    </a:cubicBezTo>
                    <a:close/>
                  </a:path>
                </a:pathLst>
              </a:custGeom>
              <a:solidFill>
                <a:srgbClr val="2475FF"/>
              </a:solidFill>
              <a:ln cap="sq">
                <a:noFill/>
                <a:prstDash val="solid"/>
                <a:miter/>
              </a:ln>
            </p:spPr>
          </p:sp>
        </p:grpSp>
        <p:sp>
          <p:nvSpPr>
            <p:cNvPr name="TextBox 41" id="41"/>
            <p:cNvSpPr txBox="true"/>
            <p:nvPr/>
          </p:nvSpPr>
          <p:spPr>
            <a:xfrm rot="0">
              <a:off x="355600" y="-76200"/>
              <a:ext cx="1524000" cy="89154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5670"/>
                </a:lnSpc>
              </a:pPr>
              <a:r>
                <a:rPr lang="en-US" sz="4050">
                  <a:solidFill>
                    <a:srgbClr val="FFFFFF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07</a:t>
              </a:r>
            </a:p>
          </p:txBody>
        </p:sp>
        <p:sp>
          <p:nvSpPr>
            <p:cNvPr name="TextBox 42" id="42"/>
            <p:cNvSpPr txBox="true"/>
            <p:nvPr/>
          </p:nvSpPr>
          <p:spPr>
            <a:xfrm rot="0">
              <a:off x="0" y="1787525"/>
              <a:ext cx="2235200" cy="6394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897"/>
                </a:lnSpc>
              </a:pPr>
              <a:r>
                <a:rPr lang="en-US" sz="1650" b="true">
                  <a:solidFill>
                    <a:srgbClr val="DBE8F5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Response</a:t>
              </a:r>
            </a:p>
            <a:p>
              <a:pPr algn="ctr">
                <a:lnSpc>
                  <a:spcPts val="1897"/>
                </a:lnSpc>
              </a:pPr>
              <a:r>
                <a:rPr lang="en-US" sz="1650" b="true">
                  <a:solidFill>
                    <a:srgbClr val="DBE8F5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Tracking</a:t>
              </a:r>
            </a:p>
          </p:txBody>
        </p:sp>
      </p:grpSp>
      <p:grpSp>
        <p:nvGrpSpPr>
          <p:cNvPr name="Group 43" id="43"/>
          <p:cNvGrpSpPr/>
          <p:nvPr/>
        </p:nvGrpSpPr>
        <p:grpSpPr>
          <a:xfrm rot="0">
            <a:off x="15316200" y="4000500"/>
            <a:ext cx="1676400" cy="1820227"/>
            <a:chOff x="0" y="0"/>
            <a:chExt cx="2235200" cy="2426970"/>
          </a:xfrm>
        </p:grpSpPr>
        <p:grpSp>
          <p:nvGrpSpPr>
            <p:cNvPr name="Group 44" id="44"/>
            <p:cNvGrpSpPr/>
            <p:nvPr/>
          </p:nvGrpSpPr>
          <p:grpSpPr>
            <a:xfrm rot="0">
              <a:off x="927100" y="762000"/>
              <a:ext cx="762000" cy="762000"/>
              <a:chOff x="0" y="0"/>
              <a:chExt cx="762000" cy="762000"/>
            </a:xfrm>
          </p:grpSpPr>
          <p:sp>
            <p:nvSpPr>
              <p:cNvPr name="Freeform 45" id="45"/>
              <p:cNvSpPr/>
              <p:nvPr/>
            </p:nvSpPr>
            <p:spPr>
              <a:xfrm flipH="false" flipV="false" rot="0">
                <a:off x="0" y="0"/>
                <a:ext cx="762000" cy="762000"/>
              </a:xfrm>
              <a:custGeom>
                <a:avLst/>
                <a:gdLst/>
                <a:ahLst/>
                <a:cxnLst/>
                <a:rect r="r" b="b" t="t" l="l"/>
                <a:pathLst>
                  <a:path h="762000" w="762000">
                    <a:moveTo>
                      <a:pt x="381000" y="0"/>
                    </a:moveTo>
                    <a:cubicBezTo>
                      <a:pt x="591420" y="0"/>
                      <a:pt x="762000" y="170580"/>
                      <a:pt x="762000" y="381000"/>
                    </a:cubicBezTo>
                    <a:cubicBezTo>
                      <a:pt x="762000" y="591420"/>
                      <a:pt x="591420" y="762000"/>
                      <a:pt x="381000" y="762000"/>
                    </a:cubicBezTo>
                    <a:cubicBezTo>
                      <a:pt x="170580" y="762000"/>
                      <a:pt x="0" y="591420"/>
                      <a:pt x="0" y="381000"/>
                    </a:cubicBezTo>
                    <a:cubicBezTo>
                      <a:pt x="0" y="170580"/>
                      <a:pt x="170580" y="0"/>
                      <a:pt x="381000" y="0"/>
                    </a:cubicBezTo>
                    <a:close/>
                  </a:path>
                </a:pathLst>
              </a:custGeom>
              <a:solidFill>
                <a:srgbClr val="35D2FF"/>
              </a:solidFill>
              <a:ln cap="sq">
                <a:noFill/>
                <a:prstDash val="solid"/>
                <a:miter/>
              </a:ln>
            </p:spPr>
          </p:sp>
        </p:grpSp>
        <p:sp>
          <p:nvSpPr>
            <p:cNvPr name="TextBox 46" id="46"/>
            <p:cNvSpPr txBox="true"/>
            <p:nvPr/>
          </p:nvSpPr>
          <p:spPr>
            <a:xfrm rot="0">
              <a:off x="355600" y="-76200"/>
              <a:ext cx="1524000" cy="89154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5670"/>
                </a:lnSpc>
              </a:pPr>
              <a:r>
                <a:rPr lang="en-US" sz="4050">
                  <a:solidFill>
                    <a:srgbClr val="35D2FF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08</a:t>
              </a:r>
            </a:p>
          </p:txBody>
        </p:sp>
        <p:sp>
          <p:nvSpPr>
            <p:cNvPr name="TextBox 47" id="47"/>
            <p:cNvSpPr txBox="true"/>
            <p:nvPr/>
          </p:nvSpPr>
          <p:spPr>
            <a:xfrm rot="0">
              <a:off x="0" y="1787525"/>
              <a:ext cx="2235200" cy="6394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897"/>
                </a:lnSpc>
              </a:pPr>
              <a:r>
                <a:rPr lang="en-US" sz="1650" b="true">
                  <a:solidFill>
                    <a:srgbClr val="DBE8F5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Feedback</a:t>
              </a:r>
            </a:p>
            <a:p>
              <a:pPr algn="ctr">
                <a:lnSpc>
                  <a:spcPts val="1897"/>
                </a:lnSpc>
              </a:pPr>
              <a:r>
                <a:rPr lang="en-US" sz="1650" b="true">
                  <a:solidFill>
                    <a:srgbClr val="DBE8F5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Loop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990600" y="9477375"/>
            <a:ext cx="16306800" cy="0"/>
          </a:xfrm>
          <a:prstGeom prst="line">
            <a:avLst/>
          </a:prstGeom>
          <a:ln cap="flat" w="9525">
            <a:solidFill>
              <a:srgbClr val="CBD8E8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3" id="3"/>
          <p:cNvGrpSpPr/>
          <p:nvPr/>
        </p:nvGrpSpPr>
        <p:grpSpPr>
          <a:xfrm rot="0">
            <a:off x="990600" y="2714625"/>
            <a:ext cx="3714750" cy="2714625"/>
            <a:chOff x="0" y="0"/>
            <a:chExt cx="4953000" cy="3619500"/>
          </a:xfrm>
        </p:grpSpPr>
        <p:grpSp>
          <p:nvGrpSpPr>
            <p:cNvPr name="Group 4" id="4"/>
            <p:cNvGrpSpPr/>
            <p:nvPr/>
          </p:nvGrpSpPr>
          <p:grpSpPr>
            <a:xfrm rot="0">
              <a:off x="0" y="0"/>
              <a:ext cx="4953000" cy="3619500"/>
              <a:chOff x="0" y="0"/>
              <a:chExt cx="4953000" cy="3619500"/>
            </a:xfrm>
          </p:grpSpPr>
          <p:sp>
            <p:nvSpPr>
              <p:cNvPr name="Freeform 5" id="5"/>
              <p:cNvSpPr/>
              <p:nvPr/>
            </p:nvSpPr>
            <p:spPr>
              <a:xfrm flipH="false" flipV="false" rot="0">
                <a:off x="0" y="0"/>
                <a:ext cx="4953000" cy="3619500"/>
              </a:xfrm>
              <a:custGeom>
                <a:avLst/>
                <a:gdLst/>
                <a:ahLst/>
                <a:cxnLst/>
                <a:rect r="r" b="b" t="t" l="l"/>
                <a:pathLst>
                  <a:path h="3619500" w="4953000">
                    <a:moveTo>
                      <a:pt x="0" y="0"/>
                    </a:moveTo>
                    <a:lnTo>
                      <a:pt x="4953000" y="0"/>
                    </a:lnTo>
                    <a:lnTo>
                      <a:pt x="4953000" y="3619500"/>
                    </a:lnTo>
                    <a:lnTo>
                      <a:pt x="0" y="3619500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6" id="6"/>
              <p:cNvSpPr txBox="true"/>
              <p:nvPr/>
            </p:nvSpPr>
            <p:spPr>
              <a:xfrm>
                <a:off x="0" y="-38100"/>
                <a:ext cx="4953000" cy="36576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grpSp>
          <p:nvGrpSpPr>
            <p:cNvPr name="Group 7" id="7"/>
            <p:cNvGrpSpPr/>
            <p:nvPr/>
          </p:nvGrpSpPr>
          <p:grpSpPr>
            <a:xfrm rot="0">
              <a:off x="1524000" y="1841500"/>
              <a:ext cx="431800" cy="571500"/>
              <a:chOff x="0" y="0"/>
              <a:chExt cx="431800" cy="571500"/>
            </a:xfrm>
          </p:grpSpPr>
          <p:sp>
            <p:nvSpPr>
              <p:cNvPr name="Freeform 8" id="8"/>
              <p:cNvSpPr/>
              <p:nvPr/>
            </p:nvSpPr>
            <p:spPr>
              <a:xfrm flipH="false" flipV="false" rot="0">
                <a:off x="0" y="0"/>
                <a:ext cx="431800" cy="571500"/>
              </a:xfrm>
              <a:custGeom>
                <a:avLst/>
                <a:gdLst/>
                <a:ahLst/>
                <a:cxnLst/>
                <a:rect r="r" b="b" t="t" l="l"/>
                <a:pathLst>
                  <a:path h="571500" w="431800">
                    <a:moveTo>
                      <a:pt x="0" y="0"/>
                    </a:moveTo>
                    <a:lnTo>
                      <a:pt x="431800" y="0"/>
                    </a:lnTo>
                    <a:lnTo>
                      <a:pt x="431800" y="571500"/>
                    </a:lnTo>
                    <a:lnTo>
                      <a:pt x="0" y="571500"/>
                    </a:lnTo>
                    <a:close/>
                  </a:path>
                </a:pathLst>
              </a:custGeom>
              <a:solidFill>
                <a:srgbClr val="2475FF">
                  <a:alpha val="84706"/>
                </a:srgbClr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9" id="9"/>
              <p:cNvSpPr txBox="true"/>
              <p:nvPr/>
            </p:nvSpPr>
            <p:spPr>
              <a:xfrm>
                <a:off x="0" y="-38100"/>
                <a:ext cx="431800" cy="6096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grpSp>
          <p:nvGrpSpPr>
            <p:cNvPr name="Group 10" id="10"/>
            <p:cNvGrpSpPr/>
            <p:nvPr/>
          </p:nvGrpSpPr>
          <p:grpSpPr>
            <a:xfrm rot="0">
              <a:off x="2311400" y="1562100"/>
              <a:ext cx="431800" cy="850900"/>
              <a:chOff x="0" y="0"/>
              <a:chExt cx="431800" cy="850900"/>
            </a:xfrm>
          </p:grpSpPr>
          <p:sp>
            <p:nvSpPr>
              <p:cNvPr name="Freeform 11" id="11"/>
              <p:cNvSpPr/>
              <p:nvPr/>
            </p:nvSpPr>
            <p:spPr>
              <a:xfrm flipH="false" flipV="false" rot="0">
                <a:off x="0" y="0"/>
                <a:ext cx="431800" cy="850900"/>
              </a:xfrm>
              <a:custGeom>
                <a:avLst/>
                <a:gdLst/>
                <a:ahLst/>
                <a:cxnLst/>
                <a:rect r="r" b="b" t="t" l="l"/>
                <a:pathLst>
                  <a:path h="850900" w="431800">
                    <a:moveTo>
                      <a:pt x="0" y="0"/>
                    </a:moveTo>
                    <a:lnTo>
                      <a:pt x="431800" y="0"/>
                    </a:lnTo>
                    <a:lnTo>
                      <a:pt x="431800" y="850900"/>
                    </a:lnTo>
                    <a:lnTo>
                      <a:pt x="0" y="850900"/>
                    </a:lnTo>
                    <a:close/>
                  </a:path>
                </a:pathLst>
              </a:custGeom>
              <a:solidFill>
                <a:srgbClr val="2475FF">
                  <a:alpha val="84706"/>
                </a:srgbClr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2" id="12"/>
              <p:cNvSpPr txBox="true"/>
              <p:nvPr/>
            </p:nvSpPr>
            <p:spPr>
              <a:xfrm>
                <a:off x="0" y="-38100"/>
                <a:ext cx="431800" cy="8890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grpSp>
          <p:nvGrpSpPr>
            <p:cNvPr name="Group 13" id="13"/>
            <p:cNvGrpSpPr/>
            <p:nvPr/>
          </p:nvGrpSpPr>
          <p:grpSpPr>
            <a:xfrm rot="0">
              <a:off x="3098800" y="1282700"/>
              <a:ext cx="431800" cy="1130300"/>
              <a:chOff x="0" y="0"/>
              <a:chExt cx="431800" cy="1130300"/>
            </a:xfrm>
          </p:grpSpPr>
          <p:sp>
            <p:nvSpPr>
              <p:cNvPr name="Freeform 14" id="14"/>
              <p:cNvSpPr/>
              <p:nvPr/>
            </p:nvSpPr>
            <p:spPr>
              <a:xfrm flipH="false" flipV="false" rot="0">
                <a:off x="0" y="0"/>
                <a:ext cx="431800" cy="1130300"/>
              </a:xfrm>
              <a:custGeom>
                <a:avLst/>
                <a:gdLst/>
                <a:ahLst/>
                <a:cxnLst/>
                <a:rect r="r" b="b" t="t" l="l"/>
                <a:pathLst>
                  <a:path h="1130300" w="431800">
                    <a:moveTo>
                      <a:pt x="0" y="0"/>
                    </a:moveTo>
                    <a:lnTo>
                      <a:pt x="431800" y="0"/>
                    </a:lnTo>
                    <a:lnTo>
                      <a:pt x="431800" y="1130300"/>
                    </a:lnTo>
                    <a:lnTo>
                      <a:pt x="0" y="1130300"/>
                    </a:lnTo>
                    <a:close/>
                  </a:path>
                </a:pathLst>
              </a:custGeom>
              <a:solidFill>
                <a:srgbClr val="35D2FF">
                  <a:alpha val="84706"/>
                </a:srgbClr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5" id="15"/>
              <p:cNvSpPr txBox="true"/>
              <p:nvPr/>
            </p:nvSpPr>
            <p:spPr>
              <a:xfrm>
                <a:off x="0" y="-38100"/>
                <a:ext cx="431800" cy="11684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sp>
          <p:nvSpPr>
            <p:cNvPr name="TextBox 16" id="16"/>
            <p:cNvSpPr txBox="true"/>
            <p:nvPr/>
          </p:nvSpPr>
          <p:spPr>
            <a:xfrm rot="0">
              <a:off x="355600" y="352425"/>
              <a:ext cx="698500" cy="3333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en-US" sz="1500">
                  <a:solidFill>
                    <a:srgbClr val="35D2FF"/>
                  </a:solidFill>
                  <a:latin typeface="IBM Plex Mono"/>
                  <a:ea typeface="IBM Plex Mono"/>
                  <a:cs typeface="IBM Plex Mono"/>
                  <a:sym typeface="IBM Plex Mono"/>
                </a:rPr>
                <a:t>01</a:t>
              </a:r>
            </a:p>
          </p:txBody>
        </p:sp>
        <p:sp>
          <p:nvSpPr>
            <p:cNvPr name="TextBox 17" id="17"/>
            <p:cNvSpPr txBox="true"/>
            <p:nvPr/>
          </p:nvSpPr>
          <p:spPr>
            <a:xfrm rot="0">
              <a:off x="355600" y="2632075"/>
              <a:ext cx="4191000" cy="32550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944"/>
                </a:lnSpc>
              </a:pPr>
              <a:r>
                <a:rPr lang="en-US" sz="1800">
                  <a:solidFill>
                    <a:srgbClr val="10213A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KPI Scorecards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5086350" y="2714625"/>
            <a:ext cx="3714750" cy="2714625"/>
            <a:chOff x="0" y="0"/>
            <a:chExt cx="4953000" cy="3619500"/>
          </a:xfrm>
        </p:grpSpPr>
        <p:grpSp>
          <p:nvGrpSpPr>
            <p:cNvPr name="Group 19" id="19"/>
            <p:cNvGrpSpPr/>
            <p:nvPr/>
          </p:nvGrpSpPr>
          <p:grpSpPr>
            <a:xfrm rot="0">
              <a:off x="0" y="0"/>
              <a:ext cx="4953000" cy="3619500"/>
              <a:chOff x="0" y="0"/>
              <a:chExt cx="4953000" cy="3619500"/>
            </a:xfrm>
          </p:grpSpPr>
          <p:sp>
            <p:nvSpPr>
              <p:cNvPr name="Freeform 20" id="20"/>
              <p:cNvSpPr/>
              <p:nvPr/>
            </p:nvSpPr>
            <p:spPr>
              <a:xfrm flipH="false" flipV="false" rot="0">
                <a:off x="0" y="0"/>
                <a:ext cx="4953000" cy="3619500"/>
              </a:xfrm>
              <a:custGeom>
                <a:avLst/>
                <a:gdLst/>
                <a:ahLst/>
                <a:cxnLst/>
                <a:rect r="r" b="b" t="t" l="l"/>
                <a:pathLst>
                  <a:path h="3619500" w="4953000">
                    <a:moveTo>
                      <a:pt x="0" y="0"/>
                    </a:moveTo>
                    <a:lnTo>
                      <a:pt x="4953000" y="0"/>
                    </a:lnTo>
                    <a:lnTo>
                      <a:pt x="4953000" y="3619500"/>
                    </a:lnTo>
                    <a:lnTo>
                      <a:pt x="0" y="3619500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21" id="21"/>
              <p:cNvSpPr txBox="true"/>
              <p:nvPr/>
            </p:nvSpPr>
            <p:spPr>
              <a:xfrm>
                <a:off x="0" y="-38100"/>
                <a:ext cx="4953000" cy="36576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grpSp>
          <p:nvGrpSpPr>
            <p:cNvPr name="Group 22" id="22"/>
            <p:cNvGrpSpPr/>
            <p:nvPr/>
          </p:nvGrpSpPr>
          <p:grpSpPr>
            <a:xfrm rot="0">
              <a:off x="1524000" y="1841500"/>
              <a:ext cx="431800" cy="571500"/>
              <a:chOff x="0" y="0"/>
              <a:chExt cx="431800" cy="571500"/>
            </a:xfrm>
          </p:grpSpPr>
          <p:sp>
            <p:nvSpPr>
              <p:cNvPr name="Freeform 23" id="23"/>
              <p:cNvSpPr/>
              <p:nvPr/>
            </p:nvSpPr>
            <p:spPr>
              <a:xfrm flipH="false" flipV="false" rot="0">
                <a:off x="0" y="0"/>
                <a:ext cx="431800" cy="571500"/>
              </a:xfrm>
              <a:custGeom>
                <a:avLst/>
                <a:gdLst/>
                <a:ahLst/>
                <a:cxnLst/>
                <a:rect r="r" b="b" t="t" l="l"/>
                <a:pathLst>
                  <a:path h="571500" w="431800">
                    <a:moveTo>
                      <a:pt x="0" y="0"/>
                    </a:moveTo>
                    <a:lnTo>
                      <a:pt x="431800" y="0"/>
                    </a:lnTo>
                    <a:lnTo>
                      <a:pt x="431800" y="571500"/>
                    </a:lnTo>
                    <a:lnTo>
                      <a:pt x="0" y="571500"/>
                    </a:lnTo>
                    <a:close/>
                  </a:path>
                </a:pathLst>
              </a:custGeom>
              <a:solidFill>
                <a:srgbClr val="2475FF">
                  <a:alpha val="84706"/>
                </a:srgbClr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24" id="24"/>
              <p:cNvSpPr txBox="true"/>
              <p:nvPr/>
            </p:nvSpPr>
            <p:spPr>
              <a:xfrm>
                <a:off x="0" y="-38100"/>
                <a:ext cx="431800" cy="6096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grpSp>
          <p:nvGrpSpPr>
            <p:cNvPr name="Group 25" id="25"/>
            <p:cNvGrpSpPr/>
            <p:nvPr/>
          </p:nvGrpSpPr>
          <p:grpSpPr>
            <a:xfrm rot="0">
              <a:off x="2311400" y="1562100"/>
              <a:ext cx="431800" cy="850900"/>
              <a:chOff x="0" y="0"/>
              <a:chExt cx="431800" cy="850900"/>
            </a:xfrm>
          </p:grpSpPr>
          <p:sp>
            <p:nvSpPr>
              <p:cNvPr name="Freeform 26" id="26"/>
              <p:cNvSpPr/>
              <p:nvPr/>
            </p:nvSpPr>
            <p:spPr>
              <a:xfrm flipH="false" flipV="false" rot="0">
                <a:off x="0" y="0"/>
                <a:ext cx="431800" cy="850900"/>
              </a:xfrm>
              <a:custGeom>
                <a:avLst/>
                <a:gdLst/>
                <a:ahLst/>
                <a:cxnLst/>
                <a:rect r="r" b="b" t="t" l="l"/>
                <a:pathLst>
                  <a:path h="850900" w="431800">
                    <a:moveTo>
                      <a:pt x="0" y="0"/>
                    </a:moveTo>
                    <a:lnTo>
                      <a:pt x="431800" y="0"/>
                    </a:lnTo>
                    <a:lnTo>
                      <a:pt x="431800" y="850900"/>
                    </a:lnTo>
                    <a:lnTo>
                      <a:pt x="0" y="850900"/>
                    </a:lnTo>
                    <a:close/>
                  </a:path>
                </a:pathLst>
              </a:custGeom>
              <a:solidFill>
                <a:srgbClr val="2475FF">
                  <a:alpha val="84706"/>
                </a:srgbClr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27" id="27"/>
              <p:cNvSpPr txBox="true"/>
              <p:nvPr/>
            </p:nvSpPr>
            <p:spPr>
              <a:xfrm>
                <a:off x="0" y="-38100"/>
                <a:ext cx="431800" cy="8890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grpSp>
          <p:nvGrpSpPr>
            <p:cNvPr name="Group 28" id="28"/>
            <p:cNvGrpSpPr/>
            <p:nvPr/>
          </p:nvGrpSpPr>
          <p:grpSpPr>
            <a:xfrm rot="0">
              <a:off x="3098800" y="1282700"/>
              <a:ext cx="431800" cy="1130300"/>
              <a:chOff x="0" y="0"/>
              <a:chExt cx="431800" cy="1130300"/>
            </a:xfrm>
          </p:grpSpPr>
          <p:sp>
            <p:nvSpPr>
              <p:cNvPr name="Freeform 29" id="29"/>
              <p:cNvSpPr/>
              <p:nvPr/>
            </p:nvSpPr>
            <p:spPr>
              <a:xfrm flipH="false" flipV="false" rot="0">
                <a:off x="0" y="0"/>
                <a:ext cx="431800" cy="1130300"/>
              </a:xfrm>
              <a:custGeom>
                <a:avLst/>
                <a:gdLst/>
                <a:ahLst/>
                <a:cxnLst/>
                <a:rect r="r" b="b" t="t" l="l"/>
                <a:pathLst>
                  <a:path h="1130300" w="431800">
                    <a:moveTo>
                      <a:pt x="0" y="0"/>
                    </a:moveTo>
                    <a:lnTo>
                      <a:pt x="431800" y="0"/>
                    </a:lnTo>
                    <a:lnTo>
                      <a:pt x="431800" y="1130300"/>
                    </a:lnTo>
                    <a:lnTo>
                      <a:pt x="0" y="1130300"/>
                    </a:lnTo>
                    <a:close/>
                  </a:path>
                </a:pathLst>
              </a:custGeom>
              <a:solidFill>
                <a:srgbClr val="35D2FF">
                  <a:alpha val="84706"/>
                </a:srgbClr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30" id="30"/>
              <p:cNvSpPr txBox="true"/>
              <p:nvPr/>
            </p:nvSpPr>
            <p:spPr>
              <a:xfrm>
                <a:off x="0" y="-38100"/>
                <a:ext cx="431800" cy="11684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sp>
          <p:nvSpPr>
            <p:cNvPr name="TextBox 31" id="31"/>
            <p:cNvSpPr txBox="true"/>
            <p:nvPr/>
          </p:nvSpPr>
          <p:spPr>
            <a:xfrm rot="0">
              <a:off x="355600" y="352425"/>
              <a:ext cx="698500" cy="3333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en-US" sz="1500">
                  <a:solidFill>
                    <a:srgbClr val="35D2FF"/>
                  </a:solidFill>
                  <a:latin typeface="IBM Plex Mono"/>
                  <a:ea typeface="IBM Plex Mono"/>
                  <a:cs typeface="IBM Plex Mono"/>
                  <a:sym typeface="IBM Plex Mono"/>
                </a:rPr>
                <a:t>02</a:t>
              </a:r>
            </a:p>
          </p:txBody>
        </p:sp>
        <p:sp>
          <p:nvSpPr>
            <p:cNvPr name="TextBox 32" id="32"/>
            <p:cNvSpPr txBox="true"/>
            <p:nvPr/>
          </p:nvSpPr>
          <p:spPr>
            <a:xfrm rot="0">
              <a:off x="355600" y="2632075"/>
              <a:ext cx="4191000" cy="32550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944"/>
                </a:lnSpc>
              </a:pPr>
              <a:r>
                <a:rPr lang="en-US" sz="1800">
                  <a:solidFill>
                    <a:srgbClr val="10213A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Daily Volume Trend</a:t>
              </a: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9182100" y="2714625"/>
            <a:ext cx="3714750" cy="2714625"/>
            <a:chOff x="0" y="0"/>
            <a:chExt cx="4953000" cy="3619500"/>
          </a:xfrm>
        </p:grpSpPr>
        <p:grpSp>
          <p:nvGrpSpPr>
            <p:cNvPr name="Group 34" id="34"/>
            <p:cNvGrpSpPr/>
            <p:nvPr/>
          </p:nvGrpSpPr>
          <p:grpSpPr>
            <a:xfrm rot="0">
              <a:off x="0" y="0"/>
              <a:ext cx="4953000" cy="3619500"/>
              <a:chOff x="0" y="0"/>
              <a:chExt cx="4953000" cy="3619500"/>
            </a:xfrm>
          </p:grpSpPr>
          <p:sp>
            <p:nvSpPr>
              <p:cNvPr name="Freeform 35" id="35"/>
              <p:cNvSpPr/>
              <p:nvPr/>
            </p:nvSpPr>
            <p:spPr>
              <a:xfrm flipH="false" flipV="false" rot="0">
                <a:off x="0" y="0"/>
                <a:ext cx="4953000" cy="3619500"/>
              </a:xfrm>
              <a:custGeom>
                <a:avLst/>
                <a:gdLst/>
                <a:ahLst/>
                <a:cxnLst/>
                <a:rect r="r" b="b" t="t" l="l"/>
                <a:pathLst>
                  <a:path h="3619500" w="4953000">
                    <a:moveTo>
                      <a:pt x="0" y="0"/>
                    </a:moveTo>
                    <a:lnTo>
                      <a:pt x="4953000" y="0"/>
                    </a:lnTo>
                    <a:lnTo>
                      <a:pt x="4953000" y="3619500"/>
                    </a:lnTo>
                    <a:lnTo>
                      <a:pt x="0" y="3619500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36" id="36"/>
              <p:cNvSpPr txBox="true"/>
              <p:nvPr/>
            </p:nvSpPr>
            <p:spPr>
              <a:xfrm>
                <a:off x="0" y="-38100"/>
                <a:ext cx="4953000" cy="36576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grpSp>
          <p:nvGrpSpPr>
            <p:cNvPr name="Group 37" id="37"/>
            <p:cNvGrpSpPr/>
            <p:nvPr/>
          </p:nvGrpSpPr>
          <p:grpSpPr>
            <a:xfrm rot="0">
              <a:off x="1524000" y="1841500"/>
              <a:ext cx="431800" cy="571500"/>
              <a:chOff x="0" y="0"/>
              <a:chExt cx="431800" cy="571500"/>
            </a:xfrm>
          </p:grpSpPr>
          <p:sp>
            <p:nvSpPr>
              <p:cNvPr name="Freeform 38" id="38"/>
              <p:cNvSpPr/>
              <p:nvPr/>
            </p:nvSpPr>
            <p:spPr>
              <a:xfrm flipH="false" flipV="false" rot="0">
                <a:off x="0" y="0"/>
                <a:ext cx="431800" cy="571500"/>
              </a:xfrm>
              <a:custGeom>
                <a:avLst/>
                <a:gdLst/>
                <a:ahLst/>
                <a:cxnLst/>
                <a:rect r="r" b="b" t="t" l="l"/>
                <a:pathLst>
                  <a:path h="571500" w="431800">
                    <a:moveTo>
                      <a:pt x="0" y="0"/>
                    </a:moveTo>
                    <a:lnTo>
                      <a:pt x="431800" y="0"/>
                    </a:lnTo>
                    <a:lnTo>
                      <a:pt x="431800" y="571500"/>
                    </a:lnTo>
                    <a:lnTo>
                      <a:pt x="0" y="571500"/>
                    </a:lnTo>
                    <a:close/>
                  </a:path>
                </a:pathLst>
              </a:custGeom>
              <a:solidFill>
                <a:srgbClr val="2475FF">
                  <a:alpha val="84706"/>
                </a:srgbClr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39" id="39"/>
              <p:cNvSpPr txBox="true"/>
              <p:nvPr/>
            </p:nvSpPr>
            <p:spPr>
              <a:xfrm>
                <a:off x="0" y="-38100"/>
                <a:ext cx="431800" cy="6096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grpSp>
          <p:nvGrpSpPr>
            <p:cNvPr name="Group 40" id="40"/>
            <p:cNvGrpSpPr/>
            <p:nvPr/>
          </p:nvGrpSpPr>
          <p:grpSpPr>
            <a:xfrm rot="0">
              <a:off x="2311400" y="1562100"/>
              <a:ext cx="431800" cy="850900"/>
              <a:chOff x="0" y="0"/>
              <a:chExt cx="431800" cy="850900"/>
            </a:xfrm>
          </p:grpSpPr>
          <p:sp>
            <p:nvSpPr>
              <p:cNvPr name="Freeform 41" id="41"/>
              <p:cNvSpPr/>
              <p:nvPr/>
            </p:nvSpPr>
            <p:spPr>
              <a:xfrm flipH="false" flipV="false" rot="0">
                <a:off x="0" y="0"/>
                <a:ext cx="431800" cy="850900"/>
              </a:xfrm>
              <a:custGeom>
                <a:avLst/>
                <a:gdLst/>
                <a:ahLst/>
                <a:cxnLst/>
                <a:rect r="r" b="b" t="t" l="l"/>
                <a:pathLst>
                  <a:path h="850900" w="431800">
                    <a:moveTo>
                      <a:pt x="0" y="0"/>
                    </a:moveTo>
                    <a:lnTo>
                      <a:pt x="431800" y="0"/>
                    </a:lnTo>
                    <a:lnTo>
                      <a:pt x="431800" y="850900"/>
                    </a:lnTo>
                    <a:lnTo>
                      <a:pt x="0" y="850900"/>
                    </a:lnTo>
                    <a:close/>
                  </a:path>
                </a:pathLst>
              </a:custGeom>
              <a:solidFill>
                <a:srgbClr val="2475FF">
                  <a:alpha val="84706"/>
                </a:srgbClr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42" id="42"/>
              <p:cNvSpPr txBox="true"/>
              <p:nvPr/>
            </p:nvSpPr>
            <p:spPr>
              <a:xfrm>
                <a:off x="0" y="-38100"/>
                <a:ext cx="431800" cy="8890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grpSp>
          <p:nvGrpSpPr>
            <p:cNvPr name="Group 43" id="43"/>
            <p:cNvGrpSpPr/>
            <p:nvPr/>
          </p:nvGrpSpPr>
          <p:grpSpPr>
            <a:xfrm rot="0">
              <a:off x="3098800" y="1282700"/>
              <a:ext cx="431800" cy="1130300"/>
              <a:chOff x="0" y="0"/>
              <a:chExt cx="431800" cy="1130300"/>
            </a:xfrm>
          </p:grpSpPr>
          <p:sp>
            <p:nvSpPr>
              <p:cNvPr name="Freeform 44" id="44"/>
              <p:cNvSpPr/>
              <p:nvPr/>
            </p:nvSpPr>
            <p:spPr>
              <a:xfrm flipH="false" flipV="false" rot="0">
                <a:off x="0" y="0"/>
                <a:ext cx="431800" cy="1130300"/>
              </a:xfrm>
              <a:custGeom>
                <a:avLst/>
                <a:gdLst/>
                <a:ahLst/>
                <a:cxnLst/>
                <a:rect r="r" b="b" t="t" l="l"/>
                <a:pathLst>
                  <a:path h="1130300" w="431800">
                    <a:moveTo>
                      <a:pt x="0" y="0"/>
                    </a:moveTo>
                    <a:lnTo>
                      <a:pt x="431800" y="0"/>
                    </a:lnTo>
                    <a:lnTo>
                      <a:pt x="431800" y="1130300"/>
                    </a:lnTo>
                    <a:lnTo>
                      <a:pt x="0" y="1130300"/>
                    </a:lnTo>
                    <a:close/>
                  </a:path>
                </a:pathLst>
              </a:custGeom>
              <a:solidFill>
                <a:srgbClr val="35D2FF">
                  <a:alpha val="84706"/>
                </a:srgbClr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45" id="45"/>
              <p:cNvSpPr txBox="true"/>
              <p:nvPr/>
            </p:nvSpPr>
            <p:spPr>
              <a:xfrm>
                <a:off x="0" y="-38100"/>
                <a:ext cx="431800" cy="11684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sp>
          <p:nvSpPr>
            <p:cNvPr name="TextBox 46" id="46"/>
            <p:cNvSpPr txBox="true"/>
            <p:nvPr/>
          </p:nvSpPr>
          <p:spPr>
            <a:xfrm rot="0">
              <a:off x="355600" y="352425"/>
              <a:ext cx="698500" cy="3333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en-US" sz="1500">
                  <a:solidFill>
                    <a:srgbClr val="35D2FF"/>
                  </a:solidFill>
                  <a:latin typeface="IBM Plex Mono"/>
                  <a:ea typeface="IBM Plex Mono"/>
                  <a:cs typeface="IBM Plex Mono"/>
                  <a:sym typeface="IBM Plex Mono"/>
                </a:rPr>
                <a:t>03</a:t>
              </a:r>
            </a:p>
          </p:txBody>
        </p:sp>
        <p:sp>
          <p:nvSpPr>
            <p:cNvPr name="TextBox 47" id="47"/>
            <p:cNvSpPr txBox="true"/>
            <p:nvPr/>
          </p:nvSpPr>
          <p:spPr>
            <a:xfrm rot="0">
              <a:off x="355600" y="2632075"/>
              <a:ext cx="4191000" cy="32550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944"/>
                </a:lnSpc>
              </a:pPr>
              <a:r>
                <a:rPr lang="en-US" sz="1800">
                  <a:solidFill>
                    <a:srgbClr val="10213A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Traffic by Protocol</a:t>
              </a:r>
            </a:p>
          </p:txBody>
        </p:sp>
      </p:grpSp>
      <p:grpSp>
        <p:nvGrpSpPr>
          <p:cNvPr name="Group 48" id="48"/>
          <p:cNvGrpSpPr/>
          <p:nvPr/>
        </p:nvGrpSpPr>
        <p:grpSpPr>
          <a:xfrm rot="0">
            <a:off x="13277850" y="2714625"/>
            <a:ext cx="3714750" cy="2714625"/>
            <a:chOff x="0" y="0"/>
            <a:chExt cx="4953000" cy="3619500"/>
          </a:xfrm>
        </p:grpSpPr>
        <p:grpSp>
          <p:nvGrpSpPr>
            <p:cNvPr name="Group 49" id="49"/>
            <p:cNvGrpSpPr/>
            <p:nvPr/>
          </p:nvGrpSpPr>
          <p:grpSpPr>
            <a:xfrm rot="0">
              <a:off x="0" y="0"/>
              <a:ext cx="4953000" cy="3619500"/>
              <a:chOff x="0" y="0"/>
              <a:chExt cx="4953000" cy="3619500"/>
            </a:xfrm>
          </p:grpSpPr>
          <p:sp>
            <p:nvSpPr>
              <p:cNvPr name="Freeform 50" id="50"/>
              <p:cNvSpPr/>
              <p:nvPr/>
            </p:nvSpPr>
            <p:spPr>
              <a:xfrm flipH="false" flipV="false" rot="0">
                <a:off x="0" y="0"/>
                <a:ext cx="4953000" cy="3619500"/>
              </a:xfrm>
              <a:custGeom>
                <a:avLst/>
                <a:gdLst/>
                <a:ahLst/>
                <a:cxnLst/>
                <a:rect r="r" b="b" t="t" l="l"/>
                <a:pathLst>
                  <a:path h="3619500" w="4953000">
                    <a:moveTo>
                      <a:pt x="0" y="0"/>
                    </a:moveTo>
                    <a:lnTo>
                      <a:pt x="4953000" y="0"/>
                    </a:lnTo>
                    <a:lnTo>
                      <a:pt x="4953000" y="3619500"/>
                    </a:lnTo>
                    <a:lnTo>
                      <a:pt x="0" y="3619500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51" id="51"/>
              <p:cNvSpPr txBox="true"/>
              <p:nvPr/>
            </p:nvSpPr>
            <p:spPr>
              <a:xfrm>
                <a:off x="0" y="-38100"/>
                <a:ext cx="4953000" cy="36576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grpSp>
          <p:nvGrpSpPr>
            <p:cNvPr name="Group 52" id="52"/>
            <p:cNvGrpSpPr/>
            <p:nvPr/>
          </p:nvGrpSpPr>
          <p:grpSpPr>
            <a:xfrm rot="0">
              <a:off x="1524000" y="1841500"/>
              <a:ext cx="431800" cy="571500"/>
              <a:chOff x="0" y="0"/>
              <a:chExt cx="431800" cy="571500"/>
            </a:xfrm>
          </p:grpSpPr>
          <p:sp>
            <p:nvSpPr>
              <p:cNvPr name="Freeform 53" id="53"/>
              <p:cNvSpPr/>
              <p:nvPr/>
            </p:nvSpPr>
            <p:spPr>
              <a:xfrm flipH="false" flipV="false" rot="0">
                <a:off x="0" y="0"/>
                <a:ext cx="431800" cy="571500"/>
              </a:xfrm>
              <a:custGeom>
                <a:avLst/>
                <a:gdLst/>
                <a:ahLst/>
                <a:cxnLst/>
                <a:rect r="r" b="b" t="t" l="l"/>
                <a:pathLst>
                  <a:path h="571500" w="431800">
                    <a:moveTo>
                      <a:pt x="0" y="0"/>
                    </a:moveTo>
                    <a:lnTo>
                      <a:pt x="431800" y="0"/>
                    </a:lnTo>
                    <a:lnTo>
                      <a:pt x="431800" y="571500"/>
                    </a:lnTo>
                    <a:lnTo>
                      <a:pt x="0" y="571500"/>
                    </a:lnTo>
                    <a:close/>
                  </a:path>
                </a:pathLst>
              </a:custGeom>
              <a:solidFill>
                <a:srgbClr val="2475FF">
                  <a:alpha val="84706"/>
                </a:srgbClr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54" id="54"/>
              <p:cNvSpPr txBox="true"/>
              <p:nvPr/>
            </p:nvSpPr>
            <p:spPr>
              <a:xfrm>
                <a:off x="0" y="-38100"/>
                <a:ext cx="431800" cy="6096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grpSp>
          <p:nvGrpSpPr>
            <p:cNvPr name="Group 55" id="55"/>
            <p:cNvGrpSpPr/>
            <p:nvPr/>
          </p:nvGrpSpPr>
          <p:grpSpPr>
            <a:xfrm rot="0">
              <a:off x="2311400" y="1562100"/>
              <a:ext cx="431800" cy="850900"/>
              <a:chOff x="0" y="0"/>
              <a:chExt cx="431800" cy="850900"/>
            </a:xfrm>
          </p:grpSpPr>
          <p:sp>
            <p:nvSpPr>
              <p:cNvPr name="Freeform 56" id="56"/>
              <p:cNvSpPr/>
              <p:nvPr/>
            </p:nvSpPr>
            <p:spPr>
              <a:xfrm flipH="false" flipV="false" rot="0">
                <a:off x="0" y="0"/>
                <a:ext cx="431800" cy="850900"/>
              </a:xfrm>
              <a:custGeom>
                <a:avLst/>
                <a:gdLst/>
                <a:ahLst/>
                <a:cxnLst/>
                <a:rect r="r" b="b" t="t" l="l"/>
                <a:pathLst>
                  <a:path h="850900" w="431800">
                    <a:moveTo>
                      <a:pt x="0" y="0"/>
                    </a:moveTo>
                    <a:lnTo>
                      <a:pt x="431800" y="0"/>
                    </a:lnTo>
                    <a:lnTo>
                      <a:pt x="431800" y="850900"/>
                    </a:lnTo>
                    <a:lnTo>
                      <a:pt x="0" y="850900"/>
                    </a:lnTo>
                    <a:close/>
                  </a:path>
                </a:pathLst>
              </a:custGeom>
              <a:solidFill>
                <a:srgbClr val="2475FF">
                  <a:alpha val="84706"/>
                </a:srgbClr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57" id="57"/>
              <p:cNvSpPr txBox="true"/>
              <p:nvPr/>
            </p:nvSpPr>
            <p:spPr>
              <a:xfrm>
                <a:off x="0" y="-38100"/>
                <a:ext cx="431800" cy="8890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grpSp>
          <p:nvGrpSpPr>
            <p:cNvPr name="Group 58" id="58"/>
            <p:cNvGrpSpPr/>
            <p:nvPr/>
          </p:nvGrpSpPr>
          <p:grpSpPr>
            <a:xfrm rot="0">
              <a:off x="3098800" y="1282700"/>
              <a:ext cx="431800" cy="1130300"/>
              <a:chOff x="0" y="0"/>
              <a:chExt cx="431800" cy="1130300"/>
            </a:xfrm>
          </p:grpSpPr>
          <p:sp>
            <p:nvSpPr>
              <p:cNvPr name="Freeform 59" id="59"/>
              <p:cNvSpPr/>
              <p:nvPr/>
            </p:nvSpPr>
            <p:spPr>
              <a:xfrm flipH="false" flipV="false" rot="0">
                <a:off x="0" y="0"/>
                <a:ext cx="431800" cy="1130300"/>
              </a:xfrm>
              <a:custGeom>
                <a:avLst/>
                <a:gdLst/>
                <a:ahLst/>
                <a:cxnLst/>
                <a:rect r="r" b="b" t="t" l="l"/>
                <a:pathLst>
                  <a:path h="1130300" w="431800">
                    <a:moveTo>
                      <a:pt x="0" y="0"/>
                    </a:moveTo>
                    <a:lnTo>
                      <a:pt x="431800" y="0"/>
                    </a:lnTo>
                    <a:lnTo>
                      <a:pt x="431800" y="1130300"/>
                    </a:lnTo>
                    <a:lnTo>
                      <a:pt x="0" y="1130300"/>
                    </a:lnTo>
                    <a:close/>
                  </a:path>
                </a:pathLst>
              </a:custGeom>
              <a:solidFill>
                <a:srgbClr val="35D2FF">
                  <a:alpha val="84706"/>
                </a:srgbClr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60" id="60"/>
              <p:cNvSpPr txBox="true"/>
              <p:nvPr/>
            </p:nvSpPr>
            <p:spPr>
              <a:xfrm>
                <a:off x="0" y="-38100"/>
                <a:ext cx="431800" cy="11684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sp>
          <p:nvSpPr>
            <p:cNvPr name="TextBox 61" id="61"/>
            <p:cNvSpPr txBox="true"/>
            <p:nvPr/>
          </p:nvSpPr>
          <p:spPr>
            <a:xfrm rot="0">
              <a:off x="355600" y="352425"/>
              <a:ext cx="698500" cy="3333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en-US" sz="1500">
                  <a:solidFill>
                    <a:srgbClr val="35D2FF"/>
                  </a:solidFill>
                  <a:latin typeface="IBM Plex Mono"/>
                  <a:ea typeface="IBM Plex Mono"/>
                  <a:cs typeface="IBM Plex Mono"/>
                  <a:sym typeface="IBM Plex Mono"/>
                </a:rPr>
                <a:t>04</a:t>
              </a:r>
            </a:p>
          </p:txBody>
        </p:sp>
        <p:sp>
          <p:nvSpPr>
            <p:cNvPr name="TextBox 62" id="62"/>
            <p:cNvSpPr txBox="true"/>
            <p:nvPr/>
          </p:nvSpPr>
          <p:spPr>
            <a:xfrm rot="0">
              <a:off x="355600" y="2632075"/>
              <a:ext cx="4191000" cy="32550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944"/>
                </a:lnSpc>
              </a:pPr>
              <a:r>
                <a:rPr lang="en-US" sz="1800">
                  <a:solidFill>
                    <a:srgbClr val="10213A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Traffic Volume Treemap</a:t>
              </a:r>
            </a:p>
          </p:txBody>
        </p:sp>
      </p:grpSp>
      <p:grpSp>
        <p:nvGrpSpPr>
          <p:cNvPr name="Group 63" id="63"/>
          <p:cNvGrpSpPr/>
          <p:nvPr/>
        </p:nvGrpSpPr>
        <p:grpSpPr>
          <a:xfrm rot="0">
            <a:off x="990600" y="5857875"/>
            <a:ext cx="3714750" cy="2714625"/>
            <a:chOff x="0" y="0"/>
            <a:chExt cx="4953000" cy="3619500"/>
          </a:xfrm>
        </p:grpSpPr>
        <p:grpSp>
          <p:nvGrpSpPr>
            <p:cNvPr name="Group 64" id="64"/>
            <p:cNvGrpSpPr/>
            <p:nvPr/>
          </p:nvGrpSpPr>
          <p:grpSpPr>
            <a:xfrm rot="0">
              <a:off x="0" y="0"/>
              <a:ext cx="4953000" cy="3619500"/>
              <a:chOff x="0" y="0"/>
              <a:chExt cx="4953000" cy="3619500"/>
            </a:xfrm>
          </p:grpSpPr>
          <p:sp>
            <p:nvSpPr>
              <p:cNvPr name="Freeform 65" id="65"/>
              <p:cNvSpPr/>
              <p:nvPr/>
            </p:nvSpPr>
            <p:spPr>
              <a:xfrm flipH="false" flipV="false" rot="0">
                <a:off x="0" y="0"/>
                <a:ext cx="4953000" cy="3619500"/>
              </a:xfrm>
              <a:custGeom>
                <a:avLst/>
                <a:gdLst/>
                <a:ahLst/>
                <a:cxnLst/>
                <a:rect r="r" b="b" t="t" l="l"/>
                <a:pathLst>
                  <a:path h="3619500" w="4953000">
                    <a:moveTo>
                      <a:pt x="0" y="0"/>
                    </a:moveTo>
                    <a:lnTo>
                      <a:pt x="4953000" y="0"/>
                    </a:lnTo>
                    <a:lnTo>
                      <a:pt x="4953000" y="3619500"/>
                    </a:lnTo>
                    <a:lnTo>
                      <a:pt x="0" y="3619500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66" id="66"/>
              <p:cNvSpPr txBox="true"/>
              <p:nvPr/>
            </p:nvSpPr>
            <p:spPr>
              <a:xfrm>
                <a:off x="0" y="-38100"/>
                <a:ext cx="4953000" cy="36576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grpSp>
          <p:nvGrpSpPr>
            <p:cNvPr name="Group 67" id="67"/>
            <p:cNvGrpSpPr/>
            <p:nvPr/>
          </p:nvGrpSpPr>
          <p:grpSpPr>
            <a:xfrm rot="0">
              <a:off x="1524000" y="1841500"/>
              <a:ext cx="431800" cy="571500"/>
              <a:chOff x="0" y="0"/>
              <a:chExt cx="431800" cy="571500"/>
            </a:xfrm>
          </p:grpSpPr>
          <p:sp>
            <p:nvSpPr>
              <p:cNvPr name="Freeform 68" id="68"/>
              <p:cNvSpPr/>
              <p:nvPr/>
            </p:nvSpPr>
            <p:spPr>
              <a:xfrm flipH="false" flipV="false" rot="0">
                <a:off x="0" y="0"/>
                <a:ext cx="431800" cy="571500"/>
              </a:xfrm>
              <a:custGeom>
                <a:avLst/>
                <a:gdLst/>
                <a:ahLst/>
                <a:cxnLst/>
                <a:rect r="r" b="b" t="t" l="l"/>
                <a:pathLst>
                  <a:path h="571500" w="431800">
                    <a:moveTo>
                      <a:pt x="0" y="0"/>
                    </a:moveTo>
                    <a:lnTo>
                      <a:pt x="431800" y="0"/>
                    </a:lnTo>
                    <a:lnTo>
                      <a:pt x="431800" y="571500"/>
                    </a:lnTo>
                    <a:lnTo>
                      <a:pt x="0" y="571500"/>
                    </a:lnTo>
                    <a:close/>
                  </a:path>
                </a:pathLst>
              </a:custGeom>
              <a:solidFill>
                <a:srgbClr val="2475FF">
                  <a:alpha val="84706"/>
                </a:srgbClr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69" id="69"/>
              <p:cNvSpPr txBox="true"/>
              <p:nvPr/>
            </p:nvSpPr>
            <p:spPr>
              <a:xfrm>
                <a:off x="0" y="-38100"/>
                <a:ext cx="431800" cy="6096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grpSp>
          <p:nvGrpSpPr>
            <p:cNvPr name="Group 70" id="70"/>
            <p:cNvGrpSpPr/>
            <p:nvPr/>
          </p:nvGrpSpPr>
          <p:grpSpPr>
            <a:xfrm rot="0">
              <a:off x="2311400" y="1562100"/>
              <a:ext cx="431800" cy="850900"/>
              <a:chOff x="0" y="0"/>
              <a:chExt cx="431800" cy="850900"/>
            </a:xfrm>
          </p:grpSpPr>
          <p:sp>
            <p:nvSpPr>
              <p:cNvPr name="Freeform 71" id="71"/>
              <p:cNvSpPr/>
              <p:nvPr/>
            </p:nvSpPr>
            <p:spPr>
              <a:xfrm flipH="false" flipV="false" rot="0">
                <a:off x="0" y="0"/>
                <a:ext cx="431800" cy="850900"/>
              </a:xfrm>
              <a:custGeom>
                <a:avLst/>
                <a:gdLst/>
                <a:ahLst/>
                <a:cxnLst/>
                <a:rect r="r" b="b" t="t" l="l"/>
                <a:pathLst>
                  <a:path h="850900" w="431800">
                    <a:moveTo>
                      <a:pt x="0" y="0"/>
                    </a:moveTo>
                    <a:lnTo>
                      <a:pt x="431800" y="0"/>
                    </a:lnTo>
                    <a:lnTo>
                      <a:pt x="431800" y="850900"/>
                    </a:lnTo>
                    <a:lnTo>
                      <a:pt x="0" y="850900"/>
                    </a:lnTo>
                    <a:close/>
                  </a:path>
                </a:pathLst>
              </a:custGeom>
              <a:solidFill>
                <a:srgbClr val="2475FF">
                  <a:alpha val="84706"/>
                </a:srgbClr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72" id="72"/>
              <p:cNvSpPr txBox="true"/>
              <p:nvPr/>
            </p:nvSpPr>
            <p:spPr>
              <a:xfrm>
                <a:off x="0" y="-38100"/>
                <a:ext cx="431800" cy="8890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grpSp>
          <p:nvGrpSpPr>
            <p:cNvPr name="Group 73" id="73"/>
            <p:cNvGrpSpPr/>
            <p:nvPr/>
          </p:nvGrpSpPr>
          <p:grpSpPr>
            <a:xfrm rot="0">
              <a:off x="3098800" y="1282700"/>
              <a:ext cx="431800" cy="1130300"/>
              <a:chOff x="0" y="0"/>
              <a:chExt cx="431800" cy="1130300"/>
            </a:xfrm>
          </p:grpSpPr>
          <p:sp>
            <p:nvSpPr>
              <p:cNvPr name="Freeform 74" id="74"/>
              <p:cNvSpPr/>
              <p:nvPr/>
            </p:nvSpPr>
            <p:spPr>
              <a:xfrm flipH="false" flipV="false" rot="0">
                <a:off x="0" y="0"/>
                <a:ext cx="431800" cy="1130300"/>
              </a:xfrm>
              <a:custGeom>
                <a:avLst/>
                <a:gdLst/>
                <a:ahLst/>
                <a:cxnLst/>
                <a:rect r="r" b="b" t="t" l="l"/>
                <a:pathLst>
                  <a:path h="1130300" w="431800">
                    <a:moveTo>
                      <a:pt x="0" y="0"/>
                    </a:moveTo>
                    <a:lnTo>
                      <a:pt x="431800" y="0"/>
                    </a:lnTo>
                    <a:lnTo>
                      <a:pt x="431800" y="1130300"/>
                    </a:lnTo>
                    <a:lnTo>
                      <a:pt x="0" y="1130300"/>
                    </a:lnTo>
                    <a:close/>
                  </a:path>
                </a:pathLst>
              </a:custGeom>
              <a:solidFill>
                <a:srgbClr val="35D2FF">
                  <a:alpha val="84706"/>
                </a:srgbClr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75" id="75"/>
              <p:cNvSpPr txBox="true"/>
              <p:nvPr/>
            </p:nvSpPr>
            <p:spPr>
              <a:xfrm>
                <a:off x="0" y="-38100"/>
                <a:ext cx="431800" cy="11684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sp>
          <p:nvSpPr>
            <p:cNvPr name="TextBox 76" id="76"/>
            <p:cNvSpPr txBox="true"/>
            <p:nvPr/>
          </p:nvSpPr>
          <p:spPr>
            <a:xfrm rot="0">
              <a:off x="355600" y="352425"/>
              <a:ext cx="698500" cy="3333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en-US" sz="1500">
                  <a:solidFill>
                    <a:srgbClr val="35D2FF"/>
                  </a:solidFill>
                  <a:latin typeface="IBM Plex Mono"/>
                  <a:ea typeface="IBM Plex Mono"/>
                  <a:cs typeface="IBM Plex Mono"/>
                  <a:sym typeface="IBM Plex Mono"/>
                </a:rPr>
                <a:t>05</a:t>
              </a:r>
            </a:p>
          </p:txBody>
        </p:sp>
        <p:sp>
          <p:nvSpPr>
            <p:cNvPr name="TextBox 77" id="77"/>
            <p:cNvSpPr txBox="true"/>
            <p:nvPr/>
          </p:nvSpPr>
          <p:spPr>
            <a:xfrm rot="0">
              <a:off x="355600" y="2622550"/>
              <a:ext cx="4191000" cy="30657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782"/>
                </a:lnSpc>
              </a:pPr>
              <a:r>
                <a:rPr lang="en-US" sz="1650">
                  <a:solidFill>
                    <a:srgbClr val="10213A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Incident Count by Response</a:t>
              </a:r>
            </a:p>
          </p:txBody>
        </p:sp>
      </p:grpSp>
      <p:grpSp>
        <p:nvGrpSpPr>
          <p:cNvPr name="Group 78" id="78"/>
          <p:cNvGrpSpPr/>
          <p:nvPr/>
        </p:nvGrpSpPr>
        <p:grpSpPr>
          <a:xfrm rot="0">
            <a:off x="5086350" y="5857875"/>
            <a:ext cx="3714750" cy="2714625"/>
            <a:chOff x="0" y="0"/>
            <a:chExt cx="4953000" cy="3619500"/>
          </a:xfrm>
        </p:grpSpPr>
        <p:grpSp>
          <p:nvGrpSpPr>
            <p:cNvPr name="Group 79" id="79"/>
            <p:cNvGrpSpPr/>
            <p:nvPr/>
          </p:nvGrpSpPr>
          <p:grpSpPr>
            <a:xfrm rot="0">
              <a:off x="0" y="0"/>
              <a:ext cx="4953000" cy="3619500"/>
              <a:chOff x="0" y="0"/>
              <a:chExt cx="4953000" cy="3619500"/>
            </a:xfrm>
          </p:grpSpPr>
          <p:sp>
            <p:nvSpPr>
              <p:cNvPr name="Freeform 80" id="80"/>
              <p:cNvSpPr/>
              <p:nvPr/>
            </p:nvSpPr>
            <p:spPr>
              <a:xfrm flipH="false" flipV="false" rot="0">
                <a:off x="0" y="0"/>
                <a:ext cx="4953000" cy="3619500"/>
              </a:xfrm>
              <a:custGeom>
                <a:avLst/>
                <a:gdLst/>
                <a:ahLst/>
                <a:cxnLst/>
                <a:rect r="r" b="b" t="t" l="l"/>
                <a:pathLst>
                  <a:path h="3619500" w="4953000">
                    <a:moveTo>
                      <a:pt x="0" y="0"/>
                    </a:moveTo>
                    <a:lnTo>
                      <a:pt x="4953000" y="0"/>
                    </a:lnTo>
                    <a:lnTo>
                      <a:pt x="4953000" y="3619500"/>
                    </a:lnTo>
                    <a:lnTo>
                      <a:pt x="0" y="3619500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1" id="81"/>
              <p:cNvSpPr txBox="true"/>
              <p:nvPr/>
            </p:nvSpPr>
            <p:spPr>
              <a:xfrm>
                <a:off x="0" y="-38100"/>
                <a:ext cx="4953000" cy="36576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grpSp>
          <p:nvGrpSpPr>
            <p:cNvPr name="Group 82" id="82"/>
            <p:cNvGrpSpPr/>
            <p:nvPr/>
          </p:nvGrpSpPr>
          <p:grpSpPr>
            <a:xfrm rot="0">
              <a:off x="1524000" y="1841500"/>
              <a:ext cx="431800" cy="571500"/>
              <a:chOff x="0" y="0"/>
              <a:chExt cx="431800" cy="571500"/>
            </a:xfrm>
          </p:grpSpPr>
          <p:sp>
            <p:nvSpPr>
              <p:cNvPr name="Freeform 83" id="83"/>
              <p:cNvSpPr/>
              <p:nvPr/>
            </p:nvSpPr>
            <p:spPr>
              <a:xfrm flipH="false" flipV="false" rot="0">
                <a:off x="0" y="0"/>
                <a:ext cx="431800" cy="571500"/>
              </a:xfrm>
              <a:custGeom>
                <a:avLst/>
                <a:gdLst/>
                <a:ahLst/>
                <a:cxnLst/>
                <a:rect r="r" b="b" t="t" l="l"/>
                <a:pathLst>
                  <a:path h="571500" w="431800">
                    <a:moveTo>
                      <a:pt x="0" y="0"/>
                    </a:moveTo>
                    <a:lnTo>
                      <a:pt x="431800" y="0"/>
                    </a:lnTo>
                    <a:lnTo>
                      <a:pt x="431800" y="571500"/>
                    </a:lnTo>
                    <a:lnTo>
                      <a:pt x="0" y="571500"/>
                    </a:lnTo>
                    <a:close/>
                  </a:path>
                </a:pathLst>
              </a:custGeom>
              <a:solidFill>
                <a:srgbClr val="2475FF">
                  <a:alpha val="84706"/>
                </a:srgbClr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4" id="84"/>
              <p:cNvSpPr txBox="true"/>
              <p:nvPr/>
            </p:nvSpPr>
            <p:spPr>
              <a:xfrm>
                <a:off x="0" y="-38100"/>
                <a:ext cx="431800" cy="6096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grpSp>
          <p:nvGrpSpPr>
            <p:cNvPr name="Group 85" id="85"/>
            <p:cNvGrpSpPr/>
            <p:nvPr/>
          </p:nvGrpSpPr>
          <p:grpSpPr>
            <a:xfrm rot="0">
              <a:off x="2311400" y="1562100"/>
              <a:ext cx="431800" cy="850900"/>
              <a:chOff x="0" y="0"/>
              <a:chExt cx="431800" cy="850900"/>
            </a:xfrm>
          </p:grpSpPr>
          <p:sp>
            <p:nvSpPr>
              <p:cNvPr name="Freeform 86" id="86"/>
              <p:cNvSpPr/>
              <p:nvPr/>
            </p:nvSpPr>
            <p:spPr>
              <a:xfrm flipH="false" flipV="false" rot="0">
                <a:off x="0" y="0"/>
                <a:ext cx="431800" cy="850900"/>
              </a:xfrm>
              <a:custGeom>
                <a:avLst/>
                <a:gdLst/>
                <a:ahLst/>
                <a:cxnLst/>
                <a:rect r="r" b="b" t="t" l="l"/>
                <a:pathLst>
                  <a:path h="850900" w="431800">
                    <a:moveTo>
                      <a:pt x="0" y="0"/>
                    </a:moveTo>
                    <a:lnTo>
                      <a:pt x="431800" y="0"/>
                    </a:lnTo>
                    <a:lnTo>
                      <a:pt x="431800" y="850900"/>
                    </a:lnTo>
                    <a:lnTo>
                      <a:pt x="0" y="850900"/>
                    </a:lnTo>
                    <a:close/>
                  </a:path>
                </a:pathLst>
              </a:custGeom>
              <a:solidFill>
                <a:srgbClr val="2475FF">
                  <a:alpha val="84706"/>
                </a:srgbClr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7" id="87"/>
              <p:cNvSpPr txBox="true"/>
              <p:nvPr/>
            </p:nvSpPr>
            <p:spPr>
              <a:xfrm>
                <a:off x="0" y="-38100"/>
                <a:ext cx="431800" cy="8890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grpSp>
          <p:nvGrpSpPr>
            <p:cNvPr name="Group 88" id="88"/>
            <p:cNvGrpSpPr/>
            <p:nvPr/>
          </p:nvGrpSpPr>
          <p:grpSpPr>
            <a:xfrm rot="0">
              <a:off x="3098800" y="1282700"/>
              <a:ext cx="431800" cy="1130300"/>
              <a:chOff x="0" y="0"/>
              <a:chExt cx="431800" cy="1130300"/>
            </a:xfrm>
          </p:grpSpPr>
          <p:sp>
            <p:nvSpPr>
              <p:cNvPr name="Freeform 89" id="89"/>
              <p:cNvSpPr/>
              <p:nvPr/>
            </p:nvSpPr>
            <p:spPr>
              <a:xfrm flipH="false" flipV="false" rot="0">
                <a:off x="0" y="0"/>
                <a:ext cx="431800" cy="1130300"/>
              </a:xfrm>
              <a:custGeom>
                <a:avLst/>
                <a:gdLst/>
                <a:ahLst/>
                <a:cxnLst/>
                <a:rect r="r" b="b" t="t" l="l"/>
                <a:pathLst>
                  <a:path h="1130300" w="431800">
                    <a:moveTo>
                      <a:pt x="0" y="0"/>
                    </a:moveTo>
                    <a:lnTo>
                      <a:pt x="431800" y="0"/>
                    </a:lnTo>
                    <a:lnTo>
                      <a:pt x="431800" y="1130300"/>
                    </a:lnTo>
                    <a:lnTo>
                      <a:pt x="0" y="1130300"/>
                    </a:lnTo>
                    <a:close/>
                  </a:path>
                </a:pathLst>
              </a:custGeom>
              <a:solidFill>
                <a:srgbClr val="35D2FF">
                  <a:alpha val="84706"/>
                </a:srgbClr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90" id="90"/>
              <p:cNvSpPr txBox="true"/>
              <p:nvPr/>
            </p:nvSpPr>
            <p:spPr>
              <a:xfrm>
                <a:off x="0" y="-38100"/>
                <a:ext cx="431800" cy="11684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sp>
          <p:nvSpPr>
            <p:cNvPr name="TextBox 91" id="91"/>
            <p:cNvSpPr txBox="true"/>
            <p:nvPr/>
          </p:nvSpPr>
          <p:spPr>
            <a:xfrm rot="0">
              <a:off x="355600" y="352425"/>
              <a:ext cx="698500" cy="3333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en-US" sz="1500">
                  <a:solidFill>
                    <a:srgbClr val="35D2FF"/>
                  </a:solidFill>
                  <a:latin typeface="IBM Plex Mono"/>
                  <a:ea typeface="IBM Plex Mono"/>
                  <a:cs typeface="IBM Plex Mono"/>
                  <a:sym typeface="IBM Plex Mono"/>
                </a:rPr>
                <a:t>06</a:t>
              </a:r>
            </a:p>
          </p:txBody>
        </p:sp>
        <p:sp>
          <p:nvSpPr>
            <p:cNvPr name="TextBox 92" id="92"/>
            <p:cNvSpPr txBox="true"/>
            <p:nvPr/>
          </p:nvSpPr>
          <p:spPr>
            <a:xfrm rot="0">
              <a:off x="355600" y="2632075"/>
              <a:ext cx="4191000" cy="32550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944"/>
                </a:lnSpc>
              </a:pPr>
              <a:r>
                <a:rPr lang="en-US" sz="1800">
                  <a:solidFill>
                    <a:srgbClr val="10213A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Source &amp; Destination Map</a:t>
              </a:r>
            </a:p>
          </p:txBody>
        </p:sp>
      </p:grpSp>
      <p:grpSp>
        <p:nvGrpSpPr>
          <p:cNvPr name="Group 93" id="93"/>
          <p:cNvGrpSpPr/>
          <p:nvPr/>
        </p:nvGrpSpPr>
        <p:grpSpPr>
          <a:xfrm rot="0">
            <a:off x="9182100" y="5857875"/>
            <a:ext cx="3714750" cy="2714625"/>
            <a:chOff x="0" y="0"/>
            <a:chExt cx="4953000" cy="3619500"/>
          </a:xfrm>
        </p:grpSpPr>
        <p:grpSp>
          <p:nvGrpSpPr>
            <p:cNvPr name="Group 94" id="94"/>
            <p:cNvGrpSpPr/>
            <p:nvPr/>
          </p:nvGrpSpPr>
          <p:grpSpPr>
            <a:xfrm rot="0">
              <a:off x="0" y="0"/>
              <a:ext cx="4953000" cy="3619500"/>
              <a:chOff x="0" y="0"/>
              <a:chExt cx="4953000" cy="3619500"/>
            </a:xfrm>
          </p:grpSpPr>
          <p:sp>
            <p:nvSpPr>
              <p:cNvPr name="Freeform 95" id="95"/>
              <p:cNvSpPr/>
              <p:nvPr/>
            </p:nvSpPr>
            <p:spPr>
              <a:xfrm flipH="false" flipV="false" rot="0">
                <a:off x="0" y="0"/>
                <a:ext cx="4953000" cy="3619500"/>
              </a:xfrm>
              <a:custGeom>
                <a:avLst/>
                <a:gdLst/>
                <a:ahLst/>
                <a:cxnLst/>
                <a:rect r="r" b="b" t="t" l="l"/>
                <a:pathLst>
                  <a:path h="3619500" w="4953000">
                    <a:moveTo>
                      <a:pt x="0" y="0"/>
                    </a:moveTo>
                    <a:lnTo>
                      <a:pt x="4953000" y="0"/>
                    </a:lnTo>
                    <a:lnTo>
                      <a:pt x="4953000" y="3619500"/>
                    </a:lnTo>
                    <a:lnTo>
                      <a:pt x="0" y="3619500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96" id="96"/>
              <p:cNvSpPr txBox="true"/>
              <p:nvPr/>
            </p:nvSpPr>
            <p:spPr>
              <a:xfrm>
                <a:off x="0" y="-38100"/>
                <a:ext cx="4953000" cy="36576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grpSp>
          <p:nvGrpSpPr>
            <p:cNvPr name="Group 97" id="97"/>
            <p:cNvGrpSpPr/>
            <p:nvPr/>
          </p:nvGrpSpPr>
          <p:grpSpPr>
            <a:xfrm rot="0">
              <a:off x="1524000" y="1841500"/>
              <a:ext cx="431800" cy="571500"/>
              <a:chOff x="0" y="0"/>
              <a:chExt cx="431800" cy="571500"/>
            </a:xfrm>
          </p:grpSpPr>
          <p:sp>
            <p:nvSpPr>
              <p:cNvPr name="Freeform 98" id="98"/>
              <p:cNvSpPr/>
              <p:nvPr/>
            </p:nvSpPr>
            <p:spPr>
              <a:xfrm flipH="false" flipV="false" rot="0">
                <a:off x="0" y="0"/>
                <a:ext cx="431800" cy="571500"/>
              </a:xfrm>
              <a:custGeom>
                <a:avLst/>
                <a:gdLst/>
                <a:ahLst/>
                <a:cxnLst/>
                <a:rect r="r" b="b" t="t" l="l"/>
                <a:pathLst>
                  <a:path h="571500" w="431800">
                    <a:moveTo>
                      <a:pt x="0" y="0"/>
                    </a:moveTo>
                    <a:lnTo>
                      <a:pt x="431800" y="0"/>
                    </a:lnTo>
                    <a:lnTo>
                      <a:pt x="431800" y="571500"/>
                    </a:lnTo>
                    <a:lnTo>
                      <a:pt x="0" y="571500"/>
                    </a:lnTo>
                    <a:close/>
                  </a:path>
                </a:pathLst>
              </a:custGeom>
              <a:solidFill>
                <a:srgbClr val="2475FF">
                  <a:alpha val="84706"/>
                </a:srgbClr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99" id="99"/>
              <p:cNvSpPr txBox="true"/>
              <p:nvPr/>
            </p:nvSpPr>
            <p:spPr>
              <a:xfrm>
                <a:off x="0" y="-38100"/>
                <a:ext cx="431800" cy="6096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grpSp>
          <p:nvGrpSpPr>
            <p:cNvPr name="Group 100" id="100"/>
            <p:cNvGrpSpPr/>
            <p:nvPr/>
          </p:nvGrpSpPr>
          <p:grpSpPr>
            <a:xfrm rot="0">
              <a:off x="2311400" y="1562100"/>
              <a:ext cx="431800" cy="850900"/>
              <a:chOff x="0" y="0"/>
              <a:chExt cx="431800" cy="850900"/>
            </a:xfrm>
          </p:grpSpPr>
          <p:sp>
            <p:nvSpPr>
              <p:cNvPr name="Freeform 101" id="101"/>
              <p:cNvSpPr/>
              <p:nvPr/>
            </p:nvSpPr>
            <p:spPr>
              <a:xfrm flipH="false" flipV="false" rot="0">
                <a:off x="0" y="0"/>
                <a:ext cx="431800" cy="850900"/>
              </a:xfrm>
              <a:custGeom>
                <a:avLst/>
                <a:gdLst/>
                <a:ahLst/>
                <a:cxnLst/>
                <a:rect r="r" b="b" t="t" l="l"/>
                <a:pathLst>
                  <a:path h="850900" w="431800">
                    <a:moveTo>
                      <a:pt x="0" y="0"/>
                    </a:moveTo>
                    <a:lnTo>
                      <a:pt x="431800" y="0"/>
                    </a:lnTo>
                    <a:lnTo>
                      <a:pt x="431800" y="850900"/>
                    </a:lnTo>
                    <a:lnTo>
                      <a:pt x="0" y="850900"/>
                    </a:lnTo>
                    <a:close/>
                  </a:path>
                </a:pathLst>
              </a:custGeom>
              <a:solidFill>
                <a:srgbClr val="2475FF">
                  <a:alpha val="84706"/>
                </a:srgbClr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02" id="102"/>
              <p:cNvSpPr txBox="true"/>
              <p:nvPr/>
            </p:nvSpPr>
            <p:spPr>
              <a:xfrm>
                <a:off x="0" y="-38100"/>
                <a:ext cx="431800" cy="8890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grpSp>
          <p:nvGrpSpPr>
            <p:cNvPr name="Group 103" id="103"/>
            <p:cNvGrpSpPr/>
            <p:nvPr/>
          </p:nvGrpSpPr>
          <p:grpSpPr>
            <a:xfrm rot="0">
              <a:off x="3098800" y="1282700"/>
              <a:ext cx="431800" cy="1130300"/>
              <a:chOff x="0" y="0"/>
              <a:chExt cx="431800" cy="1130300"/>
            </a:xfrm>
          </p:grpSpPr>
          <p:sp>
            <p:nvSpPr>
              <p:cNvPr name="Freeform 104" id="104"/>
              <p:cNvSpPr/>
              <p:nvPr/>
            </p:nvSpPr>
            <p:spPr>
              <a:xfrm flipH="false" flipV="false" rot="0">
                <a:off x="0" y="0"/>
                <a:ext cx="431800" cy="1130300"/>
              </a:xfrm>
              <a:custGeom>
                <a:avLst/>
                <a:gdLst/>
                <a:ahLst/>
                <a:cxnLst/>
                <a:rect r="r" b="b" t="t" l="l"/>
                <a:pathLst>
                  <a:path h="1130300" w="431800">
                    <a:moveTo>
                      <a:pt x="0" y="0"/>
                    </a:moveTo>
                    <a:lnTo>
                      <a:pt x="431800" y="0"/>
                    </a:lnTo>
                    <a:lnTo>
                      <a:pt x="431800" y="1130300"/>
                    </a:lnTo>
                    <a:lnTo>
                      <a:pt x="0" y="1130300"/>
                    </a:lnTo>
                    <a:close/>
                  </a:path>
                </a:pathLst>
              </a:custGeom>
              <a:solidFill>
                <a:srgbClr val="35D2FF">
                  <a:alpha val="84706"/>
                </a:srgbClr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05" id="105"/>
              <p:cNvSpPr txBox="true"/>
              <p:nvPr/>
            </p:nvSpPr>
            <p:spPr>
              <a:xfrm>
                <a:off x="0" y="-38100"/>
                <a:ext cx="431800" cy="11684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sp>
          <p:nvSpPr>
            <p:cNvPr name="TextBox 106" id="106"/>
            <p:cNvSpPr txBox="true"/>
            <p:nvPr/>
          </p:nvSpPr>
          <p:spPr>
            <a:xfrm rot="0">
              <a:off x="355600" y="352425"/>
              <a:ext cx="698500" cy="3333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en-US" sz="1500">
                  <a:solidFill>
                    <a:srgbClr val="35D2FF"/>
                  </a:solidFill>
                  <a:latin typeface="IBM Plex Mono"/>
                  <a:ea typeface="IBM Plex Mono"/>
                  <a:cs typeface="IBM Plex Mono"/>
                  <a:sym typeface="IBM Plex Mono"/>
                </a:rPr>
                <a:t>07</a:t>
              </a:r>
            </a:p>
          </p:txBody>
        </p:sp>
        <p:sp>
          <p:nvSpPr>
            <p:cNvPr name="TextBox 107" id="107"/>
            <p:cNvSpPr txBox="true"/>
            <p:nvPr/>
          </p:nvSpPr>
          <p:spPr>
            <a:xfrm rot="0">
              <a:off x="355600" y="2632075"/>
              <a:ext cx="4191000" cy="32550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944"/>
                </a:lnSpc>
              </a:pPr>
              <a:r>
                <a:rPr lang="en-US" sz="1800">
                  <a:solidFill>
                    <a:srgbClr val="10213A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Executive Risk Gauge</a:t>
              </a:r>
            </a:p>
          </p:txBody>
        </p:sp>
      </p:grpSp>
      <p:sp>
        <p:nvSpPr>
          <p:cNvPr name="Freeform 108" id="108"/>
          <p:cNvSpPr/>
          <p:nvPr/>
        </p:nvSpPr>
        <p:spPr>
          <a:xfrm flipH="false" flipV="false" rot="0">
            <a:off x="0" y="812817"/>
            <a:ext cx="18288000" cy="9474183"/>
          </a:xfrm>
          <a:custGeom>
            <a:avLst/>
            <a:gdLst/>
            <a:ahLst/>
            <a:cxnLst/>
            <a:rect r="r" b="b" t="t" l="l"/>
            <a:pathLst>
              <a:path h="9474183" w="18288000">
                <a:moveTo>
                  <a:pt x="0" y="0"/>
                </a:moveTo>
                <a:lnTo>
                  <a:pt x="18288000" y="0"/>
                </a:lnTo>
                <a:lnTo>
                  <a:pt x="18288000" y="9474183"/>
                </a:lnTo>
                <a:lnTo>
                  <a:pt x="0" y="947418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6104" t="-8895" r="0" b="-6951"/>
            </a:stretch>
          </a:blipFill>
        </p:spPr>
      </p:sp>
      <p:sp>
        <p:nvSpPr>
          <p:cNvPr name="TextBox 109" id="109"/>
          <p:cNvSpPr txBox="true"/>
          <p:nvPr/>
        </p:nvSpPr>
        <p:spPr>
          <a:xfrm rot="0">
            <a:off x="990600" y="285750"/>
            <a:ext cx="4762500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162" b="true">
                <a:solidFill>
                  <a:srgbClr val="2475F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FRAMEWORK / 05</a:t>
            </a:r>
          </a:p>
        </p:txBody>
      </p:sp>
      <p:sp>
        <p:nvSpPr>
          <p:cNvPr name="TextBox 110" id="110"/>
          <p:cNvSpPr txBox="true"/>
          <p:nvPr/>
        </p:nvSpPr>
        <p:spPr>
          <a:xfrm rot="0">
            <a:off x="990600" y="9696450"/>
            <a:ext cx="6667500" cy="190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74"/>
              </a:lnSpc>
            </a:pPr>
            <a:r>
              <a:rPr lang="en-US" sz="1125" spc="89">
                <a:solidFill>
                  <a:srgbClr val="8495AA"/>
                </a:solidFill>
                <a:latin typeface="IBM Plex Mono"/>
                <a:ea typeface="IBM Plex Mono"/>
                <a:cs typeface="IBM Plex Mono"/>
                <a:sym typeface="IBM Plex Mono"/>
              </a:rPr>
              <a:t>ADVANCED THREAT INCIDENT ANALYTICS  •  2026</a:t>
            </a:r>
          </a:p>
        </p:txBody>
      </p:sp>
      <p:sp>
        <p:nvSpPr>
          <p:cNvPr name="TextBox 111" id="111"/>
          <p:cNvSpPr txBox="true"/>
          <p:nvPr/>
        </p:nvSpPr>
        <p:spPr>
          <a:xfrm rot="0">
            <a:off x="16764000" y="9677400"/>
            <a:ext cx="571500" cy="198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679"/>
              </a:lnSpc>
            </a:pPr>
            <a:r>
              <a:rPr lang="en-US" sz="1200">
                <a:solidFill>
                  <a:srgbClr val="2475FF"/>
                </a:solidFill>
                <a:latin typeface="IBM Plex Mono"/>
                <a:ea typeface="IBM Plex Mono"/>
                <a:cs typeface="IBM Plex Mono"/>
                <a:sym typeface="IBM Plex Mono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90600" y="523875"/>
            <a:ext cx="4762500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162" b="true">
                <a:solidFill>
                  <a:srgbClr val="2475F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FRAMEWORK / 06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990600" y="1038225"/>
            <a:ext cx="14287500" cy="5219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95"/>
              </a:lnSpc>
            </a:pPr>
            <a:r>
              <a:rPr lang="en-US" sz="3900">
                <a:solidFill>
                  <a:srgbClr val="10213A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Project Milestones &amp; Timeline</a:t>
            </a:r>
          </a:p>
        </p:txBody>
      </p:sp>
      <p:sp>
        <p:nvSpPr>
          <p:cNvPr name="AutoShape 4" id="4"/>
          <p:cNvSpPr/>
          <p:nvPr/>
        </p:nvSpPr>
        <p:spPr>
          <a:xfrm>
            <a:off x="990600" y="9477375"/>
            <a:ext cx="16306800" cy="0"/>
          </a:xfrm>
          <a:prstGeom prst="line">
            <a:avLst/>
          </a:prstGeom>
          <a:ln cap="flat" w="9525">
            <a:solidFill>
              <a:srgbClr val="CBD8E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5" id="5"/>
          <p:cNvSpPr txBox="true"/>
          <p:nvPr/>
        </p:nvSpPr>
        <p:spPr>
          <a:xfrm rot="0">
            <a:off x="990600" y="9696450"/>
            <a:ext cx="6667500" cy="190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74"/>
              </a:lnSpc>
            </a:pPr>
            <a:r>
              <a:rPr lang="en-US" sz="1125" spc="89">
                <a:solidFill>
                  <a:srgbClr val="8495AA"/>
                </a:solidFill>
                <a:latin typeface="IBM Plex Mono"/>
                <a:ea typeface="IBM Plex Mono"/>
                <a:cs typeface="IBM Plex Mono"/>
                <a:sym typeface="IBM Plex Mono"/>
              </a:rPr>
              <a:t>ADVANCED THREAT INCIDENT ANALYTICS  •  2026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6764000" y="9677400"/>
            <a:ext cx="571500" cy="198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679"/>
              </a:lnSpc>
            </a:pPr>
            <a:r>
              <a:rPr lang="en-US" sz="1200">
                <a:solidFill>
                  <a:srgbClr val="2475FF"/>
                </a:solidFill>
                <a:latin typeface="IBM Plex Mono"/>
                <a:ea typeface="IBM Plex Mono"/>
                <a:cs typeface="IBM Plex Mono"/>
                <a:sym typeface="IBM Plex Mono"/>
              </a:rPr>
              <a:t>06</a:t>
            </a:r>
          </a:p>
        </p:txBody>
      </p:sp>
      <p:sp>
        <p:nvSpPr>
          <p:cNvPr name="AutoShape 7" id="7"/>
          <p:cNvSpPr/>
          <p:nvPr/>
        </p:nvSpPr>
        <p:spPr>
          <a:xfrm>
            <a:off x="1714500" y="4762500"/>
            <a:ext cx="14859000" cy="0"/>
          </a:xfrm>
          <a:prstGeom prst="line">
            <a:avLst/>
          </a:prstGeom>
          <a:ln cap="rnd" w="47625">
            <a:solidFill>
              <a:srgbClr val="CBD8E8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8" id="8"/>
          <p:cNvGrpSpPr/>
          <p:nvPr/>
        </p:nvGrpSpPr>
        <p:grpSpPr>
          <a:xfrm rot="0">
            <a:off x="1476375" y="3619500"/>
            <a:ext cx="3143250" cy="2617946"/>
            <a:chOff x="0" y="0"/>
            <a:chExt cx="4191000" cy="3490595"/>
          </a:xfrm>
        </p:grpSpPr>
        <p:grpSp>
          <p:nvGrpSpPr>
            <p:cNvPr name="Group 9" id="9"/>
            <p:cNvGrpSpPr/>
            <p:nvPr/>
          </p:nvGrpSpPr>
          <p:grpSpPr>
            <a:xfrm rot="0">
              <a:off x="0" y="1104900"/>
              <a:ext cx="838200" cy="838200"/>
              <a:chOff x="0" y="0"/>
              <a:chExt cx="838200" cy="83820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38200" cy="838200"/>
              </a:xfrm>
              <a:custGeom>
                <a:avLst/>
                <a:gdLst/>
                <a:ahLst/>
                <a:cxnLst/>
                <a:rect r="r" b="b" t="t" l="l"/>
                <a:pathLst>
                  <a:path h="838200" w="838200">
                    <a:moveTo>
                      <a:pt x="419100" y="0"/>
                    </a:moveTo>
                    <a:cubicBezTo>
                      <a:pt x="650563" y="0"/>
                      <a:pt x="838200" y="187637"/>
                      <a:pt x="838200" y="419100"/>
                    </a:cubicBezTo>
                    <a:cubicBezTo>
                      <a:pt x="838200" y="650563"/>
                      <a:pt x="650563" y="838200"/>
                      <a:pt x="419100" y="838200"/>
                    </a:cubicBezTo>
                    <a:cubicBezTo>
                      <a:pt x="187637" y="838200"/>
                      <a:pt x="0" y="650563"/>
                      <a:pt x="0" y="419100"/>
                    </a:cubicBezTo>
                    <a:cubicBezTo>
                      <a:pt x="0" y="187637"/>
                      <a:pt x="187637" y="0"/>
                      <a:pt x="419100" y="0"/>
                    </a:cubicBezTo>
                    <a:close/>
                  </a:path>
                </a:pathLst>
              </a:custGeom>
              <a:solidFill>
                <a:srgbClr val="2475FF"/>
              </a:solidFill>
              <a:ln cap="sq">
                <a:noFill/>
                <a:prstDash val="solid"/>
                <a:miter/>
              </a:ln>
            </p:spPr>
          </p:sp>
        </p:grpSp>
        <p:sp>
          <p:nvSpPr>
            <p:cNvPr name="TextBox 11" id="11"/>
            <p:cNvSpPr txBox="true"/>
            <p:nvPr/>
          </p:nvSpPr>
          <p:spPr>
            <a:xfrm rot="0">
              <a:off x="0" y="-28575"/>
              <a:ext cx="2286000" cy="3333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en-US" sz="1500">
                  <a:solidFill>
                    <a:srgbClr val="2475FF"/>
                  </a:solidFill>
                  <a:latin typeface="IBM Plex Mono"/>
                  <a:ea typeface="IBM Plex Mono"/>
                  <a:cs typeface="IBM Plex Mono"/>
                  <a:sym typeface="IBM Plex Mono"/>
                </a:rPr>
                <a:t>02 JUL</a:t>
              </a:r>
            </a:p>
          </p:txBody>
        </p:sp>
        <p:sp>
          <p:nvSpPr>
            <p:cNvPr name="TextBox 12" id="12"/>
            <p:cNvSpPr txBox="true"/>
            <p:nvPr/>
          </p:nvSpPr>
          <p:spPr>
            <a:xfrm rot="0">
              <a:off x="0" y="2368550"/>
              <a:ext cx="4191000" cy="40462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268"/>
                </a:lnSpc>
              </a:pPr>
              <a:r>
                <a:rPr lang="en-US" sz="2100">
                  <a:solidFill>
                    <a:srgbClr val="10213A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Project Kickoff</a:t>
              </a:r>
            </a:p>
          </p:txBody>
        </p:sp>
        <p:sp>
          <p:nvSpPr>
            <p:cNvPr name="TextBox 13" id="13"/>
            <p:cNvSpPr txBox="true"/>
            <p:nvPr/>
          </p:nvSpPr>
          <p:spPr>
            <a:xfrm rot="0">
              <a:off x="0" y="3155950"/>
              <a:ext cx="4191000" cy="3346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126"/>
                </a:lnSpc>
              </a:pPr>
              <a:r>
                <a:rPr lang="en-US" sz="1575">
                  <a:solidFill>
                    <a:srgbClr val="5F7188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Initial setup and scope alignment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5572125" y="3619500"/>
            <a:ext cx="3143250" cy="2884646"/>
            <a:chOff x="0" y="0"/>
            <a:chExt cx="4191000" cy="3846195"/>
          </a:xfrm>
        </p:grpSpPr>
        <p:grpSp>
          <p:nvGrpSpPr>
            <p:cNvPr name="Group 15" id="15"/>
            <p:cNvGrpSpPr/>
            <p:nvPr/>
          </p:nvGrpSpPr>
          <p:grpSpPr>
            <a:xfrm rot="0">
              <a:off x="0" y="1104900"/>
              <a:ext cx="838200" cy="838200"/>
              <a:chOff x="0" y="0"/>
              <a:chExt cx="838200" cy="83820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38200" cy="838200"/>
              </a:xfrm>
              <a:custGeom>
                <a:avLst/>
                <a:gdLst/>
                <a:ahLst/>
                <a:cxnLst/>
                <a:rect r="r" b="b" t="t" l="l"/>
                <a:pathLst>
                  <a:path h="838200" w="838200">
                    <a:moveTo>
                      <a:pt x="419100" y="0"/>
                    </a:moveTo>
                    <a:cubicBezTo>
                      <a:pt x="650563" y="0"/>
                      <a:pt x="838200" y="187637"/>
                      <a:pt x="838200" y="419100"/>
                    </a:cubicBezTo>
                    <a:cubicBezTo>
                      <a:pt x="838200" y="650563"/>
                      <a:pt x="650563" y="838200"/>
                      <a:pt x="419100" y="838200"/>
                    </a:cubicBezTo>
                    <a:cubicBezTo>
                      <a:pt x="187637" y="838200"/>
                      <a:pt x="0" y="650563"/>
                      <a:pt x="0" y="419100"/>
                    </a:cubicBezTo>
                    <a:cubicBezTo>
                      <a:pt x="0" y="187637"/>
                      <a:pt x="187637" y="0"/>
                      <a:pt x="419100" y="0"/>
                    </a:cubicBezTo>
                    <a:close/>
                  </a:path>
                </a:pathLst>
              </a:custGeom>
              <a:solidFill>
                <a:srgbClr val="2475FF"/>
              </a:solidFill>
              <a:ln cap="sq">
                <a:noFill/>
                <a:prstDash val="solid"/>
                <a:miter/>
              </a:ln>
            </p:spPr>
          </p:sp>
        </p:grpSp>
        <p:sp>
          <p:nvSpPr>
            <p:cNvPr name="TextBox 17" id="17"/>
            <p:cNvSpPr txBox="true"/>
            <p:nvPr/>
          </p:nvSpPr>
          <p:spPr>
            <a:xfrm rot="0">
              <a:off x="0" y="-28575"/>
              <a:ext cx="2286000" cy="3333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en-US" sz="1500">
                  <a:solidFill>
                    <a:srgbClr val="2475FF"/>
                  </a:solidFill>
                  <a:latin typeface="IBM Plex Mono"/>
                  <a:ea typeface="IBM Plex Mono"/>
                  <a:cs typeface="IBM Plex Mono"/>
                  <a:sym typeface="IBM Plex Mono"/>
                </a:rPr>
                <a:t>16 JUL</a:t>
              </a:r>
            </a:p>
          </p:txBody>
        </p:sp>
        <p:sp>
          <p:nvSpPr>
            <p:cNvPr name="TextBox 18" id="18"/>
            <p:cNvSpPr txBox="true"/>
            <p:nvPr/>
          </p:nvSpPr>
          <p:spPr>
            <a:xfrm rot="0">
              <a:off x="0" y="2368550"/>
              <a:ext cx="4191000" cy="40462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268"/>
                </a:lnSpc>
              </a:pPr>
              <a:r>
                <a:rPr lang="en-US" sz="2100">
                  <a:solidFill>
                    <a:srgbClr val="10213A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Data Engineering</a:t>
              </a:r>
            </a:p>
          </p:txBody>
        </p:sp>
        <p:sp>
          <p:nvSpPr>
            <p:cNvPr name="TextBox 19" id="19"/>
            <p:cNvSpPr txBox="true"/>
            <p:nvPr/>
          </p:nvSpPr>
          <p:spPr>
            <a:xfrm rot="0">
              <a:off x="0" y="3155950"/>
              <a:ext cx="4191000" cy="6902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126"/>
                </a:lnSpc>
              </a:pPr>
              <a:r>
                <a:rPr lang="en-US" sz="1575">
                  <a:solidFill>
                    <a:srgbClr val="5F7188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Clean pipeline and model completed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9667875" y="3619500"/>
            <a:ext cx="3143250" cy="2617946"/>
            <a:chOff x="0" y="0"/>
            <a:chExt cx="4191000" cy="3490595"/>
          </a:xfrm>
        </p:grpSpPr>
        <p:grpSp>
          <p:nvGrpSpPr>
            <p:cNvPr name="Group 21" id="21"/>
            <p:cNvGrpSpPr/>
            <p:nvPr/>
          </p:nvGrpSpPr>
          <p:grpSpPr>
            <a:xfrm rot="0">
              <a:off x="0" y="1104900"/>
              <a:ext cx="838200" cy="838200"/>
              <a:chOff x="0" y="0"/>
              <a:chExt cx="838200" cy="838200"/>
            </a:xfrm>
          </p:grpSpPr>
          <p:sp>
            <p:nvSpPr>
              <p:cNvPr name="Freeform 22" id="22"/>
              <p:cNvSpPr/>
              <p:nvPr/>
            </p:nvSpPr>
            <p:spPr>
              <a:xfrm flipH="false" flipV="false" rot="0">
                <a:off x="0" y="0"/>
                <a:ext cx="838200" cy="838200"/>
              </a:xfrm>
              <a:custGeom>
                <a:avLst/>
                <a:gdLst/>
                <a:ahLst/>
                <a:cxnLst/>
                <a:rect r="r" b="b" t="t" l="l"/>
                <a:pathLst>
                  <a:path h="838200" w="838200">
                    <a:moveTo>
                      <a:pt x="419100" y="0"/>
                    </a:moveTo>
                    <a:cubicBezTo>
                      <a:pt x="650563" y="0"/>
                      <a:pt x="838200" y="187637"/>
                      <a:pt x="838200" y="419100"/>
                    </a:cubicBezTo>
                    <a:cubicBezTo>
                      <a:pt x="838200" y="650563"/>
                      <a:pt x="650563" y="838200"/>
                      <a:pt x="419100" y="838200"/>
                    </a:cubicBezTo>
                    <a:cubicBezTo>
                      <a:pt x="187637" y="838200"/>
                      <a:pt x="0" y="650563"/>
                      <a:pt x="0" y="419100"/>
                    </a:cubicBezTo>
                    <a:cubicBezTo>
                      <a:pt x="0" y="187637"/>
                      <a:pt x="187637" y="0"/>
                      <a:pt x="419100" y="0"/>
                    </a:cubicBezTo>
                    <a:close/>
                  </a:path>
                </a:pathLst>
              </a:custGeom>
              <a:solidFill>
                <a:srgbClr val="2475FF"/>
              </a:solidFill>
              <a:ln cap="sq">
                <a:noFill/>
                <a:prstDash val="solid"/>
                <a:miter/>
              </a:ln>
            </p:spPr>
          </p:sp>
        </p:grpSp>
        <p:sp>
          <p:nvSpPr>
            <p:cNvPr name="TextBox 23" id="23"/>
            <p:cNvSpPr txBox="true"/>
            <p:nvPr/>
          </p:nvSpPr>
          <p:spPr>
            <a:xfrm rot="0">
              <a:off x="0" y="-28575"/>
              <a:ext cx="2286000" cy="3333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en-US" sz="1500">
                  <a:solidFill>
                    <a:srgbClr val="2475FF"/>
                  </a:solidFill>
                  <a:latin typeface="IBM Plex Mono"/>
                  <a:ea typeface="IBM Plex Mono"/>
                  <a:cs typeface="IBM Plex Mono"/>
                  <a:sym typeface="IBM Plex Mono"/>
                </a:rPr>
                <a:t>06 AUG</a:t>
              </a:r>
            </a:p>
          </p:txBody>
        </p:sp>
        <p:sp>
          <p:nvSpPr>
            <p:cNvPr name="TextBox 24" id="24"/>
            <p:cNvSpPr txBox="true"/>
            <p:nvPr/>
          </p:nvSpPr>
          <p:spPr>
            <a:xfrm rot="0">
              <a:off x="0" y="2378075"/>
              <a:ext cx="4191000" cy="32550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944"/>
                </a:lnSpc>
              </a:pPr>
              <a:r>
                <a:rPr lang="en-US" sz="1800">
                  <a:solidFill>
                    <a:srgbClr val="10213A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Visualization Deployment</a:t>
              </a:r>
            </a:p>
          </p:txBody>
        </p:sp>
        <p:sp>
          <p:nvSpPr>
            <p:cNvPr name="TextBox 25" id="25"/>
            <p:cNvSpPr txBox="true"/>
            <p:nvPr/>
          </p:nvSpPr>
          <p:spPr>
            <a:xfrm rot="0">
              <a:off x="0" y="3155950"/>
              <a:ext cx="4191000" cy="3346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126"/>
                </a:lnSpc>
              </a:pPr>
              <a:r>
                <a:rPr lang="en-US" sz="1575">
                  <a:solidFill>
                    <a:srgbClr val="5F7188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Interactive module released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13763625" y="3619500"/>
            <a:ext cx="3143250" cy="2617946"/>
            <a:chOff x="0" y="0"/>
            <a:chExt cx="4191000" cy="3490595"/>
          </a:xfrm>
        </p:grpSpPr>
        <p:grpSp>
          <p:nvGrpSpPr>
            <p:cNvPr name="Group 27" id="27"/>
            <p:cNvGrpSpPr/>
            <p:nvPr/>
          </p:nvGrpSpPr>
          <p:grpSpPr>
            <a:xfrm rot="0">
              <a:off x="0" y="1104900"/>
              <a:ext cx="838200" cy="838200"/>
              <a:chOff x="0" y="0"/>
              <a:chExt cx="838200" cy="838200"/>
            </a:xfrm>
          </p:grpSpPr>
          <p:sp>
            <p:nvSpPr>
              <p:cNvPr name="Freeform 28" id="28"/>
              <p:cNvSpPr/>
              <p:nvPr/>
            </p:nvSpPr>
            <p:spPr>
              <a:xfrm flipH="false" flipV="false" rot="0">
                <a:off x="0" y="0"/>
                <a:ext cx="838200" cy="838200"/>
              </a:xfrm>
              <a:custGeom>
                <a:avLst/>
                <a:gdLst/>
                <a:ahLst/>
                <a:cxnLst/>
                <a:rect r="r" b="b" t="t" l="l"/>
                <a:pathLst>
                  <a:path h="838200" w="838200">
                    <a:moveTo>
                      <a:pt x="419100" y="0"/>
                    </a:moveTo>
                    <a:cubicBezTo>
                      <a:pt x="650563" y="0"/>
                      <a:pt x="838200" y="187637"/>
                      <a:pt x="838200" y="419100"/>
                    </a:cubicBezTo>
                    <a:cubicBezTo>
                      <a:pt x="838200" y="650563"/>
                      <a:pt x="650563" y="838200"/>
                      <a:pt x="419100" y="838200"/>
                    </a:cubicBezTo>
                    <a:cubicBezTo>
                      <a:pt x="187637" y="838200"/>
                      <a:pt x="0" y="650563"/>
                      <a:pt x="0" y="419100"/>
                    </a:cubicBezTo>
                    <a:cubicBezTo>
                      <a:pt x="0" y="187637"/>
                      <a:pt x="187637" y="0"/>
                      <a:pt x="419100" y="0"/>
                    </a:cubicBezTo>
                    <a:close/>
                  </a:path>
                </a:pathLst>
              </a:custGeom>
              <a:solidFill>
                <a:srgbClr val="35D2FF"/>
              </a:solidFill>
              <a:ln cap="sq">
                <a:noFill/>
                <a:prstDash val="solid"/>
                <a:miter/>
              </a:ln>
            </p:spPr>
          </p:sp>
        </p:grpSp>
        <p:sp>
          <p:nvSpPr>
            <p:cNvPr name="TextBox 29" id="29"/>
            <p:cNvSpPr txBox="true"/>
            <p:nvPr/>
          </p:nvSpPr>
          <p:spPr>
            <a:xfrm rot="0">
              <a:off x="0" y="-28575"/>
              <a:ext cx="2286000" cy="3333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en-US" sz="1500">
                  <a:solidFill>
                    <a:srgbClr val="2475FF"/>
                  </a:solidFill>
                  <a:latin typeface="IBM Plex Mono"/>
                  <a:ea typeface="IBM Plex Mono"/>
                  <a:cs typeface="IBM Plex Mono"/>
                  <a:sym typeface="IBM Plex Mono"/>
                </a:rPr>
                <a:t>13 AUG</a:t>
              </a:r>
            </a:p>
          </p:txBody>
        </p:sp>
        <p:sp>
          <p:nvSpPr>
            <p:cNvPr name="TextBox 30" id="30"/>
            <p:cNvSpPr txBox="true"/>
            <p:nvPr/>
          </p:nvSpPr>
          <p:spPr>
            <a:xfrm rot="0">
              <a:off x="0" y="2368550"/>
              <a:ext cx="4191000" cy="40462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268"/>
                </a:lnSpc>
              </a:pPr>
              <a:r>
                <a:rPr lang="en-US" sz="2100">
                  <a:solidFill>
                    <a:srgbClr val="10213A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Final Validation</a:t>
              </a:r>
            </a:p>
          </p:txBody>
        </p:sp>
        <p:sp>
          <p:nvSpPr>
            <p:cNvPr name="TextBox 31" id="31"/>
            <p:cNvSpPr txBox="true"/>
            <p:nvPr/>
          </p:nvSpPr>
          <p:spPr>
            <a:xfrm rot="0">
              <a:off x="0" y="3155950"/>
              <a:ext cx="4191000" cy="3346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126"/>
                </a:lnSpc>
              </a:pPr>
              <a:r>
                <a:rPr lang="en-US" sz="1575">
                  <a:solidFill>
                    <a:srgbClr val="5F7188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Testing, review and sign-off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>
  <p:cSld>
    <p:bg>
      <p:bgPr>
        <a:solidFill>
          <a:srgbClr val="07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90600" y="523875"/>
            <a:ext cx="4762500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162" b="true">
                <a:solidFill>
                  <a:srgbClr val="35D2F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FRAMEWORK / 07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990600" y="1038225"/>
            <a:ext cx="14287500" cy="5219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95"/>
              </a:lnSpc>
            </a:pPr>
            <a:r>
              <a:rPr lang="en-US" sz="3900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Challenges &amp; Resolutions</a:t>
            </a:r>
          </a:p>
        </p:txBody>
      </p:sp>
      <p:sp>
        <p:nvSpPr>
          <p:cNvPr name="AutoShape 4" id="4"/>
          <p:cNvSpPr/>
          <p:nvPr/>
        </p:nvSpPr>
        <p:spPr>
          <a:xfrm>
            <a:off x="990600" y="9477375"/>
            <a:ext cx="16306800" cy="0"/>
          </a:xfrm>
          <a:prstGeom prst="line">
            <a:avLst/>
          </a:prstGeom>
          <a:ln cap="flat" w="9525">
            <a:solidFill>
              <a:srgbClr val="24415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5" id="5"/>
          <p:cNvSpPr txBox="true"/>
          <p:nvPr/>
        </p:nvSpPr>
        <p:spPr>
          <a:xfrm rot="0">
            <a:off x="990600" y="9696450"/>
            <a:ext cx="6667500" cy="190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74"/>
              </a:lnSpc>
            </a:pPr>
            <a:r>
              <a:rPr lang="en-US" sz="1125" spc="89">
                <a:solidFill>
                  <a:srgbClr val="7188A3"/>
                </a:solidFill>
                <a:latin typeface="IBM Plex Mono"/>
                <a:ea typeface="IBM Plex Mono"/>
                <a:cs typeface="IBM Plex Mono"/>
                <a:sym typeface="IBM Plex Mono"/>
              </a:rPr>
              <a:t>ADVANCED THREAT INCIDENT ANALYTICS  •  2026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6764000" y="9677400"/>
            <a:ext cx="571500" cy="198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679"/>
              </a:lnSpc>
            </a:pPr>
            <a:r>
              <a:rPr lang="en-US" sz="1200">
                <a:solidFill>
                  <a:srgbClr val="35D2FF"/>
                </a:solidFill>
                <a:latin typeface="IBM Plex Mono"/>
                <a:ea typeface="IBM Plex Mono"/>
                <a:cs typeface="IBM Plex Mono"/>
                <a:sym typeface="IBM Plex Mono"/>
              </a:rPr>
              <a:t>07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428750" y="2543175"/>
            <a:ext cx="5715000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162" b="true">
                <a:solidFill>
                  <a:srgbClr val="FFB454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CHALLENGE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9906000" y="2543175"/>
            <a:ext cx="5715000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162" b="true">
                <a:solidFill>
                  <a:srgbClr val="36C98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RESOLUTION</a:t>
            </a:r>
          </a:p>
        </p:txBody>
      </p:sp>
      <p:sp>
        <p:nvSpPr>
          <p:cNvPr name="AutoShape 9" id="9"/>
          <p:cNvSpPr/>
          <p:nvPr/>
        </p:nvSpPr>
        <p:spPr>
          <a:xfrm>
            <a:off x="8858250" y="2714625"/>
            <a:ext cx="0" cy="5524500"/>
          </a:xfrm>
          <a:prstGeom prst="line">
            <a:avLst/>
          </a:prstGeom>
          <a:ln cap="flat" w="19050">
            <a:solidFill>
              <a:srgbClr val="294763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0" id="10"/>
          <p:cNvGrpSpPr/>
          <p:nvPr/>
        </p:nvGrpSpPr>
        <p:grpSpPr>
          <a:xfrm rot="0">
            <a:off x="1000125" y="3543300"/>
            <a:ext cx="6619875" cy="723900"/>
            <a:chOff x="0" y="0"/>
            <a:chExt cx="8826500" cy="965200"/>
          </a:xfrm>
        </p:grpSpPr>
        <p:grpSp>
          <p:nvGrpSpPr>
            <p:cNvPr name="Group 11" id="11"/>
            <p:cNvGrpSpPr/>
            <p:nvPr/>
          </p:nvGrpSpPr>
          <p:grpSpPr>
            <a:xfrm rot="0">
              <a:off x="0" y="0"/>
              <a:ext cx="152400" cy="965200"/>
              <a:chOff x="0" y="0"/>
              <a:chExt cx="152400" cy="965200"/>
            </a:xfrm>
          </p:grpSpPr>
          <p:sp>
            <p:nvSpPr>
              <p:cNvPr name="Freeform 12" id="12"/>
              <p:cNvSpPr/>
              <p:nvPr/>
            </p:nvSpPr>
            <p:spPr>
              <a:xfrm flipH="false" flipV="false" rot="0">
                <a:off x="0" y="0"/>
                <a:ext cx="152400" cy="965200"/>
              </a:xfrm>
              <a:custGeom>
                <a:avLst/>
                <a:gdLst/>
                <a:ahLst/>
                <a:cxnLst/>
                <a:rect r="r" b="b" t="t" l="l"/>
                <a:pathLst>
                  <a:path h="965200" w="152400">
                    <a:moveTo>
                      <a:pt x="0" y="0"/>
                    </a:moveTo>
                    <a:lnTo>
                      <a:pt x="152400" y="0"/>
                    </a:lnTo>
                    <a:lnTo>
                      <a:pt x="152400" y="965200"/>
                    </a:lnTo>
                    <a:lnTo>
                      <a:pt x="0" y="965200"/>
                    </a:lnTo>
                    <a:close/>
                  </a:path>
                </a:pathLst>
              </a:custGeom>
              <a:solidFill>
                <a:srgbClr val="FFB454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3" id="13"/>
              <p:cNvSpPr txBox="true"/>
              <p:nvPr/>
            </p:nvSpPr>
            <p:spPr>
              <a:xfrm>
                <a:off x="0" y="-38100"/>
                <a:ext cx="152400" cy="10033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sp>
          <p:nvSpPr>
            <p:cNvPr name="TextBox 14" id="14"/>
            <p:cNvSpPr txBox="true"/>
            <p:nvPr/>
          </p:nvSpPr>
          <p:spPr>
            <a:xfrm rot="0">
              <a:off x="571500" y="247650"/>
              <a:ext cx="8255000" cy="41884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349"/>
                </a:lnSpc>
              </a:pPr>
              <a:r>
                <a:rPr lang="en-US" sz="2175">
                  <a:solidFill>
                    <a:srgbClr val="FFFFFF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Network retransmission duplicates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9334500" y="3638550"/>
            <a:ext cx="6762750" cy="404622"/>
            <a:chOff x="0" y="0"/>
            <a:chExt cx="9017000" cy="539496"/>
          </a:xfrm>
        </p:grpSpPr>
        <p:grpSp>
          <p:nvGrpSpPr>
            <p:cNvPr name="Group 16" id="16"/>
            <p:cNvGrpSpPr/>
            <p:nvPr/>
          </p:nvGrpSpPr>
          <p:grpSpPr>
            <a:xfrm rot="0">
              <a:off x="0" y="0"/>
              <a:ext cx="533400" cy="533400"/>
              <a:chOff x="0" y="0"/>
              <a:chExt cx="533400" cy="533400"/>
            </a:xfrm>
          </p:grpSpPr>
          <p:sp>
            <p:nvSpPr>
              <p:cNvPr name="Freeform 17" id="17"/>
              <p:cNvSpPr/>
              <p:nvPr/>
            </p:nvSpPr>
            <p:spPr>
              <a:xfrm flipH="false" flipV="false" rot="0">
                <a:off x="0" y="0"/>
                <a:ext cx="533400" cy="533400"/>
              </a:xfrm>
              <a:custGeom>
                <a:avLst/>
                <a:gdLst/>
                <a:ahLst/>
                <a:cxnLst/>
                <a:rect r="r" b="b" t="t" l="l"/>
                <a:pathLst>
                  <a:path h="533400" w="533400">
                    <a:moveTo>
                      <a:pt x="266700" y="0"/>
                    </a:moveTo>
                    <a:cubicBezTo>
                      <a:pt x="413994" y="0"/>
                      <a:pt x="533400" y="119406"/>
                      <a:pt x="533400" y="266700"/>
                    </a:cubicBezTo>
                    <a:cubicBezTo>
                      <a:pt x="533400" y="413994"/>
                      <a:pt x="413994" y="533400"/>
                      <a:pt x="266700" y="533400"/>
                    </a:cubicBezTo>
                    <a:cubicBezTo>
                      <a:pt x="119406" y="533400"/>
                      <a:pt x="0" y="413994"/>
                      <a:pt x="0" y="266700"/>
                    </a:cubicBezTo>
                    <a:cubicBezTo>
                      <a:pt x="0" y="119406"/>
                      <a:pt x="119406" y="0"/>
                      <a:pt x="266700" y="0"/>
                    </a:cubicBezTo>
                    <a:close/>
                  </a:path>
                </a:pathLst>
              </a:custGeom>
              <a:solidFill>
                <a:srgbClr val="36C98F"/>
              </a:solidFill>
              <a:ln cap="sq">
                <a:noFill/>
                <a:prstDash val="solid"/>
                <a:miter/>
              </a:ln>
            </p:spPr>
          </p:sp>
        </p:grpSp>
        <p:sp>
          <p:nvSpPr>
            <p:cNvPr name="TextBox 18" id="18"/>
            <p:cNvSpPr txBox="true"/>
            <p:nvPr/>
          </p:nvSpPr>
          <p:spPr>
            <a:xfrm rot="0">
              <a:off x="762000" y="120650"/>
              <a:ext cx="8255000" cy="41884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349"/>
                </a:lnSpc>
              </a:pPr>
              <a:r>
                <a:rPr lang="en-US" sz="2175">
                  <a:solidFill>
                    <a:srgbClr val="FFFFFF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Deduplication logic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1000125" y="5257800"/>
            <a:ext cx="6619875" cy="723900"/>
            <a:chOff x="0" y="0"/>
            <a:chExt cx="8826500" cy="965200"/>
          </a:xfrm>
        </p:grpSpPr>
        <p:grpSp>
          <p:nvGrpSpPr>
            <p:cNvPr name="Group 20" id="20"/>
            <p:cNvGrpSpPr/>
            <p:nvPr/>
          </p:nvGrpSpPr>
          <p:grpSpPr>
            <a:xfrm rot="0">
              <a:off x="0" y="0"/>
              <a:ext cx="152400" cy="965200"/>
              <a:chOff x="0" y="0"/>
              <a:chExt cx="152400" cy="965200"/>
            </a:xfrm>
          </p:grpSpPr>
          <p:sp>
            <p:nvSpPr>
              <p:cNvPr name="Freeform 21" id="21"/>
              <p:cNvSpPr/>
              <p:nvPr/>
            </p:nvSpPr>
            <p:spPr>
              <a:xfrm flipH="false" flipV="false" rot="0">
                <a:off x="0" y="0"/>
                <a:ext cx="152400" cy="965200"/>
              </a:xfrm>
              <a:custGeom>
                <a:avLst/>
                <a:gdLst/>
                <a:ahLst/>
                <a:cxnLst/>
                <a:rect r="r" b="b" t="t" l="l"/>
                <a:pathLst>
                  <a:path h="965200" w="152400">
                    <a:moveTo>
                      <a:pt x="0" y="0"/>
                    </a:moveTo>
                    <a:lnTo>
                      <a:pt x="152400" y="0"/>
                    </a:lnTo>
                    <a:lnTo>
                      <a:pt x="152400" y="965200"/>
                    </a:lnTo>
                    <a:lnTo>
                      <a:pt x="0" y="965200"/>
                    </a:lnTo>
                    <a:close/>
                  </a:path>
                </a:pathLst>
              </a:custGeom>
              <a:solidFill>
                <a:srgbClr val="FFB454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22" id="22"/>
              <p:cNvSpPr txBox="true"/>
              <p:nvPr/>
            </p:nvSpPr>
            <p:spPr>
              <a:xfrm>
                <a:off x="0" y="-38100"/>
                <a:ext cx="152400" cy="10033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sp>
          <p:nvSpPr>
            <p:cNvPr name="TextBox 23" id="23"/>
            <p:cNvSpPr txBox="true"/>
            <p:nvPr/>
          </p:nvSpPr>
          <p:spPr>
            <a:xfrm rot="0">
              <a:off x="571500" y="247650"/>
              <a:ext cx="8255000" cy="41884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349"/>
                </a:lnSpc>
              </a:pPr>
              <a:r>
                <a:rPr lang="en-US" sz="2175">
                  <a:solidFill>
                    <a:srgbClr val="FFFFFF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High-cardinality metadata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9334500" y="5353050"/>
            <a:ext cx="6762750" cy="404622"/>
            <a:chOff x="0" y="0"/>
            <a:chExt cx="9017000" cy="539496"/>
          </a:xfrm>
        </p:grpSpPr>
        <p:grpSp>
          <p:nvGrpSpPr>
            <p:cNvPr name="Group 25" id="25"/>
            <p:cNvGrpSpPr/>
            <p:nvPr/>
          </p:nvGrpSpPr>
          <p:grpSpPr>
            <a:xfrm rot="0">
              <a:off x="0" y="0"/>
              <a:ext cx="533400" cy="533400"/>
              <a:chOff x="0" y="0"/>
              <a:chExt cx="533400" cy="533400"/>
            </a:xfrm>
          </p:grpSpPr>
          <p:sp>
            <p:nvSpPr>
              <p:cNvPr name="Freeform 26" id="26"/>
              <p:cNvSpPr/>
              <p:nvPr/>
            </p:nvSpPr>
            <p:spPr>
              <a:xfrm flipH="false" flipV="false" rot="0">
                <a:off x="0" y="0"/>
                <a:ext cx="533400" cy="533400"/>
              </a:xfrm>
              <a:custGeom>
                <a:avLst/>
                <a:gdLst/>
                <a:ahLst/>
                <a:cxnLst/>
                <a:rect r="r" b="b" t="t" l="l"/>
                <a:pathLst>
                  <a:path h="533400" w="533400">
                    <a:moveTo>
                      <a:pt x="266700" y="0"/>
                    </a:moveTo>
                    <a:cubicBezTo>
                      <a:pt x="413994" y="0"/>
                      <a:pt x="533400" y="119406"/>
                      <a:pt x="533400" y="266700"/>
                    </a:cubicBezTo>
                    <a:cubicBezTo>
                      <a:pt x="533400" y="413994"/>
                      <a:pt x="413994" y="533400"/>
                      <a:pt x="266700" y="533400"/>
                    </a:cubicBezTo>
                    <a:cubicBezTo>
                      <a:pt x="119406" y="533400"/>
                      <a:pt x="0" y="413994"/>
                      <a:pt x="0" y="266700"/>
                    </a:cubicBezTo>
                    <a:cubicBezTo>
                      <a:pt x="0" y="119406"/>
                      <a:pt x="119406" y="0"/>
                      <a:pt x="266700" y="0"/>
                    </a:cubicBezTo>
                    <a:close/>
                  </a:path>
                </a:pathLst>
              </a:custGeom>
              <a:solidFill>
                <a:srgbClr val="36C98F"/>
              </a:solidFill>
              <a:ln cap="sq">
                <a:noFill/>
                <a:prstDash val="solid"/>
                <a:miter/>
              </a:ln>
            </p:spPr>
          </p:sp>
        </p:grpSp>
        <p:sp>
          <p:nvSpPr>
            <p:cNvPr name="TextBox 27" id="27"/>
            <p:cNvSpPr txBox="true"/>
            <p:nvPr/>
          </p:nvSpPr>
          <p:spPr>
            <a:xfrm rot="0">
              <a:off x="762000" y="120650"/>
              <a:ext cx="8255000" cy="41884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349"/>
                </a:lnSpc>
              </a:pPr>
              <a:r>
                <a:rPr lang="en-US" sz="2175">
                  <a:solidFill>
                    <a:srgbClr val="FFFFFF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Optimized data indexing</a:t>
              </a: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1000125" y="6972300"/>
            <a:ext cx="6619875" cy="723900"/>
            <a:chOff x="0" y="0"/>
            <a:chExt cx="8826500" cy="965200"/>
          </a:xfrm>
        </p:grpSpPr>
        <p:grpSp>
          <p:nvGrpSpPr>
            <p:cNvPr name="Group 29" id="29"/>
            <p:cNvGrpSpPr/>
            <p:nvPr/>
          </p:nvGrpSpPr>
          <p:grpSpPr>
            <a:xfrm rot="0">
              <a:off x="0" y="0"/>
              <a:ext cx="152400" cy="965200"/>
              <a:chOff x="0" y="0"/>
              <a:chExt cx="152400" cy="965200"/>
            </a:xfrm>
          </p:grpSpPr>
          <p:sp>
            <p:nvSpPr>
              <p:cNvPr name="Freeform 30" id="30"/>
              <p:cNvSpPr/>
              <p:nvPr/>
            </p:nvSpPr>
            <p:spPr>
              <a:xfrm flipH="false" flipV="false" rot="0">
                <a:off x="0" y="0"/>
                <a:ext cx="152400" cy="965200"/>
              </a:xfrm>
              <a:custGeom>
                <a:avLst/>
                <a:gdLst/>
                <a:ahLst/>
                <a:cxnLst/>
                <a:rect r="r" b="b" t="t" l="l"/>
                <a:pathLst>
                  <a:path h="965200" w="152400">
                    <a:moveTo>
                      <a:pt x="0" y="0"/>
                    </a:moveTo>
                    <a:lnTo>
                      <a:pt x="152400" y="0"/>
                    </a:lnTo>
                    <a:lnTo>
                      <a:pt x="152400" y="965200"/>
                    </a:lnTo>
                    <a:lnTo>
                      <a:pt x="0" y="965200"/>
                    </a:lnTo>
                    <a:close/>
                  </a:path>
                </a:pathLst>
              </a:custGeom>
              <a:solidFill>
                <a:srgbClr val="FFB454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31" id="31"/>
              <p:cNvSpPr txBox="true"/>
              <p:nvPr/>
            </p:nvSpPr>
            <p:spPr>
              <a:xfrm>
                <a:off x="0" y="-38100"/>
                <a:ext cx="152400" cy="10033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sp>
          <p:nvSpPr>
            <p:cNvPr name="TextBox 32" id="32"/>
            <p:cNvSpPr txBox="true"/>
            <p:nvPr/>
          </p:nvSpPr>
          <p:spPr>
            <a:xfrm rot="0">
              <a:off x="571500" y="247650"/>
              <a:ext cx="8255000" cy="41884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349"/>
                </a:lnSpc>
              </a:pPr>
              <a:r>
                <a:rPr lang="en-US" sz="2175">
                  <a:solidFill>
                    <a:srgbClr val="FFFFFF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Incident triage logic complexity</a:t>
              </a: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9334500" y="7067550"/>
            <a:ext cx="6762750" cy="404622"/>
            <a:chOff x="0" y="0"/>
            <a:chExt cx="9017000" cy="539496"/>
          </a:xfrm>
        </p:grpSpPr>
        <p:grpSp>
          <p:nvGrpSpPr>
            <p:cNvPr name="Group 34" id="34"/>
            <p:cNvGrpSpPr/>
            <p:nvPr/>
          </p:nvGrpSpPr>
          <p:grpSpPr>
            <a:xfrm rot="0">
              <a:off x="0" y="0"/>
              <a:ext cx="533400" cy="533400"/>
              <a:chOff x="0" y="0"/>
              <a:chExt cx="533400" cy="533400"/>
            </a:xfrm>
          </p:grpSpPr>
          <p:sp>
            <p:nvSpPr>
              <p:cNvPr name="Freeform 35" id="35"/>
              <p:cNvSpPr/>
              <p:nvPr/>
            </p:nvSpPr>
            <p:spPr>
              <a:xfrm flipH="false" flipV="false" rot="0">
                <a:off x="0" y="0"/>
                <a:ext cx="533400" cy="533400"/>
              </a:xfrm>
              <a:custGeom>
                <a:avLst/>
                <a:gdLst/>
                <a:ahLst/>
                <a:cxnLst/>
                <a:rect r="r" b="b" t="t" l="l"/>
                <a:pathLst>
                  <a:path h="533400" w="533400">
                    <a:moveTo>
                      <a:pt x="266700" y="0"/>
                    </a:moveTo>
                    <a:cubicBezTo>
                      <a:pt x="413994" y="0"/>
                      <a:pt x="533400" y="119406"/>
                      <a:pt x="533400" y="266700"/>
                    </a:cubicBezTo>
                    <a:cubicBezTo>
                      <a:pt x="533400" y="413994"/>
                      <a:pt x="413994" y="533400"/>
                      <a:pt x="266700" y="533400"/>
                    </a:cubicBezTo>
                    <a:cubicBezTo>
                      <a:pt x="119406" y="533400"/>
                      <a:pt x="0" y="413994"/>
                      <a:pt x="0" y="266700"/>
                    </a:cubicBezTo>
                    <a:cubicBezTo>
                      <a:pt x="0" y="119406"/>
                      <a:pt x="119406" y="0"/>
                      <a:pt x="266700" y="0"/>
                    </a:cubicBezTo>
                    <a:close/>
                  </a:path>
                </a:pathLst>
              </a:custGeom>
              <a:solidFill>
                <a:srgbClr val="36C98F"/>
              </a:solidFill>
              <a:ln cap="sq">
                <a:noFill/>
                <a:prstDash val="solid"/>
                <a:miter/>
              </a:ln>
            </p:spPr>
          </p:sp>
        </p:grpSp>
        <p:sp>
          <p:nvSpPr>
            <p:cNvPr name="TextBox 36" id="36"/>
            <p:cNvSpPr txBox="true"/>
            <p:nvPr/>
          </p:nvSpPr>
          <p:spPr>
            <a:xfrm rot="0">
              <a:off x="762000" y="120650"/>
              <a:ext cx="8255000" cy="41884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349"/>
                </a:lnSpc>
              </a:pPr>
              <a:r>
                <a:rPr lang="en-US" sz="2175">
                  <a:solidFill>
                    <a:srgbClr val="FFFFFF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Layered filtering rules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90600" y="523875"/>
            <a:ext cx="4762500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162" b="true">
                <a:solidFill>
                  <a:srgbClr val="2475F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FRAMEWORK / 08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990600" y="1038225"/>
            <a:ext cx="14287500" cy="5219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95"/>
              </a:lnSpc>
            </a:pPr>
            <a:r>
              <a:rPr lang="en-US" sz="3900">
                <a:solidFill>
                  <a:srgbClr val="10213A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Learnings &amp; Skills Acquired</a:t>
            </a:r>
          </a:p>
        </p:txBody>
      </p:sp>
      <p:sp>
        <p:nvSpPr>
          <p:cNvPr name="AutoShape 4" id="4"/>
          <p:cNvSpPr/>
          <p:nvPr/>
        </p:nvSpPr>
        <p:spPr>
          <a:xfrm>
            <a:off x="990600" y="9477375"/>
            <a:ext cx="16306800" cy="0"/>
          </a:xfrm>
          <a:prstGeom prst="line">
            <a:avLst/>
          </a:prstGeom>
          <a:ln cap="flat" w="9525">
            <a:solidFill>
              <a:srgbClr val="CBD8E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5" id="5"/>
          <p:cNvSpPr txBox="true"/>
          <p:nvPr/>
        </p:nvSpPr>
        <p:spPr>
          <a:xfrm rot="0">
            <a:off x="990600" y="9696450"/>
            <a:ext cx="6667500" cy="190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74"/>
              </a:lnSpc>
            </a:pPr>
            <a:r>
              <a:rPr lang="en-US" sz="1125" spc="89">
                <a:solidFill>
                  <a:srgbClr val="8495AA"/>
                </a:solidFill>
                <a:latin typeface="IBM Plex Mono"/>
                <a:ea typeface="IBM Plex Mono"/>
                <a:cs typeface="IBM Plex Mono"/>
                <a:sym typeface="IBM Plex Mono"/>
              </a:rPr>
              <a:t>ADVANCED THREAT INCIDENT ANALYTICS  •  2026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6764000" y="9677400"/>
            <a:ext cx="571500" cy="198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679"/>
              </a:lnSpc>
            </a:pPr>
            <a:r>
              <a:rPr lang="en-US" sz="1200">
                <a:solidFill>
                  <a:srgbClr val="2475FF"/>
                </a:solidFill>
                <a:latin typeface="IBM Plex Mono"/>
                <a:ea typeface="IBM Plex Mono"/>
                <a:cs typeface="IBM Plex Mono"/>
                <a:sym typeface="IBM Plex Mono"/>
              </a:rPr>
              <a:t>08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047750" y="3000375"/>
            <a:ext cx="2571750" cy="2991993"/>
            <a:chOff x="0" y="0"/>
            <a:chExt cx="3429000" cy="3989324"/>
          </a:xfrm>
        </p:grpSpPr>
        <p:grpSp>
          <p:nvGrpSpPr>
            <p:cNvPr name="Group 8" id="8"/>
            <p:cNvGrpSpPr/>
            <p:nvPr/>
          </p:nvGrpSpPr>
          <p:grpSpPr>
            <a:xfrm rot="0">
              <a:off x="952500" y="0"/>
              <a:ext cx="1524000" cy="1524000"/>
              <a:chOff x="0" y="0"/>
              <a:chExt cx="1524000" cy="1524000"/>
            </a:xfrm>
          </p:grpSpPr>
          <p:sp>
            <p:nvSpPr>
              <p:cNvPr name="Freeform 9" id="9"/>
              <p:cNvSpPr/>
              <p:nvPr/>
            </p:nvSpPr>
            <p:spPr>
              <a:xfrm flipH="false" flipV="false" rot="0">
                <a:off x="0" y="0"/>
                <a:ext cx="1524000" cy="1524000"/>
              </a:xfrm>
              <a:custGeom>
                <a:avLst/>
                <a:gdLst/>
                <a:ahLst/>
                <a:cxnLst/>
                <a:rect r="r" b="b" t="t" l="l"/>
                <a:pathLst>
                  <a:path h="1524000" w="1524000">
                    <a:moveTo>
                      <a:pt x="762000" y="0"/>
                    </a:moveTo>
                    <a:cubicBezTo>
                      <a:pt x="1182841" y="0"/>
                      <a:pt x="1524000" y="341159"/>
                      <a:pt x="1524000" y="762000"/>
                    </a:cubicBezTo>
                    <a:cubicBezTo>
                      <a:pt x="1524000" y="1182841"/>
                      <a:pt x="1182841" y="1524000"/>
                      <a:pt x="762000" y="1524000"/>
                    </a:cubicBezTo>
                    <a:cubicBezTo>
                      <a:pt x="341159" y="1524000"/>
                      <a:pt x="0" y="1182841"/>
                      <a:pt x="0" y="762000"/>
                    </a:cubicBezTo>
                    <a:cubicBezTo>
                      <a:pt x="0" y="341159"/>
                      <a:pt x="341159" y="0"/>
                      <a:pt x="762000" y="0"/>
                    </a:cubicBezTo>
                    <a:close/>
                  </a:path>
                </a:pathLst>
              </a:custGeom>
              <a:solidFill>
                <a:srgbClr val="2475FF"/>
              </a:solidFill>
              <a:ln cap="sq">
                <a:noFill/>
                <a:prstDash val="solid"/>
                <a:miter/>
              </a:ln>
            </p:spPr>
          </p:sp>
        </p:grpSp>
        <p:sp>
          <p:nvSpPr>
            <p:cNvPr name="TextBox 10" id="10"/>
            <p:cNvSpPr txBox="true"/>
            <p:nvPr/>
          </p:nvSpPr>
          <p:spPr>
            <a:xfrm rot="0">
              <a:off x="0" y="1431925"/>
              <a:ext cx="3429000" cy="30035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889"/>
                </a:lnSpc>
              </a:pPr>
              <a:r>
                <a:rPr lang="en-US" b="true" sz="1350" spc="162">
                  <a:solidFill>
                    <a:srgbClr val="2475FF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DATA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3257550"/>
              <a:ext cx="3429000" cy="73177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106"/>
                </a:lnSpc>
              </a:pPr>
              <a:r>
                <a:rPr lang="en-US" sz="1950">
                  <a:solidFill>
                    <a:srgbClr val="10213A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Data engineering</a:t>
              </a:r>
            </a:p>
            <a:p>
              <a:pPr algn="ctr">
                <a:lnSpc>
                  <a:spcPts val="2106"/>
                </a:lnSpc>
              </a:pPr>
              <a:r>
                <a:rPr lang="en-US" sz="1950">
                  <a:solidFill>
                    <a:srgbClr val="10213A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best practices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4381500" y="3000375"/>
            <a:ext cx="2571750" cy="2892171"/>
            <a:chOff x="0" y="0"/>
            <a:chExt cx="3429000" cy="3856228"/>
          </a:xfrm>
        </p:grpSpPr>
        <p:grpSp>
          <p:nvGrpSpPr>
            <p:cNvPr name="Group 13" id="13"/>
            <p:cNvGrpSpPr/>
            <p:nvPr/>
          </p:nvGrpSpPr>
          <p:grpSpPr>
            <a:xfrm rot="0">
              <a:off x="952500" y="0"/>
              <a:ext cx="1524000" cy="1524000"/>
              <a:chOff x="0" y="0"/>
              <a:chExt cx="1524000" cy="1524000"/>
            </a:xfrm>
          </p:grpSpPr>
          <p:sp>
            <p:nvSpPr>
              <p:cNvPr name="Freeform 14" id="14"/>
              <p:cNvSpPr/>
              <p:nvPr/>
            </p:nvSpPr>
            <p:spPr>
              <a:xfrm flipH="false" flipV="false" rot="0">
                <a:off x="0" y="0"/>
                <a:ext cx="1524000" cy="1524000"/>
              </a:xfrm>
              <a:custGeom>
                <a:avLst/>
                <a:gdLst/>
                <a:ahLst/>
                <a:cxnLst/>
                <a:rect r="r" b="b" t="t" l="l"/>
                <a:pathLst>
                  <a:path h="1524000" w="1524000">
                    <a:moveTo>
                      <a:pt x="762000" y="0"/>
                    </a:moveTo>
                    <a:cubicBezTo>
                      <a:pt x="1182841" y="0"/>
                      <a:pt x="1524000" y="341159"/>
                      <a:pt x="1524000" y="762000"/>
                    </a:cubicBezTo>
                    <a:cubicBezTo>
                      <a:pt x="1524000" y="1182841"/>
                      <a:pt x="1182841" y="1524000"/>
                      <a:pt x="762000" y="1524000"/>
                    </a:cubicBezTo>
                    <a:cubicBezTo>
                      <a:pt x="341159" y="1524000"/>
                      <a:pt x="0" y="1182841"/>
                      <a:pt x="0" y="762000"/>
                    </a:cubicBezTo>
                    <a:cubicBezTo>
                      <a:pt x="0" y="341159"/>
                      <a:pt x="341159" y="0"/>
                      <a:pt x="762000" y="0"/>
                    </a:cubicBezTo>
                    <a:close/>
                  </a:path>
                </a:pathLst>
              </a:custGeom>
              <a:solidFill>
                <a:srgbClr val="35D2FF"/>
              </a:solidFill>
              <a:ln cap="sq">
                <a:noFill/>
                <a:prstDash val="solid"/>
                <a:miter/>
              </a:ln>
            </p:spPr>
          </p:sp>
        </p:grpSp>
        <p:sp>
          <p:nvSpPr>
            <p:cNvPr name="TextBox 15" id="15"/>
            <p:cNvSpPr txBox="true"/>
            <p:nvPr/>
          </p:nvSpPr>
          <p:spPr>
            <a:xfrm rot="0">
              <a:off x="0" y="1431925"/>
              <a:ext cx="3429000" cy="30035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889"/>
                </a:lnSpc>
              </a:pPr>
              <a:r>
                <a:rPr lang="en-US" b="true" sz="1350" spc="162">
                  <a:solidFill>
                    <a:srgbClr val="2475FF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DETECT</a:t>
              </a:r>
            </a:p>
          </p:txBody>
        </p:sp>
        <p:sp>
          <p:nvSpPr>
            <p:cNvPr name="TextBox 16" id="16"/>
            <p:cNvSpPr txBox="true"/>
            <p:nvPr/>
          </p:nvSpPr>
          <p:spPr>
            <a:xfrm rot="0">
              <a:off x="0" y="3257550"/>
              <a:ext cx="3429000" cy="59867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782"/>
                </a:lnSpc>
              </a:pPr>
              <a:r>
                <a:rPr lang="en-US" sz="1650">
                  <a:solidFill>
                    <a:srgbClr val="10213A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Cyber threat detection</a:t>
              </a:r>
            </a:p>
            <a:p>
              <a:pPr algn="ctr">
                <a:lnSpc>
                  <a:spcPts val="1782"/>
                </a:lnSpc>
              </a:pPr>
              <a:r>
                <a:rPr lang="en-US" sz="1650">
                  <a:solidFill>
                    <a:srgbClr val="10213A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methodologies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7715250" y="3000375"/>
            <a:ext cx="2571750" cy="2932557"/>
            <a:chOff x="0" y="0"/>
            <a:chExt cx="3429000" cy="3910076"/>
          </a:xfrm>
        </p:grpSpPr>
        <p:grpSp>
          <p:nvGrpSpPr>
            <p:cNvPr name="Group 18" id="18"/>
            <p:cNvGrpSpPr/>
            <p:nvPr/>
          </p:nvGrpSpPr>
          <p:grpSpPr>
            <a:xfrm rot="0">
              <a:off x="952500" y="0"/>
              <a:ext cx="1524000" cy="1524000"/>
              <a:chOff x="0" y="0"/>
              <a:chExt cx="1524000" cy="1524000"/>
            </a:xfrm>
          </p:grpSpPr>
          <p:sp>
            <p:nvSpPr>
              <p:cNvPr name="Freeform 19" id="19"/>
              <p:cNvSpPr/>
              <p:nvPr/>
            </p:nvSpPr>
            <p:spPr>
              <a:xfrm flipH="false" flipV="false" rot="0">
                <a:off x="0" y="0"/>
                <a:ext cx="1524000" cy="1524000"/>
              </a:xfrm>
              <a:custGeom>
                <a:avLst/>
                <a:gdLst/>
                <a:ahLst/>
                <a:cxnLst/>
                <a:rect r="r" b="b" t="t" l="l"/>
                <a:pathLst>
                  <a:path h="1524000" w="1524000">
                    <a:moveTo>
                      <a:pt x="762000" y="0"/>
                    </a:moveTo>
                    <a:cubicBezTo>
                      <a:pt x="1182841" y="0"/>
                      <a:pt x="1524000" y="341159"/>
                      <a:pt x="1524000" y="762000"/>
                    </a:cubicBezTo>
                    <a:cubicBezTo>
                      <a:pt x="1524000" y="1182841"/>
                      <a:pt x="1182841" y="1524000"/>
                      <a:pt x="762000" y="1524000"/>
                    </a:cubicBezTo>
                    <a:cubicBezTo>
                      <a:pt x="341159" y="1524000"/>
                      <a:pt x="0" y="1182841"/>
                      <a:pt x="0" y="762000"/>
                    </a:cubicBezTo>
                    <a:cubicBezTo>
                      <a:pt x="0" y="341159"/>
                      <a:pt x="341159" y="0"/>
                      <a:pt x="762000" y="0"/>
                    </a:cubicBezTo>
                    <a:close/>
                  </a:path>
                </a:pathLst>
              </a:custGeom>
              <a:solidFill>
                <a:srgbClr val="2475FF"/>
              </a:solidFill>
              <a:ln cap="sq">
                <a:noFill/>
                <a:prstDash val="solid"/>
                <a:miter/>
              </a:ln>
            </p:spPr>
          </p:sp>
        </p:grpSp>
        <p:sp>
          <p:nvSpPr>
            <p:cNvPr name="TextBox 20" id="20"/>
            <p:cNvSpPr txBox="true"/>
            <p:nvPr/>
          </p:nvSpPr>
          <p:spPr>
            <a:xfrm rot="0">
              <a:off x="0" y="1431925"/>
              <a:ext cx="3429000" cy="30035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889"/>
                </a:lnSpc>
              </a:pPr>
              <a:r>
                <a:rPr lang="en-US" b="true" sz="1350" spc="162">
                  <a:solidFill>
                    <a:srgbClr val="2475FF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VISUAL</a:t>
              </a:r>
            </a:p>
          </p:txBody>
        </p:sp>
        <p:sp>
          <p:nvSpPr>
            <p:cNvPr name="TextBox 21" id="21"/>
            <p:cNvSpPr txBox="true"/>
            <p:nvPr/>
          </p:nvSpPr>
          <p:spPr>
            <a:xfrm rot="0">
              <a:off x="0" y="3267075"/>
              <a:ext cx="3429000" cy="64300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944"/>
                </a:lnSpc>
              </a:pPr>
              <a:r>
                <a:rPr lang="en-US" sz="1800">
                  <a:solidFill>
                    <a:srgbClr val="10213A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Power BI dashboard</a:t>
              </a:r>
            </a:p>
            <a:p>
              <a:pPr algn="ctr">
                <a:lnSpc>
                  <a:spcPts val="1944"/>
                </a:lnSpc>
              </a:pPr>
              <a:r>
                <a:rPr lang="en-US" sz="1800">
                  <a:solidFill>
                    <a:srgbClr val="10213A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design &amp; interactivity</a:t>
              </a: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11049000" y="3000375"/>
            <a:ext cx="2571750" cy="2932557"/>
            <a:chOff x="0" y="0"/>
            <a:chExt cx="3429000" cy="3910076"/>
          </a:xfrm>
        </p:grpSpPr>
        <p:grpSp>
          <p:nvGrpSpPr>
            <p:cNvPr name="Group 23" id="23"/>
            <p:cNvGrpSpPr/>
            <p:nvPr/>
          </p:nvGrpSpPr>
          <p:grpSpPr>
            <a:xfrm rot="0">
              <a:off x="952500" y="0"/>
              <a:ext cx="1524000" cy="1524000"/>
              <a:chOff x="0" y="0"/>
              <a:chExt cx="1524000" cy="1524000"/>
            </a:xfrm>
          </p:grpSpPr>
          <p:sp>
            <p:nvSpPr>
              <p:cNvPr name="Freeform 24" id="24"/>
              <p:cNvSpPr/>
              <p:nvPr/>
            </p:nvSpPr>
            <p:spPr>
              <a:xfrm flipH="false" flipV="false" rot="0">
                <a:off x="0" y="0"/>
                <a:ext cx="1524000" cy="1524000"/>
              </a:xfrm>
              <a:custGeom>
                <a:avLst/>
                <a:gdLst/>
                <a:ahLst/>
                <a:cxnLst/>
                <a:rect r="r" b="b" t="t" l="l"/>
                <a:pathLst>
                  <a:path h="1524000" w="1524000">
                    <a:moveTo>
                      <a:pt x="762000" y="0"/>
                    </a:moveTo>
                    <a:cubicBezTo>
                      <a:pt x="1182841" y="0"/>
                      <a:pt x="1524000" y="341159"/>
                      <a:pt x="1524000" y="762000"/>
                    </a:cubicBezTo>
                    <a:cubicBezTo>
                      <a:pt x="1524000" y="1182841"/>
                      <a:pt x="1182841" y="1524000"/>
                      <a:pt x="762000" y="1524000"/>
                    </a:cubicBezTo>
                    <a:cubicBezTo>
                      <a:pt x="341159" y="1524000"/>
                      <a:pt x="0" y="1182841"/>
                      <a:pt x="0" y="762000"/>
                    </a:cubicBezTo>
                    <a:cubicBezTo>
                      <a:pt x="0" y="341159"/>
                      <a:pt x="341159" y="0"/>
                      <a:pt x="762000" y="0"/>
                    </a:cubicBezTo>
                    <a:close/>
                  </a:path>
                </a:pathLst>
              </a:custGeom>
              <a:solidFill>
                <a:srgbClr val="35D2FF"/>
              </a:solidFill>
              <a:ln cap="sq">
                <a:noFill/>
                <a:prstDash val="solid"/>
                <a:miter/>
              </a:ln>
            </p:spPr>
          </p:sp>
        </p:grpSp>
        <p:sp>
          <p:nvSpPr>
            <p:cNvPr name="TextBox 25" id="25"/>
            <p:cNvSpPr txBox="true"/>
            <p:nvPr/>
          </p:nvSpPr>
          <p:spPr>
            <a:xfrm rot="0">
              <a:off x="0" y="1431925"/>
              <a:ext cx="3429000" cy="30035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889"/>
                </a:lnSpc>
              </a:pPr>
              <a:r>
                <a:rPr lang="en-US" b="true" sz="1350" spc="162">
                  <a:solidFill>
                    <a:srgbClr val="2475FF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RESPOND</a:t>
              </a:r>
            </a:p>
          </p:txBody>
        </p:sp>
        <p:sp>
          <p:nvSpPr>
            <p:cNvPr name="TextBox 26" id="26"/>
            <p:cNvSpPr txBox="true"/>
            <p:nvPr/>
          </p:nvSpPr>
          <p:spPr>
            <a:xfrm rot="0">
              <a:off x="0" y="3267075"/>
              <a:ext cx="3429000" cy="64300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944"/>
                </a:lnSpc>
              </a:pPr>
              <a:r>
                <a:rPr lang="en-US" sz="1800">
                  <a:solidFill>
                    <a:srgbClr val="10213A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Incident triage &amp;</a:t>
              </a:r>
            </a:p>
            <a:p>
              <a:pPr algn="ctr">
                <a:lnSpc>
                  <a:spcPts val="1944"/>
                </a:lnSpc>
              </a:pPr>
              <a:r>
                <a:rPr lang="en-US" sz="1800">
                  <a:solidFill>
                    <a:srgbClr val="10213A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response automation</a:t>
              </a: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14382750" y="3000375"/>
            <a:ext cx="2571750" cy="2932557"/>
            <a:chOff x="0" y="0"/>
            <a:chExt cx="3429000" cy="3910076"/>
          </a:xfrm>
        </p:grpSpPr>
        <p:grpSp>
          <p:nvGrpSpPr>
            <p:cNvPr name="Group 28" id="28"/>
            <p:cNvGrpSpPr/>
            <p:nvPr/>
          </p:nvGrpSpPr>
          <p:grpSpPr>
            <a:xfrm rot="0">
              <a:off x="952500" y="0"/>
              <a:ext cx="1524000" cy="1524000"/>
              <a:chOff x="0" y="0"/>
              <a:chExt cx="1524000" cy="1524000"/>
            </a:xfrm>
          </p:grpSpPr>
          <p:sp>
            <p:nvSpPr>
              <p:cNvPr name="Freeform 29" id="29"/>
              <p:cNvSpPr/>
              <p:nvPr/>
            </p:nvSpPr>
            <p:spPr>
              <a:xfrm flipH="false" flipV="false" rot="0">
                <a:off x="0" y="0"/>
                <a:ext cx="1524000" cy="1524000"/>
              </a:xfrm>
              <a:custGeom>
                <a:avLst/>
                <a:gdLst/>
                <a:ahLst/>
                <a:cxnLst/>
                <a:rect r="r" b="b" t="t" l="l"/>
                <a:pathLst>
                  <a:path h="1524000" w="1524000">
                    <a:moveTo>
                      <a:pt x="762000" y="0"/>
                    </a:moveTo>
                    <a:cubicBezTo>
                      <a:pt x="1182841" y="0"/>
                      <a:pt x="1524000" y="341159"/>
                      <a:pt x="1524000" y="762000"/>
                    </a:cubicBezTo>
                    <a:cubicBezTo>
                      <a:pt x="1524000" y="1182841"/>
                      <a:pt x="1182841" y="1524000"/>
                      <a:pt x="762000" y="1524000"/>
                    </a:cubicBezTo>
                    <a:cubicBezTo>
                      <a:pt x="341159" y="1524000"/>
                      <a:pt x="0" y="1182841"/>
                      <a:pt x="0" y="762000"/>
                    </a:cubicBezTo>
                    <a:cubicBezTo>
                      <a:pt x="0" y="341159"/>
                      <a:pt x="341159" y="0"/>
                      <a:pt x="762000" y="0"/>
                    </a:cubicBezTo>
                    <a:close/>
                  </a:path>
                </a:pathLst>
              </a:custGeom>
              <a:solidFill>
                <a:srgbClr val="2475FF"/>
              </a:solidFill>
              <a:ln cap="sq">
                <a:noFill/>
                <a:prstDash val="solid"/>
                <a:miter/>
              </a:ln>
            </p:spPr>
          </p:sp>
        </p:grpSp>
        <p:sp>
          <p:nvSpPr>
            <p:cNvPr name="TextBox 30" id="30"/>
            <p:cNvSpPr txBox="true"/>
            <p:nvPr/>
          </p:nvSpPr>
          <p:spPr>
            <a:xfrm rot="0">
              <a:off x="0" y="1431925"/>
              <a:ext cx="3429000" cy="30035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889"/>
                </a:lnSpc>
              </a:pPr>
              <a:r>
                <a:rPr lang="en-US" b="true" sz="1350" spc="162">
                  <a:solidFill>
                    <a:srgbClr val="2475FF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TEAM</a:t>
              </a:r>
            </a:p>
          </p:txBody>
        </p:sp>
        <p:sp>
          <p:nvSpPr>
            <p:cNvPr name="TextBox 31" id="31"/>
            <p:cNvSpPr txBox="true"/>
            <p:nvPr/>
          </p:nvSpPr>
          <p:spPr>
            <a:xfrm rot="0">
              <a:off x="0" y="3267075"/>
              <a:ext cx="3429000" cy="64300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944"/>
                </a:lnSpc>
              </a:pPr>
              <a:r>
                <a:rPr lang="en-US" sz="1800">
                  <a:solidFill>
                    <a:srgbClr val="10213A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Collaborative project</a:t>
              </a:r>
            </a:p>
            <a:p>
              <a:pPr algn="ctr">
                <a:lnSpc>
                  <a:spcPts val="1944"/>
                </a:lnSpc>
              </a:pPr>
              <a:r>
                <a:rPr lang="en-US" sz="1800">
                  <a:solidFill>
                    <a:srgbClr val="10213A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management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90600" y="523875"/>
            <a:ext cx="4762500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162" b="true">
                <a:solidFill>
                  <a:srgbClr val="2475F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FRAMEWORK / 09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990600" y="1038225"/>
            <a:ext cx="14287500" cy="5219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95"/>
              </a:lnSpc>
            </a:pPr>
            <a:r>
              <a:rPr lang="en-US" sz="3900">
                <a:solidFill>
                  <a:srgbClr val="10213A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Future Enhancements &amp; Key Insights</a:t>
            </a:r>
          </a:p>
        </p:txBody>
      </p:sp>
      <p:sp>
        <p:nvSpPr>
          <p:cNvPr name="AutoShape 4" id="4"/>
          <p:cNvSpPr/>
          <p:nvPr/>
        </p:nvSpPr>
        <p:spPr>
          <a:xfrm>
            <a:off x="990600" y="9477375"/>
            <a:ext cx="16306800" cy="0"/>
          </a:xfrm>
          <a:prstGeom prst="line">
            <a:avLst/>
          </a:prstGeom>
          <a:ln cap="flat" w="9525">
            <a:solidFill>
              <a:srgbClr val="CBD8E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5" id="5"/>
          <p:cNvSpPr txBox="true"/>
          <p:nvPr/>
        </p:nvSpPr>
        <p:spPr>
          <a:xfrm rot="0">
            <a:off x="990600" y="9696450"/>
            <a:ext cx="6667500" cy="190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74"/>
              </a:lnSpc>
            </a:pPr>
            <a:r>
              <a:rPr lang="en-US" sz="1125" spc="89">
                <a:solidFill>
                  <a:srgbClr val="8495AA"/>
                </a:solidFill>
                <a:latin typeface="IBM Plex Mono"/>
                <a:ea typeface="IBM Plex Mono"/>
                <a:cs typeface="IBM Plex Mono"/>
                <a:sym typeface="IBM Plex Mono"/>
              </a:rPr>
              <a:t>ADVANCED THREAT INCIDENT ANALYTICS  •  2026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6764000" y="9677400"/>
            <a:ext cx="571500" cy="198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679"/>
              </a:lnSpc>
            </a:pPr>
            <a:r>
              <a:rPr lang="en-US" sz="1200">
                <a:solidFill>
                  <a:srgbClr val="2475FF"/>
                </a:solidFill>
                <a:latin typeface="IBM Plex Mono"/>
                <a:ea typeface="IBM Plex Mono"/>
                <a:cs typeface="IBM Plex Mono"/>
                <a:sym typeface="IBM Plex Mono"/>
              </a:rPr>
              <a:t>09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723900" y="2952750"/>
            <a:ext cx="7810500" cy="4953000"/>
            <a:chOff x="0" y="0"/>
            <a:chExt cx="10414000" cy="6604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414000" cy="6604000"/>
            </a:xfrm>
            <a:custGeom>
              <a:avLst/>
              <a:gdLst/>
              <a:ahLst/>
              <a:cxnLst/>
              <a:rect r="r" b="b" t="t" l="l"/>
              <a:pathLst>
                <a:path h="6604000" w="10414000">
                  <a:moveTo>
                    <a:pt x="0" y="0"/>
                  </a:moveTo>
                  <a:lnTo>
                    <a:pt x="10414000" y="0"/>
                  </a:lnTo>
                  <a:lnTo>
                    <a:pt x="10414000" y="6604000"/>
                  </a:lnTo>
                  <a:lnTo>
                    <a:pt x="0" y="6604000"/>
                  </a:ln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414000" cy="664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9048750" y="2952750"/>
            <a:ext cx="8286750" cy="4953000"/>
            <a:chOff x="0" y="0"/>
            <a:chExt cx="11049000" cy="6604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1049000" cy="6604000"/>
            </a:xfrm>
            <a:custGeom>
              <a:avLst/>
              <a:gdLst/>
              <a:ahLst/>
              <a:cxnLst/>
              <a:rect r="r" b="b" t="t" l="l"/>
              <a:pathLst>
                <a:path h="6604000" w="11049000">
                  <a:moveTo>
                    <a:pt x="0" y="0"/>
                  </a:moveTo>
                  <a:lnTo>
                    <a:pt x="11049000" y="0"/>
                  </a:lnTo>
                  <a:lnTo>
                    <a:pt x="11049000" y="6604000"/>
                  </a:lnTo>
                  <a:lnTo>
                    <a:pt x="0" y="6604000"/>
                  </a:lnTo>
                  <a:close/>
                </a:path>
              </a:pathLst>
            </a:custGeom>
            <a:solidFill>
              <a:srgbClr val="E9F1FB"/>
            </a:solidFill>
            <a:ln cap="sq">
              <a:noFill/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1049000" cy="664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990600" y="2447925"/>
            <a:ext cx="4762500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162" b="true">
                <a:solidFill>
                  <a:srgbClr val="2475F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NEXT HORIZON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990600" y="3048000"/>
            <a:ext cx="7239000" cy="19826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23"/>
              </a:lnSpc>
            </a:pPr>
            <a:r>
              <a:rPr lang="en-US" sz="2175">
                <a:solidFill>
                  <a:srgbClr val="10213A"/>
                </a:solidFill>
                <a:latin typeface="IBM Plex Sans"/>
                <a:ea typeface="IBM Plex Sans"/>
                <a:cs typeface="IBM Plex Sans"/>
                <a:sym typeface="IBM Plex Sans"/>
              </a:rPr>
              <a:t>Real-time ingestion via Azure Event Hubs</a:t>
            </a:r>
          </a:p>
          <a:p>
            <a:pPr algn="l">
              <a:lnSpc>
                <a:spcPts val="4023"/>
              </a:lnSpc>
            </a:pPr>
            <a:r>
              <a:rPr lang="en-US" sz="2175">
                <a:solidFill>
                  <a:srgbClr val="10213A"/>
                </a:solidFill>
                <a:latin typeface="IBM Plex Sans"/>
                <a:ea typeface="IBM Plex Sans"/>
                <a:cs typeface="IBM Plex Sans"/>
                <a:sym typeface="IBM Plex Sans"/>
              </a:rPr>
              <a:t>Geolocation mapping integration</a:t>
            </a:r>
          </a:p>
          <a:p>
            <a:pPr algn="l">
              <a:lnSpc>
                <a:spcPts val="4023"/>
              </a:lnSpc>
            </a:pPr>
            <a:r>
              <a:rPr lang="en-US" sz="2175">
                <a:solidFill>
                  <a:srgbClr val="10213A"/>
                </a:solidFill>
                <a:latin typeface="IBM Plex Sans"/>
                <a:ea typeface="IBM Plex Sans"/>
                <a:cs typeface="IBM Plex Sans"/>
                <a:sym typeface="IBM Plex Sans"/>
              </a:rPr>
              <a:t>Automated email alert triggers</a:t>
            </a:r>
          </a:p>
          <a:p>
            <a:pPr algn="l">
              <a:lnSpc>
                <a:spcPts val="4023"/>
              </a:lnSpc>
            </a:pPr>
            <a:r>
              <a:rPr lang="en-US" sz="2175">
                <a:solidFill>
                  <a:srgbClr val="10213A"/>
                </a:solidFill>
                <a:latin typeface="IBM Plex Sans"/>
                <a:ea typeface="IBM Plex Sans"/>
                <a:cs typeface="IBM Plex Sans"/>
                <a:sym typeface="IBM Plex Sans"/>
              </a:rPr>
              <a:t>Machine learning anomaly detection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9429750" y="2447925"/>
            <a:ext cx="5715000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162" b="true">
                <a:solidFill>
                  <a:srgbClr val="2475F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SIGNALS THAT MATTER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9429750" y="3086100"/>
            <a:ext cx="3333750" cy="9201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559"/>
              </a:lnSpc>
            </a:pPr>
            <a:r>
              <a:rPr lang="en-US" sz="5400">
                <a:solidFill>
                  <a:srgbClr val="2475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49.89%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9429750" y="3981450"/>
            <a:ext cx="3333750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25"/>
              </a:lnSpc>
            </a:pPr>
            <a:r>
              <a:rPr lang="en-US" sz="1500">
                <a:solidFill>
                  <a:srgbClr val="5F7188"/>
                </a:solidFill>
                <a:latin typeface="IBM Plex Sans"/>
                <a:ea typeface="IBM Plex Sans"/>
                <a:cs typeface="IBM Plex Sans"/>
                <a:sym typeface="IBM Plex Sans"/>
              </a:rPr>
              <a:t>critical allowed rate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9429750" y="4848225"/>
            <a:ext cx="3333750" cy="9201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559"/>
              </a:lnSpc>
            </a:pPr>
            <a:r>
              <a:rPr lang="en-US" sz="5400">
                <a:solidFill>
                  <a:srgbClr val="10213A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9.3 GB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9429750" y="5743575"/>
            <a:ext cx="3333750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25"/>
              </a:lnSpc>
            </a:pPr>
            <a:r>
              <a:rPr lang="en-US" sz="1500">
                <a:solidFill>
                  <a:srgbClr val="5F7188"/>
                </a:solidFill>
                <a:latin typeface="IBM Plex Sans"/>
                <a:ea typeface="IBM Plex Sans"/>
                <a:cs typeface="IBM Plex Sans"/>
                <a:sym typeface="IBM Plex Sans"/>
              </a:rPr>
              <a:t>TCP data analyzed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3335000" y="3114675"/>
            <a:ext cx="3714750" cy="7372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090"/>
              </a:lnSpc>
            </a:pPr>
            <a:r>
              <a:rPr lang="en-US" sz="4350">
                <a:solidFill>
                  <a:srgbClr val="10213A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82 / 8,900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3335000" y="3981450"/>
            <a:ext cx="3333750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25"/>
              </a:lnSpc>
            </a:pPr>
            <a:r>
              <a:rPr lang="en-US" sz="1500">
                <a:solidFill>
                  <a:srgbClr val="5F7188"/>
                </a:solidFill>
                <a:latin typeface="IBM Plex Sans"/>
                <a:ea typeface="IBM Plex Sans"/>
                <a:cs typeface="IBM Plex Sans"/>
                <a:sym typeface="IBM Plex Sans"/>
              </a:rPr>
              <a:t>external / total subnets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3335000" y="4876800"/>
            <a:ext cx="3714750" cy="687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670"/>
              </a:lnSpc>
            </a:pPr>
            <a:r>
              <a:rPr lang="en-US" sz="4050">
                <a:solidFill>
                  <a:srgbClr val="FFB454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SUBNET 88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3335000" y="5743575"/>
            <a:ext cx="3333750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25"/>
              </a:lnSpc>
            </a:pPr>
            <a:r>
              <a:rPr lang="en-US" sz="1500">
                <a:solidFill>
                  <a:srgbClr val="5F7188"/>
                </a:solidFill>
                <a:latin typeface="IBM Plex Sans"/>
                <a:ea typeface="IBM Plex Sans"/>
                <a:cs typeface="IBM Plex Sans"/>
                <a:sym typeface="IBM Plex Sans"/>
              </a:rPr>
              <a:t>primary threat vector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9429750" y="7505700"/>
            <a:ext cx="7620000" cy="6119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31"/>
              </a:lnSpc>
            </a:pPr>
            <a:r>
              <a:rPr lang="en-US" sz="1875">
                <a:solidFill>
                  <a:srgbClr val="5F7188"/>
                </a:solidFill>
                <a:latin typeface="IBM Plex Sans"/>
                <a:ea typeface="IBM Plex Sans"/>
                <a:cs typeface="IBM Plex Sans"/>
                <a:sym typeface="IBM Plex Sans"/>
              </a:rPr>
              <a:t>The containment gap is not merely a reporting metric — it is the clearest signal for response prioritization.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666" r="0" b="-666"/>
            </a:stretch>
          </a:blipFill>
          <a:ln cap="sq">
            <a:noFill/>
            <a:prstDash val="solid"/>
            <a:miter/>
          </a:ln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71426">
                <a:alpha val="71765"/>
              </a:srgbClr>
            </a:solidFill>
            <a:ln cap="sq">
              <a:noFill/>
              <a:prstDash val="solid"/>
              <a:miter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24384000" cy="13754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990600" y="1590675"/>
            <a:ext cx="4762500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162" b="true">
                <a:solidFill>
                  <a:srgbClr val="35D2F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CONCLUSION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990600" y="2447925"/>
            <a:ext cx="11049000" cy="25191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579"/>
              </a:lnSpc>
            </a:pPr>
            <a:r>
              <a:rPr lang="en-US" sz="6450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Visibility becomes</a:t>
            </a:r>
          </a:p>
          <a:p>
            <a:pPr algn="l">
              <a:lnSpc>
                <a:spcPts val="6579"/>
              </a:lnSpc>
            </a:pPr>
            <a:r>
              <a:rPr lang="en-US" sz="6450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action when analytics</a:t>
            </a:r>
          </a:p>
          <a:p>
            <a:pPr algn="l">
              <a:lnSpc>
                <a:spcPts val="6579"/>
              </a:lnSpc>
            </a:pPr>
            <a:r>
              <a:rPr lang="en-US" sz="6450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closes the gap.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990600" y="6191250"/>
            <a:ext cx="1333500" cy="66675"/>
            <a:chOff x="0" y="0"/>
            <a:chExt cx="1778000" cy="889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778000" cy="88900"/>
            </a:xfrm>
            <a:custGeom>
              <a:avLst/>
              <a:gdLst/>
              <a:ahLst/>
              <a:cxnLst/>
              <a:rect r="r" b="b" t="t" l="l"/>
              <a:pathLst>
                <a:path h="88900" w="1778000">
                  <a:moveTo>
                    <a:pt x="0" y="0"/>
                  </a:moveTo>
                  <a:lnTo>
                    <a:pt x="1778000" y="0"/>
                  </a:lnTo>
                  <a:lnTo>
                    <a:pt x="1778000" y="88900"/>
                  </a:lnTo>
                  <a:lnTo>
                    <a:pt x="0" y="88900"/>
                  </a:lnTo>
                  <a:close/>
                </a:path>
              </a:pathLst>
            </a:custGeom>
            <a:solidFill>
              <a:srgbClr val="35D2FF"/>
            </a:solidFill>
            <a:ln cap="sq">
              <a:noFill/>
              <a:prstDash val="solid"/>
              <a:miter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778000" cy="1270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990600" y="6534150"/>
            <a:ext cx="9334500" cy="6853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33"/>
              </a:lnSpc>
            </a:pPr>
            <a:r>
              <a:rPr lang="en-US" sz="2025">
                <a:solidFill>
                  <a:srgbClr val="B9CBE0"/>
                </a:solidFill>
                <a:latin typeface="IBM Plex Sans"/>
                <a:ea typeface="IBM Plex Sans"/>
                <a:cs typeface="IBM Plex Sans"/>
                <a:sym typeface="IBM Plex Sans"/>
              </a:rPr>
              <a:t>The platform unifies interactive visual analytics with containment gap detection — improving threat visibility, triage focus and incident response effectiveness.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990600" y="9648825"/>
            <a:ext cx="6667500" cy="190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74"/>
              </a:lnSpc>
            </a:pPr>
            <a:r>
              <a:rPr lang="en-US" sz="1125">
                <a:solidFill>
                  <a:srgbClr val="7890AA"/>
                </a:solidFill>
                <a:latin typeface="IBM Plex Mono"/>
                <a:ea typeface="IBM Plex Mono"/>
                <a:cs typeface="IBM Plex Mono"/>
                <a:sym typeface="IBM Plex Mono"/>
              </a:rPr>
              <a:t>ADVANCED THREAT INCIDENT ANALYTICS  •  10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90600" y="523875"/>
            <a:ext cx="4762500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162" b="true">
                <a:solidFill>
                  <a:srgbClr val="2475F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FRAMEWORK / 11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990600" y="1038225"/>
            <a:ext cx="14287500" cy="5219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95"/>
              </a:lnSpc>
            </a:pPr>
            <a:r>
              <a:rPr lang="en-US" sz="3900">
                <a:solidFill>
                  <a:srgbClr val="10213A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Acknowledgements &amp; References</a:t>
            </a:r>
          </a:p>
        </p:txBody>
      </p:sp>
      <p:sp>
        <p:nvSpPr>
          <p:cNvPr name="AutoShape 4" id="4"/>
          <p:cNvSpPr/>
          <p:nvPr/>
        </p:nvSpPr>
        <p:spPr>
          <a:xfrm>
            <a:off x="990600" y="9477375"/>
            <a:ext cx="16306800" cy="0"/>
          </a:xfrm>
          <a:prstGeom prst="line">
            <a:avLst/>
          </a:prstGeom>
          <a:ln cap="flat" w="9525">
            <a:solidFill>
              <a:srgbClr val="CBD8E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5" id="5"/>
          <p:cNvSpPr txBox="true"/>
          <p:nvPr/>
        </p:nvSpPr>
        <p:spPr>
          <a:xfrm rot="0">
            <a:off x="990600" y="9696450"/>
            <a:ext cx="6667500" cy="190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74"/>
              </a:lnSpc>
            </a:pPr>
            <a:r>
              <a:rPr lang="en-US" sz="1125" spc="89">
                <a:solidFill>
                  <a:srgbClr val="8495AA"/>
                </a:solidFill>
                <a:latin typeface="IBM Plex Mono"/>
                <a:ea typeface="IBM Plex Mono"/>
                <a:cs typeface="IBM Plex Mono"/>
                <a:sym typeface="IBM Plex Mono"/>
              </a:rPr>
              <a:t>ADVANCED THREAT INCIDENT ANALYTICS  •  2026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6764000" y="9677400"/>
            <a:ext cx="571500" cy="198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679"/>
              </a:lnSpc>
            </a:pPr>
            <a:r>
              <a:rPr lang="en-US" sz="1200">
                <a:solidFill>
                  <a:srgbClr val="2475FF"/>
                </a:solidFill>
                <a:latin typeface="IBM Plex Mono"/>
                <a:ea typeface="IBM Plex Mono"/>
                <a:cs typeface="IBM Plex Mono"/>
                <a:sym typeface="IBM Plex Mono"/>
              </a:rPr>
              <a:t>11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990600" y="2447925"/>
            <a:ext cx="6667500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162" b="true">
                <a:solidFill>
                  <a:srgbClr val="2475F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With sincere thanks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990600" y="3228975"/>
            <a:ext cx="7620000" cy="6431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96"/>
              </a:lnSpc>
            </a:pPr>
            <a:r>
              <a:rPr lang="en-US" sz="4800">
                <a:solidFill>
                  <a:srgbClr val="10213A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Mrs. Nithyasri S J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990600" y="4067175"/>
            <a:ext cx="7239000" cy="9915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32"/>
              </a:lnSpc>
            </a:pPr>
            <a:r>
              <a:rPr lang="en-US" sz="1950">
                <a:solidFill>
                  <a:srgbClr val="5F7188"/>
                </a:solidFill>
                <a:latin typeface="IBM Plex Sans"/>
                <a:ea typeface="IBM Plex Sans"/>
                <a:cs typeface="IBM Plex Sans"/>
                <a:sym typeface="IBM Plex Sans"/>
              </a:rPr>
              <a:t>For mentorship, guidance and thoughtful review — and to the Infosys Springboard team for enabling this internship experience.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990600" y="6448425"/>
            <a:ext cx="4762500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162" b="true">
                <a:solidFill>
                  <a:srgbClr val="2475F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SOURCE MATERIALS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990600" y="6972300"/>
            <a:ext cx="9525000" cy="2733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27"/>
              </a:lnSpc>
            </a:pPr>
            <a:r>
              <a:rPr lang="en-US" sz="1650">
                <a:solidFill>
                  <a:srgbClr val="5F7188"/>
                </a:solidFill>
                <a:latin typeface="IBM Plex Sans"/>
                <a:ea typeface="IBM Plex Sans"/>
                <a:cs typeface="IBM Plex Sans"/>
                <a:sym typeface="IBM Plex Sans"/>
              </a:rPr>
              <a:t>Network telemetry datasets  •  Project documentation  •  Platform references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9620250" y="3000375"/>
            <a:ext cx="7429500" cy="3048000"/>
            <a:chOff x="0" y="0"/>
            <a:chExt cx="9906000" cy="4064000"/>
          </a:xfrm>
        </p:grpSpPr>
        <p:grpSp>
          <p:nvGrpSpPr>
            <p:cNvPr name="Group 13" id="13"/>
            <p:cNvGrpSpPr/>
            <p:nvPr/>
          </p:nvGrpSpPr>
          <p:grpSpPr>
            <a:xfrm rot="0">
              <a:off x="0" y="0"/>
              <a:ext cx="9906000" cy="4064000"/>
              <a:chOff x="0" y="0"/>
              <a:chExt cx="9906000" cy="4064000"/>
            </a:xfrm>
          </p:grpSpPr>
          <p:sp>
            <p:nvSpPr>
              <p:cNvPr name="Freeform 14" id="14"/>
              <p:cNvSpPr/>
              <p:nvPr/>
            </p:nvSpPr>
            <p:spPr>
              <a:xfrm flipH="false" flipV="false" rot="0">
                <a:off x="0" y="0"/>
                <a:ext cx="9906000" cy="4064000"/>
              </a:xfrm>
              <a:custGeom>
                <a:avLst/>
                <a:gdLst/>
                <a:ahLst/>
                <a:cxnLst/>
                <a:rect r="r" b="b" t="t" l="l"/>
                <a:pathLst>
                  <a:path h="4064000" w="9906000">
                    <a:moveTo>
                      <a:pt x="0" y="0"/>
                    </a:moveTo>
                    <a:lnTo>
                      <a:pt x="9906000" y="0"/>
                    </a:lnTo>
                    <a:lnTo>
                      <a:pt x="9906000" y="4064000"/>
                    </a:lnTo>
                    <a:lnTo>
                      <a:pt x="0" y="4064000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5" id="15"/>
              <p:cNvSpPr txBox="true"/>
              <p:nvPr/>
            </p:nvSpPr>
            <p:spPr>
              <a:xfrm>
                <a:off x="0" y="-38100"/>
                <a:ext cx="9906000" cy="41021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grpSp>
          <p:nvGrpSpPr>
            <p:cNvPr name="Group 16" id="16"/>
            <p:cNvGrpSpPr/>
            <p:nvPr/>
          </p:nvGrpSpPr>
          <p:grpSpPr>
            <a:xfrm rot="0">
              <a:off x="0" y="0"/>
              <a:ext cx="9906000" cy="101600"/>
              <a:chOff x="0" y="0"/>
              <a:chExt cx="9906000" cy="101600"/>
            </a:xfrm>
          </p:grpSpPr>
          <p:sp>
            <p:nvSpPr>
              <p:cNvPr name="Freeform 17" id="17"/>
              <p:cNvSpPr/>
              <p:nvPr/>
            </p:nvSpPr>
            <p:spPr>
              <a:xfrm flipH="false" flipV="false" rot="0">
                <a:off x="0" y="0"/>
                <a:ext cx="9906000" cy="101600"/>
              </a:xfrm>
              <a:custGeom>
                <a:avLst/>
                <a:gdLst/>
                <a:ahLst/>
                <a:cxnLst/>
                <a:rect r="r" b="b" t="t" l="l"/>
                <a:pathLst>
                  <a:path h="101600" w="9906000">
                    <a:moveTo>
                      <a:pt x="0" y="0"/>
                    </a:moveTo>
                    <a:lnTo>
                      <a:pt x="9906000" y="0"/>
                    </a:lnTo>
                    <a:lnTo>
                      <a:pt x="9906000" y="101600"/>
                    </a:lnTo>
                    <a:lnTo>
                      <a:pt x="0" y="101600"/>
                    </a:lnTo>
                    <a:close/>
                  </a:path>
                </a:pathLst>
              </a:custGeom>
              <a:solidFill>
                <a:srgbClr val="2475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8" id="18"/>
              <p:cNvSpPr txBox="true"/>
              <p:nvPr/>
            </p:nvSpPr>
            <p:spPr>
              <a:xfrm>
                <a:off x="0" y="-38100"/>
                <a:ext cx="9906000" cy="1397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sp>
          <p:nvSpPr>
            <p:cNvPr name="TextBox 19" id="19"/>
            <p:cNvSpPr txBox="true"/>
            <p:nvPr/>
          </p:nvSpPr>
          <p:spPr>
            <a:xfrm rot="0">
              <a:off x="508000" y="1184275"/>
              <a:ext cx="8890000" cy="39560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835"/>
                </a:lnSpc>
              </a:pPr>
              <a:r>
                <a:rPr lang="en-US" sz="1575">
                  <a:solidFill>
                    <a:srgbClr val="10213A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INFOSYS     SPRINGBOARD     POWER BI     AZURE EVENT HUBS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666" r="0" b="-666"/>
            </a:stretch>
          </a:blipFill>
          <a:ln cap="sq">
            <a:noFill/>
            <a:prstDash val="solid"/>
            <a:miter/>
          </a:ln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71426">
                <a:alpha val="77647"/>
              </a:srgbClr>
            </a:solidFill>
            <a:ln cap="sq">
              <a:noFill/>
              <a:prstDash val="solid"/>
              <a:miter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24384000" cy="13754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3714750" y="4098417"/>
            <a:ext cx="10858500" cy="10450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956"/>
              </a:lnSpc>
            </a:pPr>
            <a:r>
              <a:rPr lang="en-US" sz="7800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Thank you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5334000" y="5772150"/>
            <a:ext cx="7620000" cy="3681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36"/>
              </a:lnSpc>
            </a:pPr>
            <a:r>
              <a:rPr lang="en-US" sz="2175">
                <a:solidFill>
                  <a:srgbClr val="B9CBE0"/>
                </a:solidFill>
                <a:latin typeface="IBM Plex Sans"/>
                <a:ea typeface="IBM Plex Sans"/>
                <a:cs typeface="IBM Plex Sans"/>
                <a:sym typeface="IBM Plex Sans"/>
              </a:rPr>
              <a:t>Let’s connect and continue the conversation.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6191250" y="7286625"/>
            <a:ext cx="5905500" cy="405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</a:pPr>
            <a:r>
              <a:rPr lang="en-US" sz="2400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AKSHAY JAISWAL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5810250" y="9315450"/>
            <a:ext cx="6667500" cy="198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79"/>
              </a:lnSpc>
            </a:pPr>
            <a:r>
              <a:rPr lang="en-US" b="true" sz="1200" spc="120">
                <a:solidFill>
                  <a:srgbClr val="8299B2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INFOSYS SPRINGBOARD  /  INTERNSHIP PROGRAM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DAHSjTwM7-c</dc:identifier>
  <dcterms:modified xsi:type="dcterms:W3CDTF">2011-08-01T06:04:30Z</dcterms:modified>
  <cp:revision>1</cp:revision>
  <dc:title>INFOSYS SPRINGBOARD 7.0 Virtual INTERNSHIP PROGRAM</dc:title>
</cp:coreProperties>
</file>