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3AB964F-502C-4BD0-B51B-C10193D5208D}" v="1" dt="2026-08-21T14:49:40.89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EMANTH MUDDURAJ" userId="663fe7243d41489a" providerId="LiveId" clId="{EA257F9E-2398-4F7A-A998-C7A2B60DC038}"/>
    <pc:docChg chg="modSld">
      <pc:chgData name="HEMANTH MUDDURAJ" userId="663fe7243d41489a" providerId="LiveId" clId="{EA257F9E-2398-4F7A-A998-C7A2B60DC038}" dt="2026-08-21T14:51:06.731" v="15" actId="1076"/>
      <pc:docMkLst>
        <pc:docMk/>
      </pc:docMkLst>
      <pc:sldChg chg="modSp mod">
        <pc:chgData name="HEMANTH MUDDURAJ" userId="663fe7243d41489a" providerId="LiveId" clId="{EA257F9E-2398-4F7A-A998-C7A2B60DC038}" dt="2026-08-21T14:51:06.731" v="15" actId="1076"/>
        <pc:sldMkLst>
          <pc:docMk/>
          <pc:sldMk cId="0" sldId="256"/>
        </pc:sldMkLst>
        <pc:spChg chg="mod">
          <ac:chgData name="HEMANTH MUDDURAJ" userId="663fe7243d41489a" providerId="LiveId" clId="{EA257F9E-2398-4F7A-A998-C7A2B60DC038}" dt="2026-08-21T14:51:06.731" v="15" actId="1076"/>
          <ac:spMkLst>
            <pc:docMk/>
            <pc:sldMk cId="0" sldId="256"/>
            <ac:spMk id="10" creationId="{00000000-0000-0000-0000-000000000000}"/>
          </ac:spMkLst>
        </pc:spChg>
        <pc:spChg chg="mod">
          <ac:chgData name="HEMANTH MUDDURAJ" userId="663fe7243d41489a" providerId="LiveId" clId="{EA257F9E-2398-4F7A-A998-C7A2B60DC038}" dt="2026-08-21T14:50:52.478" v="11" actId="14100"/>
          <ac:spMkLst>
            <pc:docMk/>
            <pc:sldMk cId="0" sldId="256"/>
            <ac:spMk id="11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10124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2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0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2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26980" y="800100"/>
            <a:ext cx="45720" cy="457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49940" y="1348740"/>
            <a:ext cx="45720" cy="457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" name="Shape 2"/>
          <p:cNvSpPr/>
          <p:nvPr/>
        </p:nvSpPr>
        <p:spPr>
          <a:xfrm>
            <a:off x="10584180" y="2080260"/>
            <a:ext cx="45720" cy="457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" name="Shape 3"/>
          <p:cNvSpPr/>
          <p:nvPr/>
        </p:nvSpPr>
        <p:spPr>
          <a:xfrm>
            <a:off x="10149840" y="822960"/>
            <a:ext cx="822960" cy="548640"/>
          </a:xfrm>
          <a:prstGeom prst="line">
            <a:avLst/>
          </a:prstGeom>
          <a:noFill/>
          <a:ln w="9525">
            <a:solidFill>
              <a:srgbClr val="1C729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0607040" y="1280160"/>
            <a:ext cx="365760" cy="822960"/>
          </a:xfrm>
          <a:prstGeom prst="line">
            <a:avLst/>
          </a:prstGeom>
          <a:noFill/>
          <a:ln w="9525">
            <a:solidFill>
              <a:srgbClr val="1C729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685800"/>
            <a:ext cx="822960" cy="82296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8" name="Image 0" descr="/home/claude/icons/shield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891540"/>
            <a:ext cx="411480" cy="411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22960" y="18745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INFOSYS SPRINGBOARD VIRTUAL INTERNSHIP 7.0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04672" y="3008751"/>
            <a:ext cx="10241280" cy="11887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5000"/>
              </a:lnSpc>
            </a:pPr>
            <a:r>
              <a:rPr lang="en-IN" sz="2800" dirty="0">
                <a:solidFill>
                  <a:schemeClr val="bg1"/>
                </a:solidFill>
              </a:rPr>
              <a:t>Cyber Threat Analytics Platform with Incident Visualization System Group 1</a:t>
            </a:r>
          </a:p>
          <a:p>
            <a:pPr marL="0" indent="0">
              <a:lnSpc>
                <a:spcPct val="105000"/>
              </a:lnSpc>
              <a:buNone/>
            </a:pPr>
            <a:endParaRPr lang="en-US" sz="5400" dirty="0">
              <a:solidFill>
                <a:schemeClr val="bg1"/>
              </a:solidFill>
            </a:endParaRPr>
          </a:p>
        </p:txBody>
      </p:sp>
      <p:sp>
        <p:nvSpPr>
          <p:cNvPr id="11" name="Text 8"/>
          <p:cNvSpPr/>
          <p:nvPr/>
        </p:nvSpPr>
        <p:spPr>
          <a:xfrm>
            <a:off x="634482" y="3858768"/>
            <a:ext cx="805698" cy="3657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822960" y="4617720"/>
            <a:ext cx="2926080" cy="0"/>
          </a:xfrm>
          <a:prstGeom prst="line">
            <a:avLst/>
          </a:prstGeom>
          <a:noFill/>
          <a:ln w="19050">
            <a:solidFill>
              <a:srgbClr val="1C729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2960" y="48920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7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 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Hemanth M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22960" y="53492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7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  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Mrs. Nithyasri S J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7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57200" y="6473952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C7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Threat Incident Analytics Framework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Objectives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goals that shaped the design of the analytics framework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34924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9AA5B5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783080"/>
            <a:ext cx="640080" cy="640080"/>
          </a:xfrm>
          <a:prstGeom prst="ellipse">
            <a:avLst/>
          </a:prstGeom>
          <a:solidFill>
            <a:srgbClr val="E7ECF3"/>
          </a:solidFill>
          <a:ln/>
        </p:spPr>
      </p:sp>
      <p:pic>
        <p:nvPicPr>
          <p:cNvPr id="6" name="Image 0" descr="/home/claude/icons/search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1936699"/>
            <a:ext cx="332842" cy="33284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176479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Replace Manual Log Review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468880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B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visual-first cybersecurity analytics framework that replaces slow, error-prone manual review of network and threat-detection logs.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217920" y="1508760"/>
            <a:ext cx="534924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9AA5B5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92240" y="1783080"/>
            <a:ext cx="640080" cy="640080"/>
          </a:xfrm>
          <a:prstGeom prst="ellipse">
            <a:avLst/>
          </a:prstGeom>
          <a:solidFill>
            <a:srgbClr val="E7ECF3"/>
          </a:solidFill>
          <a:ln/>
        </p:spPr>
      </p:sp>
      <p:pic>
        <p:nvPicPr>
          <p:cNvPr id="11" name="Image 1" descr="/home/claude/icons/database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5859" y="193669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15200" y="176479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Engineer a Risk-Ready Dataset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6492240" y="2468880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B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 6 million raw log rows into a clean, structured dataset enriched with Severity_score, Urgency_Flag, and Incident_ID fields.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48640" y="3931920"/>
            <a:ext cx="534924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9AA5B5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2960" y="4206240"/>
            <a:ext cx="640080" cy="640080"/>
          </a:xfrm>
          <a:prstGeom prst="ellipse">
            <a:avLst/>
          </a:prstGeom>
          <a:solidFill>
            <a:srgbClr val="E7ECF3"/>
          </a:solidFill>
          <a:ln/>
        </p:spPr>
      </p:sp>
      <p:pic>
        <p:nvPicPr>
          <p:cNvPr id="16" name="Image 2" descr="/home/claude/icons/chartbar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6579" y="435985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45920" y="418795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 Interactive Dashboard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822960" y="4892040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B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 7-page Power BI dashboard covering traffic behavior, protocol usage, severity, network origins, and executive risk.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217920" y="3931920"/>
            <a:ext cx="534924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9AA5B5">
                <a:alpha val="3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92240" y="4206240"/>
            <a:ext cx="640080" cy="640080"/>
          </a:xfrm>
          <a:prstGeom prst="ellipse">
            <a:avLst/>
          </a:prstGeom>
          <a:solidFill>
            <a:srgbClr val="E7ECF3"/>
          </a:solidFill>
          <a:ln/>
        </p:spPr>
      </p:sp>
      <p:pic>
        <p:nvPicPr>
          <p:cNvPr id="21" name="Image 3" descr="/home/claude/icons/gap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5859" y="4359859"/>
            <a:ext cx="332842" cy="33284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0" y="418795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Close the Detection Gap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6492240" y="4892040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B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how many malicious threats were blocked versus allowed, giving SOC teams a data-driven basis to improve security posture.</a:t>
            </a:r>
            <a:endParaRPr lang="en-US" sz="1150" dirty="0"/>
          </a:p>
        </p:txBody>
      </p:sp>
      <p:sp>
        <p:nvSpPr>
          <p:cNvPr id="24" name="Text 18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57200" y="6473952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5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Threat Incident Analytics Framework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Description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1064240" cy="777240"/>
          </a:xfrm>
          <a:prstGeom prst="roundRect">
            <a:avLst>
              <a:gd name="adj" fmla="val 7059"/>
            </a:avLst>
          </a:prstGeom>
          <a:solidFill>
            <a:srgbClr val="0B1F3A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005840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Replaces static, text-based log reading with interactive Power BI exploration, using the Kaggle “Cybersecurity Threat Detection Logs” dataset (6M rows of enterprise-scale network traffic) to surface hidden origins, attack patterns, and critical breaches at a glance.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3593592" cy="1783080"/>
          </a:xfrm>
          <a:prstGeom prst="roundRect">
            <a:avLst>
              <a:gd name="adj" fmla="val 3590"/>
            </a:avLst>
          </a:prstGeom>
          <a:solidFill>
            <a:srgbClr val="FFFFFF"/>
          </a:solidFill>
          <a:ln w="12700">
            <a:solidFill>
              <a:srgbClr val="E7ECF3"/>
            </a:solidFill>
            <a:prstDash val="solid"/>
          </a:ln>
          <a:effectLst>
            <a:outerShdw blurRad="63500" dist="25400" dir="5400000" algn="bl" rotWithShape="0">
              <a:srgbClr val="9AA5B5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112264"/>
            <a:ext cx="31363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483864" y="2112264"/>
            <a:ext cx="457200" cy="457200"/>
          </a:xfrm>
          <a:prstGeom prst="ellipse">
            <a:avLst/>
          </a:prstGeom>
          <a:solidFill>
            <a:srgbClr val="E7ECF3"/>
          </a:solidFill>
          <a:ln/>
        </p:spPr>
      </p:sp>
      <p:pic>
        <p:nvPicPr>
          <p:cNvPr id="8" name="Image 0" descr="/home/claude/icons/search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6734" y="2215134"/>
            <a:ext cx="251460" cy="2514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77240" y="2386584"/>
            <a:ext cx="31363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Understanding &amp; Data Collection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77240" y="2880360"/>
            <a:ext cx="3136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B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Defined the “data overload” challenge in SOCs and sourced the 6M-row raw Kaggle log dataset.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25112" y="1965960"/>
            <a:ext cx="3593592" cy="1783080"/>
          </a:xfrm>
          <a:prstGeom prst="roundRect">
            <a:avLst>
              <a:gd name="adj" fmla="val 3590"/>
            </a:avLst>
          </a:prstGeom>
          <a:solidFill>
            <a:srgbClr val="FFFFFF"/>
          </a:solidFill>
          <a:ln w="12700">
            <a:solidFill>
              <a:srgbClr val="E7ECF3"/>
            </a:solidFill>
            <a:prstDash val="solid"/>
          </a:ln>
          <a:effectLst>
            <a:outerShdw blurRad="63500" dist="25400" dir="5400000" algn="bl" rotWithShape="0">
              <a:srgbClr val="9AA5B5">
                <a:alpha val="2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4553712" y="2112264"/>
            <a:ext cx="31363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7260336" y="2112264"/>
            <a:ext cx="457200" cy="457200"/>
          </a:xfrm>
          <a:prstGeom prst="ellipse">
            <a:avLst/>
          </a:prstGeom>
          <a:solidFill>
            <a:srgbClr val="E7ECF3"/>
          </a:solidFill>
          <a:ln/>
        </p:spPr>
      </p:sp>
      <p:pic>
        <p:nvPicPr>
          <p:cNvPr id="14" name="Image 1" descr="/home/claude/icons/broom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3206" y="2215134"/>
            <a:ext cx="251460" cy="25146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553712" y="2386584"/>
            <a:ext cx="31363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Preprocessing (12-Step ETL)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4553712" y="2880360"/>
            <a:ext cx="3136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B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 a Power Query pipeline across three phases: Scale Optimization, Chronology &amp; Text Format, Enrichment &amp; Finalization.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8101584" y="1965960"/>
            <a:ext cx="3593592" cy="1783080"/>
          </a:xfrm>
          <a:prstGeom prst="roundRect">
            <a:avLst>
              <a:gd name="adj" fmla="val 3590"/>
            </a:avLst>
          </a:prstGeom>
          <a:solidFill>
            <a:srgbClr val="FFFFFF"/>
          </a:solidFill>
          <a:ln w="12700">
            <a:solidFill>
              <a:srgbClr val="E7ECF3"/>
            </a:solidFill>
            <a:prstDash val="solid"/>
          </a:ln>
          <a:effectLst>
            <a:outerShdw blurRad="63500" dist="25400" dir="5400000" algn="bl" rotWithShape="0">
              <a:srgbClr val="9AA5B5">
                <a:alpha val="2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8330184" y="2112264"/>
            <a:ext cx="31363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11036808" y="2112264"/>
            <a:ext cx="457200" cy="457200"/>
          </a:xfrm>
          <a:prstGeom prst="ellipse">
            <a:avLst/>
          </a:prstGeom>
          <a:solidFill>
            <a:srgbClr val="E7ECF3"/>
          </a:solidFill>
          <a:ln/>
        </p:spPr>
      </p:sp>
      <p:pic>
        <p:nvPicPr>
          <p:cNvPr id="20" name="Image 2" descr="/home/claude/icons/cogs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39678" y="2215134"/>
            <a:ext cx="251460" cy="25146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330184" y="2386584"/>
            <a:ext cx="31363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Modeling &amp; DAX Measures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8330184" y="2880360"/>
            <a:ext cx="3136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B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table relationships, indexing, and core DAX measures such as Severity Score and Malicious Allowed Rate %.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548640" y="3950208"/>
            <a:ext cx="3593592" cy="1783080"/>
          </a:xfrm>
          <a:prstGeom prst="roundRect">
            <a:avLst>
              <a:gd name="adj" fmla="val 3590"/>
            </a:avLst>
          </a:prstGeom>
          <a:solidFill>
            <a:srgbClr val="FFFFFF"/>
          </a:solidFill>
          <a:ln w="12700">
            <a:solidFill>
              <a:srgbClr val="E7ECF3"/>
            </a:solidFill>
            <a:prstDash val="solid"/>
          </a:ln>
          <a:effectLst>
            <a:outerShdw blurRad="63500" dist="25400" dir="5400000" algn="bl" rotWithShape="0">
              <a:srgbClr val="9AA5B5">
                <a:alpha val="25000"/>
              </a:srgbClr>
            </a:outerShdw>
          </a:effectLst>
        </p:spPr>
      </p:sp>
      <p:sp>
        <p:nvSpPr>
          <p:cNvPr id="24" name="Text 19"/>
          <p:cNvSpPr/>
          <p:nvPr/>
        </p:nvSpPr>
        <p:spPr>
          <a:xfrm>
            <a:off x="777240" y="4096512"/>
            <a:ext cx="31363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</a:t>
            </a:r>
            <a:endParaRPr lang="en-US" sz="950" dirty="0"/>
          </a:p>
        </p:txBody>
      </p:sp>
      <p:sp>
        <p:nvSpPr>
          <p:cNvPr id="25" name="Shape 20"/>
          <p:cNvSpPr/>
          <p:nvPr/>
        </p:nvSpPr>
        <p:spPr>
          <a:xfrm>
            <a:off x="3483864" y="4096512"/>
            <a:ext cx="457200" cy="457200"/>
          </a:xfrm>
          <a:prstGeom prst="ellipse">
            <a:avLst/>
          </a:prstGeom>
          <a:solidFill>
            <a:srgbClr val="E7ECF3"/>
          </a:solidFill>
          <a:ln/>
        </p:spPr>
      </p:sp>
      <p:pic>
        <p:nvPicPr>
          <p:cNvPr id="26" name="Image 3" descr="/home/claude/icons/chartpie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86734" y="4199382"/>
            <a:ext cx="251460" cy="25146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777240" y="4370832"/>
            <a:ext cx="31363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Traffic &amp; Protocol Visualization</a:t>
            </a:r>
            <a:endParaRPr lang="en-US" sz="1200" dirty="0"/>
          </a:p>
        </p:txBody>
      </p:sp>
      <p:sp>
        <p:nvSpPr>
          <p:cNvPr id="28" name="Text 22"/>
          <p:cNvSpPr/>
          <p:nvPr/>
        </p:nvSpPr>
        <p:spPr>
          <a:xfrm>
            <a:off x="777240" y="4864608"/>
            <a:ext cx="3136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B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KPI cards, area/line charts, donut charts, and treemaps to profile network traffic and protocol behavior.</a:t>
            </a:r>
            <a:endParaRPr lang="en-US" sz="950" dirty="0"/>
          </a:p>
        </p:txBody>
      </p:sp>
      <p:sp>
        <p:nvSpPr>
          <p:cNvPr id="29" name="Shape 23"/>
          <p:cNvSpPr/>
          <p:nvPr/>
        </p:nvSpPr>
        <p:spPr>
          <a:xfrm>
            <a:off x="4325112" y="3950208"/>
            <a:ext cx="3593592" cy="1783080"/>
          </a:xfrm>
          <a:prstGeom prst="roundRect">
            <a:avLst>
              <a:gd name="adj" fmla="val 3590"/>
            </a:avLst>
          </a:prstGeom>
          <a:solidFill>
            <a:srgbClr val="FFFFFF"/>
          </a:solidFill>
          <a:ln w="12700">
            <a:solidFill>
              <a:srgbClr val="E7ECF3"/>
            </a:solidFill>
            <a:prstDash val="solid"/>
          </a:ln>
          <a:effectLst>
            <a:outerShdw blurRad="63500" dist="25400" dir="5400000" algn="bl" rotWithShape="0">
              <a:srgbClr val="9AA5B5">
                <a:alpha val="25000"/>
              </a:srgbClr>
            </a:outerShdw>
          </a:effectLst>
        </p:spPr>
      </p:sp>
      <p:sp>
        <p:nvSpPr>
          <p:cNvPr id="30" name="Text 24"/>
          <p:cNvSpPr/>
          <p:nvPr/>
        </p:nvSpPr>
        <p:spPr>
          <a:xfrm>
            <a:off x="4553712" y="4096512"/>
            <a:ext cx="31363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</a:t>
            </a:r>
            <a:endParaRPr lang="en-US" sz="950" dirty="0"/>
          </a:p>
        </p:txBody>
      </p:sp>
      <p:sp>
        <p:nvSpPr>
          <p:cNvPr id="31" name="Shape 25"/>
          <p:cNvSpPr/>
          <p:nvPr/>
        </p:nvSpPr>
        <p:spPr>
          <a:xfrm>
            <a:off x="7260336" y="4096512"/>
            <a:ext cx="457200" cy="457200"/>
          </a:xfrm>
          <a:prstGeom prst="ellipse">
            <a:avLst/>
          </a:prstGeom>
          <a:solidFill>
            <a:srgbClr val="E7ECF3"/>
          </a:solidFill>
          <a:ln/>
        </p:spPr>
      </p:sp>
      <p:pic>
        <p:nvPicPr>
          <p:cNvPr id="32" name="Image 4" descr="/home/claude/icons/map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63206" y="4199382"/>
            <a:ext cx="251460" cy="251460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4553712" y="4370832"/>
            <a:ext cx="31363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Threat Intelligence &amp; Network Mapping</a:t>
            </a:r>
            <a:endParaRPr lang="en-US" sz="1200" dirty="0"/>
          </a:p>
        </p:txBody>
      </p:sp>
      <p:sp>
        <p:nvSpPr>
          <p:cNvPr id="34" name="Text 27"/>
          <p:cNvSpPr/>
          <p:nvPr/>
        </p:nvSpPr>
        <p:spPr>
          <a:xfrm>
            <a:off x="4553712" y="4864608"/>
            <a:ext cx="3136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B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severity/urgency analysis and source-destination mapping to trace attack origins and targeted machines.</a:t>
            </a:r>
            <a:endParaRPr lang="en-US" sz="950" dirty="0"/>
          </a:p>
        </p:txBody>
      </p:sp>
      <p:sp>
        <p:nvSpPr>
          <p:cNvPr id="35" name="Shape 28"/>
          <p:cNvSpPr/>
          <p:nvPr/>
        </p:nvSpPr>
        <p:spPr>
          <a:xfrm>
            <a:off x="8101584" y="3950208"/>
            <a:ext cx="3593592" cy="1783080"/>
          </a:xfrm>
          <a:prstGeom prst="roundRect">
            <a:avLst>
              <a:gd name="adj" fmla="val 3590"/>
            </a:avLst>
          </a:prstGeom>
          <a:solidFill>
            <a:srgbClr val="FFFFFF"/>
          </a:solidFill>
          <a:ln w="12700">
            <a:solidFill>
              <a:srgbClr val="E7ECF3"/>
            </a:solidFill>
            <a:prstDash val="solid"/>
          </a:ln>
          <a:effectLst>
            <a:outerShdw blurRad="63500" dist="25400" dir="5400000" algn="bl" rotWithShape="0">
              <a:srgbClr val="9AA5B5">
                <a:alpha val="25000"/>
              </a:srgbClr>
            </a:outerShdw>
          </a:effectLst>
        </p:spPr>
      </p:sp>
      <p:sp>
        <p:nvSpPr>
          <p:cNvPr id="36" name="Text 29"/>
          <p:cNvSpPr/>
          <p:nvPr/>
        </p:nvSpPr>
        <p:spPr>
          <a:xfrm>
            <a:off x="8330184" y="4096512"/>
            <a:ext cx="31363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</a:t>
            </a:r>
            <a:endParaRPr lang="en-US" sz="950" dirty="0"/>
          </a:p>
        </p:txBody>
      </p:sp>
      <p:sp>
        <p:nvSpPr>
          <p:cNvPr id="37" name="Shape 30"/>
          <p:cNvSpPr/>
          <p:nvPr/>
        </p:nvSpPr>
        <p:spPr>
          <a:xfrm>
            <a:off x="11036808" y="4096512"/>
            <a:ext cx="457200" cy="457200"/>
          </a:xfrm>
          <a:prstGeom prst="ellipse">
            <a:avLst/>
          </a:prstGeom>
          <a:solidFill>
            <a:srgbClr val="E7ECF3"/>
          </a:solidFill>
          <a:ln/>
        </p:spPr>
      </p:sp>
      <p:pic>
        <p:nvPicPr>
          <p:cNvPr id="38" name="Image 5" descr="/home/claude/icons/gauge_nav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39678" y="4199382"/>
            <a:ext cx="251460" cy="251460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8330184" y="4370832"/>
            <a:ext cx="31363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Executive Risk Summary &amp; Deployment</a:t>
            </a:r>
            <a:endParaRPr lang="en-US" sz="1200" dirty="0"/>
          </a:p>
        </p:txBody>
      </p:sp>
      <p:sp>
        <p:nvSpPr>
          <p:cNvPr id="40" name="Text 32"/>
          <p:cNvSpPr/>
          <p:nvPr/>
        </p:nvSpPr>
        <p:spPr>
          <a:xfrm>
            <a:off x="8330184" y="4864608"/>
            <a:ext cx="3136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B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a composite risk gauge and detection trend, completing and publishing the final 7-page dashboard.</a:t>
            </a:r>
            <a:endParaRPr lang="en-US" sz="950" dirty="0"/>
          </a:p>
        </p:txBody>
      </p:sp>
      <p:sp>
        <p:nvSpPr>
          <p:cNvPr id="41" name="Text 33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42" name="Text 34"/>
          <p:cNvSpPr/>
          <p:nvPr/>
        </p:nvSpPr>
        <p:spPr>
          <a:xfrm>
            <a:off x="457200" y="6473952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5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Threat Incident Analytics Framework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Workflow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8-step process followed end-to-end, from problem framing to the published dashboard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514600" cy="1691640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 w="12700">
            <a:solidFill>
              <a:srgbClr val="E7ECF3"/>
            </a:solidFill>
            <a:prstDash val="solid"/>
          </a:ln>
          <a:effectLst>
            <a:outerShdw blurRad="50800" dist="25400" dir="5400000" algn="bl" rotWithShape="0">
              <a:srgbClr val="9AA5B5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892808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49808" y="2532888"/>
            <a:ext cx="211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Understanding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49808" y="2916936"/>
            <a:ext cx="2112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B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data-overload challenge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6120" y="1691640"/>
            <a:ext cx="2514600" cy="1691640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 w="12700">
            <a:solidFill>
              <a:srgbClr val="E7ECF3"/>
            </a:solidFill>
            <a:prstDash val="solid"/>
          </a:ln>
          <a:effectLst>
            <a:outerShdw blurRad="50800" dist="25400" dir="5400000" algn="bl" rotWithShape="0">
              <a:srgbClr val="9AA5B5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29000" y="1892808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447288" y="2532888"/>
            <a:ext cx="211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Collection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447288" y="2916936"/>
            <a:ext cx="2112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B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the 6M-row Kaggle dataset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943600" y="1691640"/>
            <a:ext cx="2514600" cy="1691640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 w="12700">
            <a:solidFill>
              <a:srgbClr val="E7ECF3"/>
            </a:solidFill>
            <a:prstDash val="solid"/>
          </a:ln>
          <a:effectLst>
            <a:outerShdw blurRad="50800" dist="25400" dir="5400000" algn="bl" rotWithShape="0">
              <a:srgbClr val="9AA5B5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26480" y="1892808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6" name="Text 14"/>
          <p:cNvSpPr/>
          <p:nvPr/>
        </p:nvSpPr>
        <p:spPr>
          <a:xfrm>
            <a:off x="6126480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144768" y="2532888"/>
            <a:ext cx="211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Understanding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144768" y="2916936"/>
            <a:ext cx="2112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B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temporal &amp; geospatial fields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641080" y="1691640"/>
            <a:ext cx="2514600" cy="1691640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 w="12700">
            <a:solidFill>
              <a:srgbClr val="E7ECF3"/>
            </a:solidFill>
            <a:prstDash val="solid"/>
          </a:ln>
          <a:effectLst>
            <a:outerShdw blurRad="50800" dist="25400" dir="5400000" algn="bl" rotWithShape="0">
              <a:srgbClr val="9AA5B5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823960" y="1892808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1" name="Text 19"/>
          <p:cNvSpPr/>
          <p:nvPr/>
        </p:nvSpPr>
        <p:spPr>
          <a:xfrm>
            <a:off x="8823960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842248" y="2532888"/>
            <a:ext cx="211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Connection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8842248" y="2916936"/>
            <a:ext cx="2112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B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into the Power BI engine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3977640"/>
            <a:ext cx="2514600" cy="1691640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 w="12700">
            <a:solidFill>
              <a:srgbClr val="E7ECF3"/>
            </a:solidFill>
            <a:prstDash val="solid"/>
          </a:ln>
          <a:effectLst>
            <a:outerShdw blurRad="50800" dist="25400" dir="5400000" algn="bl" rotWithShape="0">
              <a:srgbClr val="9AA5B5">
                <a:alpha val="2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31520" y="4178808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4178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49808" y="4818888"/>
            <a:ext cx="211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Modeling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749808" y="5202936"/>
            <a:ext cx="2112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B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Relationships, indexing &amp; DAX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246120" y="3977640"/>
            <a:ext cx="2514600" cy="1691640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 w="12700">
            <a:solidFill>
              <a:srgbClr val="E7ECF3"/>
            </a:solidFill>
            <a:prstDash val="solid"/>
          </a:ln>
          <a:effectLst>
            <a:outerShdw blurRad="50800" dist="25400" dir="5400000" algn="bl" rotWithShape="0">
              <a:srgbClr val="9AA5B5">
                <a:alpha val="2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429000" y="4178808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1" name="Text 29"/>
          <p:cNvSpPr/>
          <p:nvPr/>
        </p:nvSpPr>
        <p:spPr>
          <a:xfrm>
            <a:off x="3429000" y="4178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3447288" y="4818888"/>
            <a:ext cx="211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Preprocessing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3447288" y="5202936"/>
            <a:ext cx="2112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B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12-step Power Query ETL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943600" y="3977640"/>
            <a:ext cx="2514600" cy="1691640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 w="12700">
            <a:solidFill>
              <a:srgbClr val="E7ECF3"/>
            </a:solidFill>
            <a:prstDash val="solid"/>
          </a:ln>
          <a:effectLst>
            <a:outerShdw blurRad="50800" dist="25400" dir="5400000" algn="bl" rotWithShape="0">
              <a:srgbClr val="9AA5B5">
                <a:alpha val="2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126480" y="4178808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6" name="Text 34"/>
          <p:cNvSpPr/>
          <p:nvPr/>
        </p:nvSpPr>
        <p:spPr>
          <a:xfrm>
            <a:off x="6126480" y="4178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144768" y="4818888"/>
            <a:ext cx="211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Visualization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6144768" y="5202936"/>
            <a:ext cx="2112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B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cards, maps &amp; trend charts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641080" y="3977640"/>
            <a:ext cx="2514600" cy="1691640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 w="12700">
            <a:solidFill>
              <a:srgbClr val="E7ECF3"/>
            </a:solidFill>
            <a:prstDash val="solid"/>
          </a:ln>
          <a:effectLst>
            <a:outerShdw blurRad="50800" dist="25400" dir="5400000" algn="bl" rotWithShape="0">
              <a:srgbClr val="9AA5B5">
                <a:alpha val="22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8823960" y="4178808"/>
            <a:ext cx="457200" cy="457200"/>
          </a:xfrm>
          <a:prstGeom prst="ellipse">
            <a:avLst/>
          </a:prstGeom>
          <a:solidFill>
            <a:srgbClr val="F2A541"/>
          </a:solidFill>
          <a:ln/>
        </p:spPr>
      </p:sp>
      <p:sp>
        <p:nvSpPr>
          <p:cNvPr id="41" name="Text 39"/>
          <p:cNvSpPr/>
          <p:nvPr/>
        </p:nvSpPr>
        <p:spPr>
          <a:xfrm>
            <a:off x="8823960" y="4178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8842248" y="4818888"/>
            <a:ext cx="211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 &amp; Publish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8842248" y="5202936"/>
            <a:ext cx="2112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B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executive dashboard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063240" y="2537460"/>
            <a:ext cx="182880" cy="0"/>
          </a:xfrm>
          <a:prstGeom prst="line">
            <a:avLst/>
          </a:prstGeom>
          <a:noFill/>
          <a:ln w="1905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3063240" y="4823460"/>
            <a:ext cx="182880" cy="0"/>
          </a:xfrm>
          <a:prstGeom prst="line">
            <a:avLst/>
          </a:prstGeom>
          <a:noFill/>
          <a:ln w="1905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5760720" y="2537460"/>
            <a:ext cx="182880" cy="0"/>
          </a:xfrm>
          <a:prstGeom prst="line">
            <a:avLst/>
          </a:prstGeom>
          <a:noFill/>
          <a:ln w="1905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5760720" y="4823460"/>
            <a:ext cx="182880" cy="0"/>
          </a:xfrm>
          <a:prstGeom prst="line">
            <a:avLst/>
          </a:prstGeom>
          <a:noFill/>
          <a:ln w="1905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8458200" y="2537460"/>
            <a:ext cx="182880" cy="0"/>
          </a:xfrm>
          <a:prstGeom prst="line">
            <a:avLst/>
          </a:prstGeom>
          <a:noFill/>
          <a:ln w="1905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8458200" y="4823460"/>
            <a:ext cx="182880" cy="0"/>
          </a:xfrm>
          <a:prstGeom prst="line">
            <a:avLst/>
          </a:prstGeom>
          <a:noFill/>
          <a:ln w="1905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9898380" y="3383280"/>
            <a:ext cx="0" cy="297180"/>
          </a:xfrm>
          <a:prstGeom prst="line">
            <a:avLst/>
          </a:prstGeom>
          <a:noFill/>
          <a:ln w="19050">
            <a:solidFill>
              <a:srgbClr val="F2A541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805940" y="3680460"/>
            <a:ext cx="8092440" cy="0"/>
          </a:xfrm>
          <a:prstGeom prst="line">
            <a:avLst/>
          </a:prstGeom>
          <a:noFill/>
          <a:ln w="19050">
            <a:solidFill>
              <a:srgbClr val="F2A541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805940" y="3680460"/>
            <a:ext cx="0" cy="297180"/>
          </a:xfrm>
          <a:prstGeom prst="line">
            <a:avLst/>
          </a:prstGeom>
          <a:noFill/>
          <a:ln w="19050">
            <a:solidFill>
              <a:srgbClr val="F2A541"/>
            </a:solidFill>
            <a:prstDash val="solid"/>
            <a:tailEnd type="triangle"/>
          </a:ln>
        </p:spPr>
      </p:sp>
      <p:sp>
        <p:nvSpPr>
          <p:cNvPr id="53" name="Text 51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457200" y="6473952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5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Threat Incident Analytics Framework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Visualizations &amp; Components Used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core visuals power the dashboard’s analytical narrative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64240" cy="384048"/>
          </a:xfrm>
          <a:prstGeom prst="roundRect">
            <a:avLst>
              <a:gd name="adj" fmla="val 11905"/>
            </a:avLst>
          </a:prstGeom>
          <a:solidFill>
            <a:srgbClr val="0B1F3A"/>
          </a:solidFill>
          <a:ln/>
        </p:spPr>
      </p:sp>
      <p:sp>
        <p:nvSpPr>
          <p:cNvPr id="5" name="Text 3"/>
          <p:cNvSpPr/>
          <p:nvPr/>
        </p:nvSpPr>
        <p:spPr>
          <a:xfrm>
            <a:off x="1051560" y="1417320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TYPE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394960" y="1417320"/>
            <a:ext cx="5943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 / WHAT IT SHOWS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1801368"/>
            <a:ext cx="11064240" cy="608076"/>
          </a:xfrm>
          <a:prstGeom prst="rect">
            <a:avLst/>
          </a:prstGeom>
          <a:solidFill>
            <a:srgbClr val="E7ECF3"/>
          </a:solidFill>
          <a:ln/>
        </p:spPr>
      </p:sp>
      <p:sp>
        <p:nvSpPr>
          <p:cNvPr id="8" name="Shape 6"/>
          <p:cNvSpPr/>
          <p:nvPr/>
        </p:nvSpPr>
        <p:spPr>
          <a:xfrm>
            <a:off x="658368" y="1931670"/>
            <a:ext cx="347472" cy="34747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9" name="Image 0" descr="/home/claude/icons/gauge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862" y="2001164"/>
            <a:ext cx="208483" cy="208483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43000" y="1801368"/>
            <a:ext cx="4114800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Scorecards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394960" y="1801368"/>
            <a:ext cx="5943600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B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Log Events, % Traffic Blocked, Total Data Transferred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58368" y="2539746"/>
            <a:ext cx="347472" cy="34747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3" name="Image 1" descr="/home/claude/icons/linechart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7862" y="2609240"/>
            <a:ext cx="208483" cy="20848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143000" y="2409444"/>
            <a:ext cx="4114800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Traffic Trend (Area/Line Chart)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5394960" y="2409444"/>
            <a:ext cx="5943600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B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Allowed vs. blocked traffic volume over time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48640" y="3017520"/>
            <a:ext cx="11064240" cy="608076"/>
          </a:xfrm>
          <a:prstGeom prst="rect">
            <a:avLst/>
          </a:prstGeom>
          <a:solidFill>
            <a:srgbClr val="E7ECF3"/>
          </a:solidFill>
          <a:ln/>
        </p:spPr>
      </p:sp>
      <p:sp>
        <p:nvSpPr>
          <p:cNvPr id="17" name="Shape 13"/>
          <p:cNvSpPr/>
          <p:nvPr/>
        </p:nvSpPr>
        <p:spPr>
          <a:xfrm>
            <a:off x="658368" y="3147822"/>
            <a:ext cx="347472" cy="34747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2" descr="/home/claude/icons/donut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7862" y="3217316"/>
            <a:ext cx="208483" cy="208483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143000" y="3017520"/>
            <a:ext cx="4114800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by Protocol (Donut Chart)</a:t>
            </a:r>
            <a:endParaRPr lang="en-US" sz="1150" dirty="0"/>
          </a:p>
        </p:txBody>
      </p:sp>
      <p:sp>
        <p:nvSpPr>
          <p:cNvPr id="20" name="Text 15"/>
          <p:cNvSpPr/>
          <p:nvPr/>
        </p:nvSpPr>
        <p:spPr>
          <a:xfrm>
            <a:off x="5394960" y="3017520"/>
            <a:ext cx="5943600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B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Breakdown of traffic across 7 network protocols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658368" y="3755898"/>
            <a:ext cx="347472" cy="34747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2" name="Image 3" descr="/home/claude/icons/treemap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7862" y="3825392"/>
            <a:ext cx="208483" cy="208483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143000" y="3625596"/>
            <a:ext cx="4114800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Volume Treemap</a:t>
            </a:r>
            <a:endParaRPr lang="en-US" sz="1150" dirty="0"/>
          </a:p>
        </p:txBody>
      </p:sp>
      <p:sp>
        <p:nvSpPr>
          <p:cNvPr id="24" name="Text 18"/>
          <p:cNvSpPr/>
          <p:nvPr/>
        </p:nvSpPr>
        <p:spPr>
          <a:xfrm>
            <a:off x="5394960" y="3625596"/>
            <a:ext cx="5943600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B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volume grouped by protocol security type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548640" y="4233672"/>
            <a:ext cx="11064240" cy="608076"/>
          </a:xfrm>
          <a:prstGeom prst="rect">
            <a:avLst/>
          </a:prstGeom>
          <a:solidFill>
            <a:srgbClr val="E7ECF3"/>
          </a:solidFill>
          <a:ln/>
        </p:spPr>
      </p:sp>
      <p:sp>
        <p:nvSpPr>
          <p:cNvPr id="26" name="Shape 20"/>
          <p:cNvSpPr/>
          <p:nvPr/>
        </p:nvSpPr>
        <p:spPr>
          <a:xfrm>
            <a:off x="658368" y="4363974"/>
            <a:ext cx="347472" cy="34747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7" name="Image 4" descr="/home/claude/icons/chartbar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7862" y="4433468"/>
            <a:ext cx="208483" cy="208483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143000" y="4233672"/>
            <a:ext cx="4114800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Count by Threat Response (Bar Chart)</a:t>
            </a:r>
            <a:endParaRPr lang="en-US" sz="1150" dirty="0"/>
          </a:p>
        </p:txBody>
      </p:sp>
      <p:sp>
        <p:nvSpPr>
          <p:cNvPr id="29" name="Text 22"/>
          <p:cNvSpPr/>
          <p:nvPr/>
        </p:nvSpPr>
        <p:spPr>
          <a:xfrm>
            <a:off x="5394960" y="4233672"/>
            <a:ext cx="5943600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B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Malicious, suspicious, and benign traffic by response outcome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658368" y="4972050"/>
            <a:ext cx="347472" cy="34747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1" name="Image 5" descr="/home/claude/icons/map_nav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7862" y="5041544"/>
            <a:ext cx="208483" cy="208483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1143000" y="4841748"/>
            <a:ext cx="4114800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&amp; Destination Network Map</a:t>
            </a:r>
            <a:endParaRPr lang="en-US" sz="1150" dirty="0"/>
          </a:p>
        </p:txBody>
      </p:sp>
      <p:sp>
        <p:nvSpPr>
          <p:cNvPr id="33" name="Text 25"/>
          <p:cNvSpPr/>
          <p:nvPr/>
        </p:nvSpPr>
        <p:spPr>
          <a:xfrm>
            <a:off x="5394960" y="4841748"/>
            <a:ext cx="5943600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B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Geographic/subnet origins of attacks and most-targeted internal IPs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548640" y="5449824"/>
            <a:ext cx="11064240" cy="608076"/>
          </a:xfrm>
          <a:prstGeom prst="rect">
            <a:avLst/>
          </a:prstGeom>
          <a:solidFill>
            <a:srgbClr val="E7ECF3"/>
          </a:solidFill>
          <a:ln/>
        </p:spPr>
      </p:sp>
      <p:sp>
        <p:nvSpPr>
          <p:cNvPr id="35" name="Shape 27"/>
          <p:cNvSpPr/>
          <p:nvPr/>
        </p:nvSpPr>
        <p:spPr>
          <a:xfrm>
            <a:off x="658368" y="5580126"/>
            <a:ext cx="347472" cy="34747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6" name="Image 6" descr="/home/claude/icons/flag_nav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7862" y="5649620"/>
            <a:ext cx="208483" cy="208483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1143000" y="5449824"/>
            <a:ext cx="4114800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Risk Gauge</a:t>
            </a:r>
            <a:endParaRPr lang="en-US" sz="1150" dirty="0"/>
          </a:p>
        </p:txBody>
      </p:sp>
      <p:sp>
        <p:nvSpPr>
          <p:cNvPr id="38" name="Text 29"/>
          <p:cNvSpPr/>
          <p:nvPr/>
        </p:nvSpPr>
        <p:spPr>
          <a:xfrm>
            <a:off x="5394960" y="5449824"/>
            <a:ext cx="5943600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B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risk score and detection trend for leadership</a:t>
            </a:r>
            <a:endParaRPr lang="en-US" sz="1100" dirty="0"/>
          </a:p>
        </p:txBody>
      </p:sp>
      <p:sp>
        <p:nvSpPr>
          <p:cNvPr id="39" name="Text 30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40" name="Text 31"/>
          <p:cNvSpPr/>
          <p:nvPr/>
        </p:nvSpPr>
        <p:spPr>
          <a:xfrm>
            <a:off x="457200" y="6473952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5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Threat Incident Analytics Framework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Execution Milestones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Executed through 4 structured milestones to ensure systematic progress and accuracy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112B4D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453896"/>
            <a:ext cx="402336" cy="402336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6" name="Image 0" descr="/home/claude/icons/database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758" y="1544422"/>
            <a:ext cx="221285" cy="22128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34440" y="137160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/ Source Used:  </a:t>
            </a:r>
            <a:r>
              <a:rPr lang="en-US" sz="1200" dirty="0">
                <a:solidFill>
                  <a:srgbClr val="C3C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“Cybersecurity Threat Detection Logs” — 6,000,000 raw rows, refined to 1,495,242 events (Jan–Mar 2024)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2148840"/>
            <a:ext cx="2651760" cy="397764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2700">
            <a:solidFill>
              <a:srgbClr val="E7ECF3"/>
            </a:solidFill>
            <a:prstDash val="solid"/>
          </a:ln>
          <a:effectLst>
            <a:outerShdw blurRad="63500" dist="25400" dir="5400000" algn="bl" rotWithShape="0">
              <a:srgbClr val="9AA5B5">
                <a:alpha val="2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1581912" y="2404872"/>
            <a:ext cx="585216" cy="58521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0" name="Text 7"/>
          <p:cNvSpPr/>
          <p:nvPr/>
        </p:nvSpPr>
        <p:spPr>
          <a:xfrm>
            <a:off x="1581912" y="24048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685800" y="31363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1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685800" y="3410712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Collection &amp; Preprocessing (ETL)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713232" y="4233672"/>
            <a:ext cx="232257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80" dirty="0">
                <a:solidFill>
                  <a:srgbClr val="3B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Sourced the raw dataset and executed a 12-step Power Query ETL pipeline to clean, format, and enrich the data.</a:t>
            </a:r>
            <a:endParaRPr lang="en-US" sz="980" dirty="0"/>
          </a:p>
        </p:txBody>
      </p:sp>
      <p:sp>
        <p:nvSpPr>
          <p:cNvPr id="14" name="Shape 11"/>
          <p:cNvSpPr/>
          <p:nvPr/>
        </p:nvSpPr>
        <p:spPr>
          <a:xfrm>
            <a:off x="868680" y="5623560"/>
            <a:ext cx="2011680" cy="320040"/>
          </a:xfrm>
          <a:prstGeom prst="roundRect">
            <a:avLst>
              <a:gd name="adj" fmla="val 48571"/>
            </a:avLst>
          </a:prstGeom>
          <a:solidFill>
            <a:srgbClr val="E7ECF3"/>
          </a:solidFill>
          <a:ln/>
        </p:spPr>
      </p:sp>
      <p:sp>
        <p:nvSpPr>
          <p:cNvPr id="15" name="Text 12"/>
          <p:cNvSpPr/>
          <p:nvPr/>
        </p:nvSpPr>
        <p:spPr>
          <a:xfrm>
            <a:off x="868680" y="56235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02-07-2026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3337560" y="2148840"/>
            <a:ext cx="2651760" cy="397764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2700">
            <a:solidFill>
              <a:srgbClr val="E7ECF3"/>
            </a:solidFill>
            <a:prstDash val="solid"/>
          </a:ln>
          <a:effectLst>
            <a:outerShdw blurRad="63500" dist="25400" dir="5400000" algn="bl" rotWithShape="0">
              <a:srgbClr val="9AA5B5">
                <a:alpha val="25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370832" y="2404872"/>
            <a:ext cx="585216" cy="58521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5"/>
          <p:cNvSpPr/>
          <p:nvPr/>
        </p:nvSpPr>
        <p:spPr>
          <a:xfrm>
            <a:off x="4370832" y="24048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3474720" y="31363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2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3474720" y="3410712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Initial Visualization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3502152" y="4233672"/>
            <a:ext cx="232257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80" dirty="0">
                <a:solidFill>
                  <a:srgbClr val="3B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Engineered core DAX measures and developed the first two interactive dashboard pages.</a:t>
            </a:r>
            <a:endParaRPr lang="en-US" sz="980" dirty="0"/>
          </a:p>
        </p:txBody>
      </p:sp>
      <p:sp>
        <p:nvSpPr>
          <p:cNvPr id="22" name="Shape 19"/>
          <p:cNvSpPr/>
          <p:nvPr/>
        </p:nvSpPr>
        <p:spPr>
          <a:xfrm>
            <a:off x="3657600" y="5623560"/>
            <a:ext cx="2011680" cy="320040"/>
          </a:xfrm>
          <a:prstGeom prst="roundRect">
            <a:avLst>
              <a:gd name="adj" fmla="val 48571"/>
            </a:avLst>
          </a:prstGeom>
          <a:solidFill>
            <a:srgbClr val="E7ECF3"/>
          </a:solidFill>
          <a:ln/>
        </p:spPr>
      </p:sp>
      <p:sp>
        <p:nvSpPr>
          <p:cNvPr id="23" name="Text 20"/>
          <p:cNvSpPr/>
          <p:nvPr/>
        </p:nvSpPr>
        <p:spPr>
          <a:xfrm>
            <a:off x="3657600" y="56235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16-07-2026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6126480" y="2148840"/>
            <a:ext cx="2651760" cy="397764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2700">
            <a:solidFill>
              <a:srgbClr val="E7ECF3"/>
            </a:solidFill>
            <a:prstDash val="solid"/>
          </a:ln>
          <a:effectLst>
            <a:outerShdw blurRad="63500" dist="25400" dir="5400000" algn="bl" rotWithShape="0">
              <a:srgbClr val="9AA5B5">
                <a:alpha val="25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159752" y="2404872"/>
            <a:ext cx="585216" cy="58521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6" name="Text 23"/>
          <p:cNvSpPr/>
          <p:nvPr/>
        </p:nvSpPr>
        <p:spPr>
          <a:xfrm>
            <a:off x="7159752" y="24048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7" name="Text 24"/>
          <p:cNvSpPr/>
          <p:nvPr/>
        </p:nvSpPr>
        <p:spPr>
          <a:xfrm>
            <a:off x="6263640" y="31363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3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6263640" y="3410712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Tactical Analytics Expansion</a:t>
            </a:r>
            <a:endParaRPr lang="en-US" sz="1250" dirty="0"/>
          </a:p>
        </p:txBody>
      </p:sp>
      <p:sp>
        <p:nvSpPr>
          <p:cNvPr id="29" name="Text 26"/>
          <p:cNvSpPr/>
          <p:nvPr/>
        </p:nvSpPr>
        <p:spPr>
          <a:xfrm>
            <a:off x="6291072" y="4233672"/>
            <a:ext cx="232257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80" dirty="0">
                <a:solidFill>
                  <a:srgbClr val="3B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and deployed three pages covering protocol behavior, severity/urgency analysis, and network mapping.</a:t>
            </a:r>
            <a:endParaRPr lang="en-US" sz="980" dirty="0"/>
          </a:p>
        </p:txBody>
      </p:sp>
      <p:sp>
        <p:nvSpPr>
          <p:cNvPr id="30" name="Shape 27"/>
          <p:cNvSpPr/>
          <p:nvPr/>
        </p:nvSpPr>
        <p:spPr>
          <a:xfrm>
            <a:off x="6446520" y="5623560"/>
            <a:ext cx="2011680" cy="320040"/>
          </a:xfrm>
          <a:prstGeom prst="roundRect">
            <a:avLst>
              <a:gd name="adj" fmla="val 48571"/>
            </a:avLst>
          </a:prstGeom>
          <a:solidFill>
            <a:srgbClr val="E7ECF3"/>
          </a:solidFill>
          <a:ln/>
        </p:spPr>
      </p:sp>
      <p:sp>
        <p:nvSpPr>
          <p:cNvPr id="31" name="Text 28"/>
          <p:cNvSpPr/>
          <p:nvPr/>
        </p:nvSpPr>
        <p:spPr>
          <a:xfrm>
            <a:off x="6446520" y="56235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06-08-2026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8915400" y="2148840"/>
            <a:ext cx="2651760" cy="397764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2700">
            <a:solidFill>
              <a:srgbClr val="E7ECF3"/>
            </a:solidFill>
            <a:prstDash val="solid"/>
          </a:ln>
          <a:effectLst>
            <a:outerShdw blurRad="63500" dist="25400" dir="5400000" algn="bl" rotWithShape="0">
              <a:srgbClr val="9AA5B5">
                <a:alpha val="25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9948672" y="2404872"/>
            <a:ext cx="585216" cy="585216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34" name="Text 31"/>
          <p:cNvSpPr/>
          <p:nvPr/>
        </p:nvSpPr>
        <p:spPr>
          <a:xfrm>
            <a:off x="9948672" y="24048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35" name="Text 32"/>
          <p:cNvSpPr/>
          <p:nvPr/>
        </p:nvSpPr>
        <p:spPr>
          <a:xfrm>
            <a:off x="9052560" y="31363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4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9052560" y="3410712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Executive Risk &amp; Deployment</a:t>
            </a:r>
            <a:endParaRPr lang="en-US" sz="1250" dirty="0"/>
          </a:p>
        </p:txBody>
      </p:sp>
      <p:sp>
        <p:nvSpPr>
          <p:cNvPr id="37" name="Text 34"/>
          <p:cNvSpPr/>
          <p:nvPr/>
        </p:nvSpPr>
        <p:spPr>
          <a:xfrm>
            <a:off x="9079992" y="4233672"/>
            <a:ext cx="232257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80" dirty="0">
                <a:solidFill>
                  <a:srgbClr val="3B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the final two pages — executive risk summary and high-volume traffic analysis — completing the 7-page framework.</a:t>
            </a:r>
            <a:endParaRPr lang="en-US" sz="980" dirty="0"/>
          </a:p>
        </p:txBody>
      </p:sp>
      <p:sp>
        <p:nvSpPr>
          <p:cNvPr id="38" name="Shape 35"/>
          <p:cNvSpPr/>
          <p:nvPr/>
        </p:nvSpPr>
        <p:spPr>
          <a:xfrm>
            <a:off x="9235440" y="5623560"/>
            <a:ext cx="2011680" cy="320040"/>
          </a:xfrm>
          <a:prstGeom prst="roundRect">
            <a:avLst>
              <a:gd name="adj" fmla="val 48571"/>
            </a:avLst>
          </a:prstGeom>
          <a:solidFill>
            <a:srgbClr val="E7ECF3"/>
          </a:solidFill>
          <a:ln/>
        </p:spPr>
      </p:sp>
      <p:sp>
        <p:nvSpPr>
          <p:cNvPr id="39" name="Text 36"/>
          <p:cNvSpPr/>
          <p:nvPr/>
        </p:nvSpPr>
        <p:spPr>
          <a:xfrm>
            <a:off x="9235440" y="56235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13-08-2026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41" name="Text 38"/>
          <p:cNvSpPr/>
          <p:nvPr/>
        </p:nvSpPr>
        <p:spPr>
          <a:xfrm>
            <a:off x="457200" y="6473952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5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Threat Incident Analytics Framework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Challenges Faced and Resolutions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217920" y="105156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5394960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F1CDD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691640"/>
            <a:ext cx="457200" cy="45720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17320" y="164592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Inconsistent Data &amp; Duplicates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417320" y="2029968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3B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logs contained inconsistent data types and duplicate entries.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6217920" y="1463040"/>
            <a:ext cx="5394960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C7E3E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55080" y="1691640"/>
            <a:ext cx="457200" cy="457200"/>
          </a:xfrm>
          <a:prstGeom prst="ellipse">
            <a:avLst/>
          </a:prstGeom>
          <a:solidFill>
            <a:srgbClr val="D6EEF2"/>
          </a:solidFill>
          <a:ln/>
        </p:spPr>
      </p:sp>
      <p:pic>
        <p:nvPicPr>
          <p:cNvPr id="12" name="Image 0" descr="/home/claude/icons/checkcircle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783080"/>
            <a:ext cx="274320" cy="27432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995160" y="16459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Resolution 1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995160" y="2029968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3B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explicit type conversions and a de-duplication step early in the Power Query pipeline.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548640" y="3044952"/>
            <a:ext cx="5394960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F1CDD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77240" y="3273552"/>
            <a:ext cx="457200" cy="45720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17" name="Text 14"/>
          <p:cNvSpPr/>
          <p:nvPr/>
        </p:nvSpPr>
        <p:spPr>
          <a:xfrm>
            <a:off x="777240" y="3273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417320" y="3227832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Noisy High-Cardinality Fields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611880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3B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Free-text fields (user_agent, request_path) added noise without analytical value.</a:t>
            </a:r>
            <a:endParaRPr lang="en-US" sz="1080" dirty="0"/>
          </a:p>
        </p:txBody>
      </p:sp>
      <p:sp>
        <p:nvSpPr>
          <p:cNvPr id="20" name="Shape 17"/>
          <p:cNvSpPr/>
          <p:nvPr/>
        </p:nvSpPr>
        <p:spPr>
          <a:xfrm>
            <a:off x="6217920" y="3044952"/>
            <a:ext cx="5394960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C7E3E9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355080" y="3273552"/>
            <a:ext cx="457200" cy="457200"/>
          </a:xfrm>
          <a:prstGeom prst="ellipse">
            <a:avLst/>
          </a:prstGeom>
          <a:solidFill>
            <a:srgbClr val="D6EEF2"/>
          </a:solidFill>
          <a:ln/>
        </p:spPr>
      </p:sp>
      <p:pic>
        <p:nvPicPr>
          <p:cNvPr id="22" name="Image 1" descr="/home/claude/icons/checkcircle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3364992"/>
            <a:ext cx="274320" cy="27432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6995160" y="322783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Resolution 2</a:t>
            </a:r>
            <a:endParaRPr lang="en-US" sz="1300" dirty="0"/>
          </a:p>
        </p:txBody>
      </p:sp>
      <p:sp>
        <p:nvSpPr>
          <p:cNvPr id="24" name="Text 20"/>
          <p:cNvSpPr/>
          <p:nvPr/>
        </p:nvSpPr>
        <p:spPr>
          <a:xfrm>
            <a:off x="6995160" y="361188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3B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 these columns after confirming they contributed no analytical value.</a:t>
            </a:r>
            <a:endParaRPr lang="en-US" sz="1080" dirty="0"/>
          </a:p>
        </p:txBody>
      </p:sp>
      <p:sp>
        <p:nvSpPr>
          <p:cNvPr id="25" name="Shape 21"/>
          <p:cNvSpPr/>
          <p:nvPr/>
        </p:nvSpPr>
        <p:spPr>
          <a:xfrm>
            <a:off x="548640" y="4626864"/>
            <a:ext cx="5394960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F1CDD1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777240" y="4855464"/>
            <a:ext cx="457200" cy="45720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27" name="Text 23"/>
          <p:cNvSpPr/>
          <p:nvPr/>
        </p:nvSpPr>
        <p:spPr>
          <a:xfrm>
            <a:off x="777240" y="48554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4"/>
          <p:cNvSpPr/>
          <p:nvPr/>
        </p:nvSpPr>
        <p:spPr>
          <a:xfrm>
            <a:off x="1417320" y="4809744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Severity Scoring Logic</a:t>
            </a:r>
            <a:endParaRPr lang="en-US" sz="1300" dirty="0"/>
          </a:p>
        </p:txBody>
      </p:sp>
      <p:sp>
        <p:nvSpPr>
          <p:cNvPr id="29" name="Text 25"/>
          <p:cNvSpPr/>
          <p:nvPr/>
        </p:nvSpPr>
        <p:spPr>
          <a:xfrm>
            <a:off x="1417320" y="5193792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3B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Designing conditional logic for Severity_score that meaningfully reflects event risk.</a:t>
            </a:r>
            <a:endParaRPr lang="en-US" sz="1080" dirty="0"/>
          </a:p>
        </p:txBody>
      </p:sp>
      <p:sp>
        <p:nvSpPr>
          <p:cNvPr id="30" name="Shape 26"/>
          <p:cNvSpPr/>
          <p:nvPr/>
        </p:nvSpPr>
        <p:spPr>
          <a:xfrm>
            <a:off x="6217920" y="4626864"/>
            <a:ext cx="5394960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C7E3E9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6355080" y="4855464"/>
            <a:ext cx="457200" cy="457200"/>
          </a:xfrm>
          <a:prstGeom prst="ellipse">
            <a:avLst/>
          </a:prstGeom>
          <a:solidFill>
            <a:srgbClr val="D6EEF2"/>
          </a:solidFill>
          <a:ln/>
        </p:spPr>
      </p:sp>
      <p:pic>
        <p:nvPicPr>
          <p:cNvPr id="32" name="Image 2" descr="/home/claude/icons/checkcircle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4946904"/>
            <a:ext cx="274320" cy="274320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6995160" y="480974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Resolution 3</a:t>
            </a:r>
            <a:endParaRPr lang="en-US" sz="1300" dirty="0"/>
          </a:p>
        </p:txBody>
      </p:sp>
      <p:sp>
        <p:nvSpPr>
          <p:cNvPr id="34" name="Text 29"/>
          <p:cNvSpPr/>
          <p:nvPr/>
        </p:nvSpPr>
        <p:spPr>
          <a:xfrm>
            <a:off x="6995160" y="5193792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3B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Iteratively tested conditional logic against sample rows before finalizing, then reused the pattern for Threat Response Status.</a:t>
            </a:r>
            <a:endParaRPr lang="en-US" sz="1080" dirty="0"/>
          </a:p>
        </p:txBody>
      </p:sp>
      <p:sp>
        <p:nvSpPr>
          <p:cNvPr id="35" name="Text 30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36" name="Text 31"/>
          <p:cNvSpPr/>
          <p:nvPr/>
        </p:nvSpPr>
        <p:spPr>
          <a:xfrm>
            <a:off x="457200" y="6473952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5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Threat Incident Analytics Framework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Learnings &amp; Skills Acquired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5394960" cy="3977640"/>
          </a:xfrm>
          <a:prstGeom prst="roundRect">
            <a:avLst>
              <a:gd name="adj" fmla="val 1839"/>
            </a:avLst>
          </a:prstGeom>
          <a:solidFill>
            <a:srgbClr val="0B1F3A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1417320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5" name="Image 0" descr="/home/claude/icons/code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1540764"/>
            <a:ext cx="301752" cy="30175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54480" y="14173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Skills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868680" y="2203704"/>
            <a:ext cx="109728" cy="109728"/>
          </a:xfrm>
          <a:prstGeom prst="ellipse">
            <a:avLst/>
          </a:prstGeom>
          <a:solidFill>
            <a:srgbClr val="F2A541"/>
          </a:solidFill>
          <a:ln/>
        </p:spPr>
      </p:sp>
      <p:sp>
        <p:nvSpPr>
          <p:cNvPr id="8" name="Text 5"/>
          <p:cNvSpPr/>
          <p:nvPr/>
        </p:nvSpPr>
        <p:spPr>
          <a:xfrm>
            <a:off x="1143000" y="2148840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D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Query (M language) data transformation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68680" y="2798064"/>
            <a:ext cx="109728" cy="109728"/>
          </a:xfrm>
          <a:prstGeom prst="ellipse">
            <a:avLst/>
          </a:prstGeom>
          <a:solidFill>
            <a:srgbClr val="F2A541"/>
          </a:solidFill>
          <a:ln/>
        </p:spPr>
      </p:sp>
      <p:sp>
        <p:nvSpPr>
          <p:cNvPr id="10" name="Text 7"/>
          <p:cNvSpPr/>
          <p:nvPr/>
        </p:nvSpPr>
        <p:spPr>
          <a:xfrm>
            <a:off x="1143000" y="2743200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D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 measures &amp; calculated columns for KPI / risk-scoring logic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68680" y="3392424"/>
            <a:ext cx="109728" cy="109728"/>
          </a:xfrm>
          <a:prstGeom prst="ellipse">
            <a:avLst/>
          </a:prstGeom>
          <a:solidFill>
            <a:srgbClr val="F2A541"/>
          </a:solidFill>
          <a:ln/>
        </p:spPr>
      </p:sp>
      <p:sp>
        <p:nvSpPr>
          <p:cNvPr id="12" name="Text 9"/>
          <p:cNvSpPr/>
          <p:nvPr/>
        </p:nvSpPr>
        <p:spPr>
          <a:xfrm>
            <a:off x="1143000" y="3337560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D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Multi-page Power BI dashboard design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68680" y="3986784"/>
            <a:ext cx="109728" cy="109728"/>
          </a:xfrm>
          <a:prstGeom prst="ellipse">
            <a:avLst/>
          </a:prstGeom>
          <a:solidFill>
            <a:srgbClr val="F2A541"/>
          </a:solidFill>
          <a:ln/>
        </p:spPr>
      </p:sp>
      <p:sp>
        <p:nvSpPr>
          <p:cNvPr id="14" name="Text 11"/>
          <p:cNvSpPr/>
          <p:nvPr/>
        </p:nvSpPr>
        <p:spPr>
          <a:xfrm>
            <a:off x="1143000" y="3931920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D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for risk-based analytics (severity scoring, urgency flagging)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217920" y="1143000"/>
            <a:ext cx="5394960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12700">
            <a:solidFill>
              <a:srgbClr val="E7ECF3"/>
            </a:solidFill>
            <a:prstDash val="solid"/>
          </a:ln>
          <a:effectLst>
            <a:outerShdw blurRad="63500" dist="25400" dir="5400000" algn="bl" rotWithShape="0">
              <a:srgbClr val="9AA5B5">
                <a:alpha val="25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537960" y="1417320"/>
            <a:ext cx="548640" cy="548640"/>
          </a:xfrm>
          <a:prstGeom prst="ellipse">
            <a:avLst/>
          </a:prstGeom>
          <a:solidFill>
            <a:srgbClr val="E7ECF3"/>
          </a:solidFill>
          <a:ln/>
        </p:spPr>
      </p:sp>
      <p:pic>
        <p:nvPicPr>
          <p:cNvPr id="17" name="Image 1" descr="/home/claude/icons/users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1404" y="1540764"/>
            <a:ext cx="301752" cy="301752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7223760" y="14173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Soft Skills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6537960" y="2203704"/>
            <a:ext cx="109728" cy="1097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0" name="Text 16"/>
          <p:cNvSpPr/>
          <p:nvPr/>
        </p:nvSpPr>
        <p:spPr>
          <a:xfrm>
            <a:off x="6812280" y="2148840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B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Disciplined documentation and milestone-based self-management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6537960" y="2798064"/>
            <a:ext cx="109728" cy="1097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2" name="Text 18"/>
          <p:cNvSpPr/>
          <p:nvPr/>
        </p:nvSpPr>
        <p:spPr>
          <a:xfrm>
            <a:off x="6812280" y="2743200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B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communication and iterative feedback with mentor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6537960" y="3392424"/>
            <a:ext cx="109728" cy="1097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4" name="Text 20"/>
          <p:cNvSpPr/>
          <p:nvPr/>
        </p:nvSpPr>
        <p:spPr>
          <a:xfrm>
            <a:off x="6812280" y="3337560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B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Collaborative problem-solving across a 4-person team</a:t>
            </a: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6537960" y="3977640"/>
            <a:ext cx="4709160" cy="0"/>
          </a:xfrm>
          <a:prstGeom prst="line">
            <a:avLst/>
          </a:prstGeom>
          <a:noFill/>
          <a:ln w="12700">
            <a:solidFill>
              <a:srgbClr val="E7ECF3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537960" y="4114800"/>
            <a:ext cx="384048" cy="384048"/>
          </a:xfrm>
          <a:prstGeom prst="ellipse">
            <a:avLst/>
          </a:prstGeom>
          <a:solidFill>
            <a:srgbClr val="E7ECF3"/>
          </a:solidFill>
          <a:ln/>
        </p:spPr>
      </p:sp>
      <p:pic>
        <p:nvPicPr>
          <p:cNvPr id="27" name="Image 2" descr="/home/claude/icons/lightbulb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4371" y="4201211"/>
            <a:ext cx="211226" cy="211226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7040880" y="411480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Learning / Experience</a:t>
            </a:r>
            <a:endParaRPr lang="en-US" sz="1000" dirty="0"/>
          </a:p>
        </p:txBody>
      </p:sp>
      <p:sp>
        <p:nvSpPr>
          <p:cNvPr id="29" name="Text 24"/>
          <p:cNvSpPr/>
          <p:nvPr/>
        </p:nvSpPr>
        <p:spPr>
          <a:xfrm>
            <a:off x="6537960" y="44348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30" i="1" dirty="0">
                <a:solidFill>
                  <a:srgbClr val="3B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Gained hands-on, SOC-standard experience translating raw, noisy security logs into a decision-ready analytical tool for enterprise threat response.</a:t>
            </a:r>
            <a:endParaRPr lang="en-US" sz="1030" dirty="0"/>
          </a:p>
        </p:txBody>
      </p:sp>
      <p:sp>
        <p:nvSpPr>
          <p:cNvPr id="30" name="Text 25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457200" y="6473952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5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Threat Incident Analytics Framework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Enhancements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539496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ECF3"/>
            </a:solidFill>
            <a:prstDash val="solid"/>
          </a:ln>
          <a:effectLst>
            <a:outerShdw blurRad="63500" dist="25400" dir="5400000" algn="bl" rotWithShape="0">
              <a:srgbClr val="9AA5B5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362456"/>
            <a:ext cx="475488" cy="475488"/>
          </a:xfrm>
          <a:prstGeom prst="ellipse">
            <a:avLst/>
          </a:prstGeom>
          <a:solidFill>
            <a:srgbClr val="E7ECF3"/>
          </a:solidFill>
          <a:ln/>
        </p:spPr>
      </p:sp>
      <p:pic>
        <p:nvPicPr>
          <p:cNvPr id="5" name="Image 0" descr="/home/claude/icons/search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225" y="1469441"/>
            <a:ext cx="261518" cy="26151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12527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417320" y="1472184"/>
            <a:ext cx="4343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Drill-through incident history for any Top-10 source IP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48640" y="2313432"/>
            <a:ext cx="539496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ECF3"/>
            </a:solidFill>
            <a:prstDash val="solid"/>
          </a:ln>
          <a:effectLst>
            <a:outerShdw blurRad="63500" dist="25400" dir="5400000" algn="bl" rotWithShape="0">
              <a:srgbClr val="9AA5B5">
                <a:alpha val="2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77240" y="2532888"/>
            <a:ext cx="475488" cy="475488"/>
          </a:xfrm>
          <a:prstGeom prst="ellipse">
            <a:avLst/>
          </a:prstGeom>
          <a:solidFill>
            <a:srgbClr val="E7ECF3"/>
          </a:solidFill>
          <a:ln/>
        </p:spPr>
      </p:sp>
      <p:pic>
        <p:nvPicPr>
          <p:cNvPr id="10" name="Image 1" descr="/home/claude/icons/map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225" y="2639873"/>
            <a:ext cx="261518" cy="26151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17320" y="24231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1417320" y="2642616"/>
            <a:ext cx="4343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geolocation mapping instead of subnet-based grouping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548640" y="3483864"/>
            <a:ext cx="539496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ECF3"/>
            </a:solidFill>
            <a:prstDash val="solid"/>
          </a:ln>
          <a:effectLst>
            <a:outerShdw blurRad="63500" dist="25400" dir="5400000" algn="bl" rotWithShape="0">
              <a:srgbClr val="9AA5B5">
                <a:alpha val="2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77240" y="3703320"/>
            <a:ext cx="475488" cy="475488"/>
          </a:xfrm>
          <a:prstGeom prst="ellipse">
            <a:avLst/>
          </a:prstGeom>
          <a:solidFill>
            <a:srgbClr val="E7ECF3"/>
          </a:solidFill>
          <a:ln/>
        </p:spPr>
      </p:sp>
      <p:pic>
        <p:nvPicPr>
          <p:cNvPr id="15" name="Image 2" descr="/home/claude/icons/clock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4225" y="3810305"/>
            <a:ext cx="261518" cy="26151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417320" y="3593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17" name="Text 12"/>
          <p:cNvSpPr/>
          <p:nvPr/>
        </p:nvSpPr>
        <p:spPr>
          <a:xfrm>
            <a:off x="1417320" y="3813048"/>
            <a:ext cx="4343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Stream near-real-time log data instead of a static extract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548640" y="4654296"/>
            <a:ext cx="539496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ECF3"/>
            </a:solidFill>
            <a:prstDash val="solid"/>
          </a:ln>
          <a:effectLst>
            <a:outerShdw blurRad="63500" dist="25400" dir="5400000" algn="bl" rotWithShape="0">
              <a:srgbClr val="9AA5B5">
                <a:alpha val="2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77240" y="4873752"/>
            <a:ext cx="475488" cy="475488"/>
          </a:xfrm>
          <a:prstGeom prst="ellipse">
            <a:avLst/>
          </a:prstGeom>
          <a:solidFill>
            <a:srgbClr val="E7ECF3"/>
          </a:solidFill>
          <a:ln/>
        </p:spPr>
      </p:sp>
      <p:pic>
        <p:nvPicPr>
          <p:cNvPr id="20" name="Image 3" descr="/home/claude/icons/robot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4225" y="4980737"/>
            <a:ext cx="261518" cy="26151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417320" y="476402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22" name="Text 16"/>
          <p:cNvSpPr/>
          <p:nvPr/>
        </p:nvSpPr>
        <p:spPr>
          <a:xfrm>
            <a:off x="1417320" y="4983480"/>
            <a:ext cx="4343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Layer in ML anomaly-detection scoring to complement Severity_score</a:t>
            </a:r>
            <a:endParaRPr lang="en-US" sz="1250" dirty="0"/>
          </a:p>
        </p:txBody>
      </p:sp>
      <p:sp>
        <p:nvSpPr>
          <p:cNvPr id="23" name="Shape 17"/>
          <p:cNvSpPr/>
          <p:nvPr/>
        </p:nvSpPr>
        <p:spPr>
          <a:xfrm>
            <a:off x="6217920" y="1143000"/>
            <a:ext cx="5394960" cy="5349240"/>
          </a:xfrm>
          <a:prstGeom prst="roundRect">
            <a:avLst>
              <a:gd name="adj" fmla="val 1368"/>
            </a:avLst>
          </a:prstGeom>
          <a:solidFill>
            <a:srgbClr val="0B1F3A"/>
          </a:solidFill>
          <a:ln/>
        </p:spPr>
      </p:sp>
      <p:sp>
        <p:nvSpPr>
          <p:cNvPr id="24" name="Text 18"/>
          <p:cNvSpPr/>
          <p:nvPr/>
        </p:nvSpPr>
        <p:spPr>
          <a:xfrm>
            <a:off x="6537960" y="14173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INSIGHTS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6537960" y="1746504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8A97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dashboard revealed about the organization’s security posture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6537960" y="2212848"/>
            <a:ext cx="4846320" cy="0"/>
          </a:xfrm>
          <a:prstGeom prst="line">
            <a:avLst/>
          </a:prstGeom>
          <a:noFill/>
          <a:ln w="12700">
            <a:solidFill>
              <a:srgbClr val="23375C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6537960" y="23774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E639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49.89%</a:t>
            </a:r>
            <a:endParaRPr lang="en-US" sz="2600" dirty="0"/>
          </a:p>
        </p:txBody>
      </p:sp>
      <p:sp>
        <p:nvSpPr>
          <p:cNvPr id="28" name="Text 22"/>
          <p:cNvSpPr/>
          <p:nvPr/>
        </p:nvSpPr>
        <p:spPr>
          <a:xfrm>
            <a:off x="8458200" y="237744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C3C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Breach Rate — nearly half of all malicious traffic bypassed perimeter defenses and was allowed through</a:t>
            </a:r>
            <a:endParaRPr lang="en-US" sz="1030" dirty="0"/>
          </a:p>
        </p:txBody>
      </p:sp>
      <p:sp>
        <p:nvSpPr>
          <p:cNvPr id="29" name="Shape 23"/>
          <p:cNvSpPr/>
          <p:nvPr/>
        </p:nvSpPr>
        <p:spPr>
          <a:xfrm>
            <a:off x="6537960" y="3447288"/>
            <a:ext cx="4846320" cy="0"/>
          </a:xfrm>
          <a:prstGeom prst="line">
            <a:avLst/>
          </a:prstGeom>
          <a:noFill/>
          <a:ln w="12700">
            <a:solidFill>
              <a:srgbClr val="23375C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6537960" y="361188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E639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9.3 GB</a:t>
            </a:r>
            <a:endParaRPr lang="en-US" sz="2600" dirty="0"/>
          </a:p>
        </p:txBody>
      </p:sp>
      <p:sp>
        <p:nvSpPr>
          <p:cNvPr id="31" name="Text 25"/>
          <p:cNvSpPr/>
          <p:nvPr/>
        </p:nvSpPr>
        <p:spPr>
          <a:xfrm>
            <a:off x="8458200" y="361188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C3C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data transferred over TCP alone — a strong indicator of potential data exfiltration</a:t>
            </a:r>
            <a:endParaRPr lang="en-US" sz="1030" dirty="0"/>
          </a:p>
        </p:txBody>
      </p:sp>
      <p:sp>
        <p:nvSpPr>
          <p:cNvPr id="32" name="Shape 26"/>
          <p:cNvSpPr/>
          <p:nvPr/>
        </p:nvSpPr>
        <p:spPr>
          <a:xfrm>
            <a:off x="6537960" y="4681728"/>
            <a:ext cx="4846320" cy="0"/>
          </a:xfrm>
          <a:prstGeom prst="line">
            <a:avLst/>
          </a:prstGeom>
          <a:noFill/>
          <a:ln w="12700">
            <a:solidFill>
              <a:srgbClr val="23375C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6537960" y="484632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E639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82 / 8,900</a:t>
            </a:r>
            <a:endParaRPr lang="en-US" sz="2600" dirty="0"/>
          </a:p>
        </p:txBody>
      </p:sp>
      <p:sp>
        <p:nvSpPr>
          <p:cNvPr id="34" name="Text 28"/>
          <p:cNvSpPr/>
          <p:nvPr/>
        </p:nvSpPr>
        <p:spPr>
          <a:xfrm>
            <a:off x="8458200" y="484632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C3C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subnets carried all malicious traffic; Subnet 88 alone was linked to ≈ 8,900 attacks</a:t>
            </a:r>
            <a:endParaRPr lang="en-US" sz="1030" dirty="0"/>
          </a:p>
        </p:txBody>
      </p:sp>
      <p:sp>
        <p:nvSpPr>
          <p:cNvPr id="35" name="Text 29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36" name="Text 30"/>
          <p:cNvSpPr/>
          <p:nvPr/>
        </p:nvSpPr>
        <p:spPr>
          <a:xfrm>
            <a:off x="457200" y="6473952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5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Threat Incident Analytics Framework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11064240" cy="960120"/>
          </a:xfrm>
          <a:prstGeom prst="roundRect">
            <a:avLst>
              <a:gd name="adj" fmla="val 6667"/>
            </a:avLst>
          </a:prstGeom>
          <a:solidFill>
            <a:srgbClr val="112B4D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234440"/>
            <a:ext cx="10424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Advanced Threat Incident Analytics Framework </a:t>
            </a: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successfully transformed 1.5 million raw network logs into a fully functional, 7-page interactive Power BI dashboard.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3593592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788920"/>
            <a:ext cx="566928" cy="566928"/>
          </a:xfrm>
          <a:prstGeom prst="ellipse">
            <a:avLst/>
          </a:prstGeom>
          <a:solidFill>
            <a:srgbClr val="E7ECF3"/>
          </a:solidFill>
          <a:ln/>
        </p:spPr>
      </p:sp>
      <p:pic>
        <p:nvPicPr>
          <p:cNvPr id="7" name="Image 0" descr="/home/claude/icons/brain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519" y="2916479"/>
            <a:ext cx="311810" cy="31181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474720"/>
            <a:ext cx="3044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/ Technical Impact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22960" y="4023360"/>
            <a:ext cx="30449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3B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Strengthened technical foundation in DAX measures, calculated columns, and multi-page dashboard design.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25112" y="2514600"/>
            <a:ext cx="3593592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</p:spPr>
      </p:sp>
      <p:sp>
        <p:nvSpPr>
          <p:cNvPr id="11" name="Shape 8"/>
          <p:cNvSpPr/>
          <p:nvPr/>
        </p:nvSpPr>
        <p:spPr>
          <a:xfrm>
            <a:off x="4599432" y="2788920"/>
            <a:ext cx="566928" cy="566928"/>
          </a:xfrm>
          <a:prstGeom prst="ellipse">
            <a:avLst/>
          </a:prstGeom>
          <a:solidFill>
            <a:srgbClr val="E7ECF3"/>
          </a:solidFill>
          <a:ln/>
        </p:spPr>
      </p:sp>
      <p:pic>
        <p:nvPicPr>
          <p:cNvPr id="12" name="Image 1" descr="/home/claude/icons/globe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6991" y="2916479"/>
            <a:ext cx="311810" cy="31181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599432" y="3474720"/>
            <a:ext cx="3044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Industry / Practical Experience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4599432" y="4023360"/>
            <a:ext cx="30449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3B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Gained firsthand, SOC-aligned experience turning raw security logs into an actionable, decision-ready tool.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8101584" y="2514600"/>
            <a:ext cx="3593592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</p:spPr>
      </p:sp>
      <p:sp>
        <p:nvSpPr>
          <p:cNvPr id="16" name="Shape 12"/>
          <p:cNvSpPr/>
          <p:nvPr/>
        </p:nvSpPr>
        <p:spPr>
          <a:xfrm>
            <a:off x="8375904" y="2788920"/>
            <a:ext cx="566928" cy="566928"/>
          </a:xfrm>
          <a:prstGeom prst="ellipse">
            <a:avLst/>
          </a:prstGeom>
          <a:solidFill>
            <a:srgbClr val="E7ECF3"/>
          </a:solidFill>
          <a:ln/>
        </p:spPr>
      </p:sp>
      <p:pic>
        <p:nvPicPr>
          <p:cNvPr id="17" name="Image 2" descr="/home/claude/icons/shield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463" y="2916479"/>
            <a:ext cx="311810" cy="31181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75904" y="3474720"/>
            <a:ext cx="3044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Overall Conclusion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8375904" y="4023360"/>
            <a:ext cx="30449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3B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Gives security teams a proactive, data-driven basis to close the detection-vs-prevention gap and strengthen posture.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7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457200" y="6473952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C7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Threat Incident Analytics Framework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Acknowledgements and References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5394960" cy="5074920"/>
          </a:xfrm>
          <a:prstGeom prst="roundRect">
            <a:avLst>
              <a:gd name="adj" fmla="val 1441"/>
            </a:avLst>
          </a:prstGeom>
          <a:solidFill>
            <a:srgbClr val="FFFFFF"/>
          </a:solidFill>
          <a:ln w="12700">
            <a:solidFill>
              <a:srgbClr val="E7ECF3"/>
            </a:solidFill>
            <a:prstDash val="solid"/>
          </a:ln>
          <a:effectLst>
            <a:outerShdw blurRad="63500" dist="25400" dir="5400000" algn="bl" rotWithShape="0">
              <a:srgbClr val="9AA5B5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1417320"/>
            <a:ext cx="548640" cy="548640"/>
          </a:xfrm>
          <a:prstGeom prst="ellipse">
            <a:avLst/>
          </a:prstGeom>
          <a:solidFill>
            <a:srgbClr val="E7ECF3"/>
          </a:solidFill>
          <a:ln/>
        </p:spPr>
      </p:sp>
      <p:pic>
        <p:nvPicPr>
          <p:cNvPr id="5" name="Image 0" descr="/home/claude/icons/handshake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1540764"/>
            <a:ext cx="301752" cy="30175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54480" y="14173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Acknowledgements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68680" y="210312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would like to express my heartfelt gratitude to: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868680" y="2542032"/>
            <a:ext cx="118872" cy="118872"/>
          </a:xfrm>
          <a:prstGeom prst="ellipse">
            <a:avLst/>
          </a:prstGeom>
          <a:solidFill>
            <a:srgbClr val="F2A541"/>
          </a:solidFill>
          <a:ln/>
        </p:spPr>
      </p:sp>
      <p:sp>
        <p:nvSpPr>
          <p:cNvPr id="9" name="Text 6"/>
          <p:cNvSpPr/>
          <p:nvPr/>
        </p:nvSpPr>
        <p:spPr>
          <a:xfrm>
            <a:off x="1143000" y="2441448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Infosys Springboard Team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143000" y="2715768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30" dirty="0">
                <a:solidFill>
                  <a:srgbClr val="3B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organizing this structured, industry-aligned virtual internship</a:t>
            </a:r>
            <a:endParaRPr lang="en-US" sz="1030" dirty="0"/>
          </a:p>
        </p:txBody>
      </p:sp>
      <p:sp>
        <p:nvSpPr>
          <p:cNvPr id="11" name="Shape 8"/>
          <p:cNvSpPr/>
          <p:nvPr/>
        </p:nvSpPr>
        <p:spPr>
          <a:xfrm>
            <a:off x="868680" y="3319272"/>
            <a:ext cx="118872" cy="118872"/>
          </a:xfrm>
          <a:prstGeom prst="ellipse">
            <a:avLst/>
          </a:prstGeom>
          <a:solidFill>
            <a:srgbClr val="F2A541"/>
          </a:solidFill>
          <a:ln/>
        </p:spPr>
      </p:sp>
      <p:sp>
        <p:nvSpPr>
          <p:cNvPr id="12" name="Text 9"/>
          <p:cNvSpPr/>
          <p:nvPr/>
        </p:nvSpPr>
        <p:spPr>
          <a:xfrm>
            <a:off x="1143000" y="3218688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Mentor — Mrs. Nithyasri S J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143000" y="3493008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30" dirty="0">
                <a:solidFill>
                  <a:srgbClr val="3B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consistent guidance and feedback throughout the project</a:t>
            </a:r>
            <a:endParaRPr lang="en-US" sz="1030" dirty="0"/>
          </a:p>
        </p:txBody>
      </p:sp>
      <p:sp>
        <p:nvSpPr>
          <p:cNvPr id="14" name="Shape 11"/>
          <p:cNvSpPr/>
          <p:nvPr/>
        </p:nvSpPr>
        <p:spPr>
          <a:xfrm>
            <a:off x="868680" y="4096512"/>
            <a:ext cx="118872" cy="118872"/>
          </a:xfrm>
          <a:prstGeom prst="ellipse">
            <a:avLst/>
          </a:prstGeom>
          <a:solidFill>
            <a:srgbClr val="F2A541"/>
          </a:solidFill>
          <a:ln/>
        </p:spPr>
      </p:sp>
      <p:sp>
        <p:nvSpPr>
          <p:cNvPr id="15" name="Text 12"/>
          <p:cNvSpPr/>
          <p:nvPr/>
        </p:nvSpPr>
        <p:spPr>
          <a:xfrm>
            <a:off x="1143000" y="3995928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 Members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143000" y="4270248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30" dirty="0">
                <a:solidFill>
                  <a:srgbClr val="3B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Darsh Dwivedi, Harini T, Akshay Jaiswal — for strong collaboration and shared commitment</a:t>
            </a:r>
            <a:endParaRPr lang="en-US" sz="1030" dirty="0"/>
          </a:p>
        </p:txBody>
      </p:sp>
      <p:sp>
        <p:nvSpPr>
          <p:cNvPr id="17" name="Shape 14"/>
          <p:cNvSpPr/>
          <p:nvPr/>
        </p:nvSpPr>
        <p:spPr>
          <a:xfrm>
            <a:off x="868680" y="4873752"/>
            <a:ext cx="118872" cy="118872"/>
          </a:xfrm>
          <a:prstGeom prst="ellipse">
            <a:avLst/>
          </a:prstGeom>
          <a:solidFill>
            <a:srgbClr val="F2A541"/>
          </a:solidFill>
          <a:ln/>
        </p:spPr>
      </p:sp>
      <p:sp>
        <p:nvSpPr>
          <p:cNvPr id="18" name="Text 15"/>
          <p:cNvSpPr/>
          <p:nvPr/>
        </p:nvSpPr>
        <p:spPr>
          <a:xfrm>
            <a:off x="1143000" y="4773168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Kaggle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143000" y="5047488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30" dirty="0">
                <a:solidFill>
                  <a:srgbClr val="3B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providing the publicly available dataset used in this project</a:t>
            </a:r>
            <a:endParaRPr lang="en-US" sz="1030" dirty="0"/>
          </a:p>
        </p:txBody>
      </p:sp>
      <p:sp>
        <p:nvSpPr>
          <p:cNvPr id="20" name="Shape 17"/>
          <p:cNvSpPr/>
          <p:nvPr/>
        </p:nvSpPr>
        <p:spPr>
          <a:xfrm>
            <a:off x="6217920" y="1143000"/>
            <a:ext cx="5394960" cy="5074920"/>
          </a:xfrm>
          <a:prstGeom prst="roundRect">
            <a:avLst>
              <a:gd name="adj" fmla="val 1441"/>
            </a:avLst>
          </a:prstGeom>
          <a:solidFill>
            <a:srgbClr val="0B1F3A"/>
          </a:solidFill>
          <a:ln/>
        </p:spPr>
      </p:sp>
      <p:sp>
        <p:nvSpPr>
          <p:cNvPr id="21" name="Shape 18"/>
          <p:cNvSpPr/>
          <p:nvPr/>
        </p:nvSpPr>
        <p:spPr>
          <a:xfrm>
            <a:off x="6537960" y="1417320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22" name="Image 1" descr="/home/claude/icons/book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1404" y="1540764"/>
            <a:ext cx="301752" cy="301752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7223760" y="14173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537960" y="2286000"/>
            <a:ext cx="4709160" cy="685800"/>
          </a:xfrm>
          <a:prstGeom prst="roundRect">
            <a:avLst>
              <a:gd name="adj" fmla="val 8000"/>
            </a:avLst>
          </a:prstGeom>
          <a:solidFill>
            <a:srgbClr val="112B4D"/>
          </a:solidFill>
          <a:ln/>
        </p:spPr>
      </p:sp>
      <p:sp>
        <p:nvSpPr>
          <p:cNvPr id="25" name="Text 21"/>
          <p:cNvSpPr/>
          <p:nvPr/>
        </p:nvSpPr>
        <p:spPr>
          <a:xfrm>
            <a:off x="6675120" y="228600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26" name="Text 22"/>
          <p:cNvSpPr/>
          <p:nvPr/>
        </p:nvSpPr>
        <p:spPr>
          <a:xfrm>
            <a:off x="7086600" y="228600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DD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— “Cybersecurity Threat Detection Logs” dataset</a:t>
            </a:r>
            <a:endParaRPr lang="en-US" sz="1080" dirty="0"/>
          </a:p>
        </p:txBody>
      </p:sp>
      <p:sp>
        <p:nvSpPr>
          <p:cNvPr id="27" name="Shape 23"/>
          <p:cNvSpPr/>
          <p:nvPr/>
        </p:nvSpPr>
        <p:spPr>
          <a:xfrm>
            <a:off x="6537960" y="3154680"/>
            <a:ext cx="4709160" cy="685800"/>
          </a:xfrm>
          <a:prstGeom prst="roundRect">
            <a:avLst>
              <a:gd name="adj" fmla="val 8000"/>
            </a:avLst>
          </a:prstGeom>
          <a:solidFill>
            <a:srgbClr val="112B4D"/>
          </a:solidFill>
          <a:ln/>
        </p:spPr>
      </p:sp>
      <p:sp>
        <p:nvSpPr>
          <p:cNvPr id="28" name="Text 24"/>
          <p:cNvSpPr/>
          <p:nvPr/>
        </p:nvSpPr>
        <p:spPr>
          <a:xfrm>
            <a:off x="6675120" y="315468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29" name="Text 25"/>
          <p:cNvSpPr/>
          <p:nvPr/>
        </p:nvSpPr>
        <p:spPr>
          <a:xfrm>
            <a:off x="7086600" y="315468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DD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Power BI documentation and community resources</a:t>
            </a:r>
            <a:endParaRPr lang="en-US" sz="1080" dirty="0"/>
          </a:p>
        </p:txBody>
      </p:sp>
      <p:sp>
        <p:nvSpPr>
          <p:cNvPr id="30" name="Shape 26"/>
          <p:cNvSpPr/>
          <p:nvPr/>
        </p:nvSpPr>
        <p:spPr>
          <a:xfrm>
            <a:off x="6537960" y="4023360"/>
            <a:ext cx="4709160" cy="685800"/>
          </a:xfrm>
          <a:prstGeom prst="roundRect">
            <a:avLst>
              <a:gd name="adj" fmla="val 8000"/>
            </a:avLst>
          </a:prstGeom>
          <a:solidFill>
            <a:srgbClr val="112B4D"/>
          </a:solidFill>
          <a:ln/>
        </p:spPr>
      </p:sp>
      <p:sp>
        <p:nvSpPr>
          <p:cNvPr id="31" name="Text 27"/>
          <p:cNvSpPr/>
          <p:nvPr/>
        </p:nvSpPr>
        <p:spPr>
          <a:xfrm>
            <a:off x="6675120" y="402336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32" name="Text 28"/>
          <p:cNvSpPr/>
          <p:nvPr/>
        </p:nvSpPr>
        <p:spPr>
          <a:xfrm>
            <a:off x="7086600" y="402336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DD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Infosys Springboard Virtual Internship 7.0 program materials</a:t>
            </a:r>
            <a:endParaRPr lang="en-US" sz="1080" dirty="0"/>
          </a:p>
        </p:txBody>
      </p:sp>
      <p:sp>
        <p:nvSpPr>
          <p:cNvPr id="33" name="Text 29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4" name="Text 30"/>
          <p:cNvSpPr/>
          <p:nvPr/>
        </p:nvSpPr>
        <p:spPr>
          <a:xfrm>
            <a:off x="457200" y="6473952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5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Threat Incident Analytics Framework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1540" y="891540"/>
            <a:ext cx="45720" cy="457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668780" y="617220"/>
            <a:ext cx="45720" cy="457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" name="Shape 2"/>
          <p:cNvSpPr/>
          <p:nvPr/>
        </p:nvSpPr>
        <p:spPr>
          <a:xfrm>
            <a:off x="10309860" y="5463540"/>
            <a:ext cx="45720" cy="457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" name="Shape 3"/>
          <p:cNvSpPr/>
          <p:nvPr/>
        </p:nvSpPr>
        <p:spPr>
          <a:xfrm>
            <a:off x="11041380" y="5920740"/>
            <a:ext cx="45720" cy="457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Shape 4"/>
          <p:cNvSpPr/>
          <p:nvPr/>
        </p:nvSpPr>
        <p:spPr>
          <a:xfrm flipV="1">
            <a:off x="914400" y="640080"/>
            <a:ext cx="777240" cy="274320"/>
          </a:xfrm>
          <a:prstGeom prst="line">
            <a:avLst/>
          </a:prstGeom>
          <a:noFill/>
          <a:ln w="9525">
            <a:solidFill>
              <a:srgbClr val="1C729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332720" y="5486400"/>
            <a:ext cx="731520" cy="457200"/>
          </a:xfrm>
          <a:prstGeom prst="line">
            <a:avLst/>
          </a:prstGeom>
          <a:noFill/>
          <a:ln w="9525">
            <a:solidFill>
              <a:srgbClr val="1C729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532120" y="2148840"/>
            <a:ext cx="1097280" cy="109728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9" name="Image 0" descr="/home/claude/icons/shield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423160"/>
            <a:ext cx="548640" cy="5486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0" y="3520440"/>
            <a:ext cx="121889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600" dirty="0"/>
          </a:p>
        </p:txBody>
      </p:sp>
      <p:sp>
        <p:nvSpPr>
          <p:cNvPr id="11" name="Shape 8"/>
          <p:cNvSpPr/>
          <p:nvPr/>
        </p:nvSpPr>
        <p:spPr>
          <a:xfrm>
            <a:off x="5394960" y="4434840"/>
            <a:ext cx="1371600" cy="0"/>
          </a:xfrm>
          <a:prstGeom prst="line">
            <a:avLst/>
          </a:prstGeom>
          <a:noFill/>
          <a:ln w="25400">
            <a:solidFill>
              <a:srgbClr val="F2A54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0" y="461772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8A97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Threat Incident Analytics Framework  •  Hemanth M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7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57200" y="6473952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C7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Threat Incident Analytics Framework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1262</Words>
  <Application>Microsoft Office PowerPoint</Application>
  <PresentationFormat>Widescreen</PresentationFormat>
  <Paragraphs>212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HEMANTH MUDDURAJ</cp:lastModifiedBy>
  <cp:revision>1</cp:revision>
  <dcterms:created xsi:type="dcterms:W3CDTF">2026-08-17T04:40:06Z</dcterms:created>
  <dcterms:modified xsi:type="dcterms:W3CDTF">2026-08-21T14:51:08Z</dcterms:modified>
</cp:coreProperties>
</file>