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26980" y="80010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49940" y="13487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584180" y="208026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0" y="822960"/>
            <a:ext cx="822960" cy="54864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607040" y="1280160"/>
            <a:ext cx="365760" cy="82296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8915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22860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Threat Incident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Framework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Nithyasri S J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goals that shaped the design of the analytics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6" name="Image 0" descr="/home/claude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647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Manual Log Review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visual-first cybersecurity analytics framework that replaces slow, error-prone manual review of network and threat-detection logs.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1" name="Image 1" descr="/home/claude/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19366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647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a Risk-Ready Dataset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6 million raw log rows into a clean, structured dataset enriched with Severity_score, Urgency_Flag, and Incident_ID fields.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6" name="Image 2" descr="/home/claude/icons/chartb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359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87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Interactive Dashboard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8920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7-page Power BI dashboard covering traffic behavior, protocol usage, severity, network origins, and executive risk.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5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06240"/>
            <a:ext cx="640080" cy="64008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21" name="Image 3" descr="/home/claude/icons/g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435985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187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Detection Gap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8920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how many malicious threats were blocked versus allowed, giving SOC teams a data-driven basis to improve security posture.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static, text-based log reading with interactive Power BI exploration, using the Kaggle “Cybersecurity Threat Detection Logs” dataset (6M rows of enterprise-scale network traffic) to surface hidden origins, attack patterns, and critical breaches at a glance.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12264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83864" y="2112264"/>
            <a:ext cx="457200" cy="45720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8" name="Image 0" descr="/home/claude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6734" y="2215134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386584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 &amp; Data Collection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88036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“data overload” challenge in SOCs and sourced the 6M-row raw Kaggle log dataset.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25112" y="196596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53712" y="2112264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260336" y="2112264"/>
            <a:ext cx="457200" cy="45720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4" name="Image 1" descr="/home/claude/icons/broo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206" y="2215134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53712" y="2386584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(12-Step ETL)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53712" y="288036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Power Query pipeline across three phases: Scale Optimization, Chronology &amp; Text Format, Enrichment &amp; Finalization.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101584" y="196596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330184" y="2112264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1036808" y="2112264"/>
            <a:ext cx="457200" cy="45720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20" name="Image 2" descr="/home/claude/icons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9678" y="2215134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0184" y="2386584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&amp; DAX Measures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30184" y="288036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table relationships, indexing, and core DAX measures such as Severity Score and Malicious Allowed Rate %.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3950208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777240" y="4096512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483864" y="4096512"/>
            <a:ext cx="457200" cy="45720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26" name="Image 3" descr="/home/claude/icons/chartpi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734" y="4199382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" y="4370832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&amp; Protocol Visualization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77240" y="486460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KPI cards, area/line charts, donut charts, and treemaps to profile network traffic and protocol behavior.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325112" y="3950208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553712" y="4096512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260336" y="4096512"/>
            <a:ext cx="457200" cy="45720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32" name="Image 4" descr="/home/claude/icons/ma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206" y="4199382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553712" y="4370832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Network Mapping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53712" y="486460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severity/urgency analysis and source-destination mapping to trace attack origins and targeted machines.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8101584" y="3950208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8330184" y="4096512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11036808" y="4096512"/>
            <a:ext cx="457200" cy="45720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38" name="Image 5" descr="/home/claude/icons/gaug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9678" y="4199382"/>
            <a:ext cx="251460" cy="2514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30184" y="4370832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Risk Summary &amp; Deployment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330184" y="4864608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composite risk gauge and detection trend, completing and publishing the final 7-page dashboard.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8-step process followed end-to-end, from problem framing to the published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532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Understanding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16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data-overload challenge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892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7288" y="2532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47288" y="2916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the 6M-row Kaggle 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691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92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44768" y="2532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44768" y="2916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temporal &amp; geospatial fields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41080" y="1691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23960" y="1892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42248" y="2532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Connection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42248" y="2916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the Power BI engine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178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" y="4818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202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Relationships, indexing &amp; DAX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977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29000" y="4178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47288" y="4818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47288" y="5202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12-step Power Query ETL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3977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4178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44768" y="4818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144768" y="5202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maps &amp; trend charts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41080" y="3977640"/>
            <a:ext cx="251460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50800" dist="25400" dir="5400000">
              <a:srgbClr val="9AA5B5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823960" y="417880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1" name="Text 39"/>
          <p:cNvSpPr/>
          <p:nvPr/>
        </p:nvSpPr>
        <p:spPr>
          <a:xfrm>
            <a:off x="88239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42248" y="481888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&amp; Publish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842248" y="520293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executive dashboard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63240" y="2537460"/>
            <a:ext cx="182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063240" y="4823460"/>
            <a:ext cx="182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760720" y="2537460"/>
            <a:ext cx="182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760720" y="4823460"/>
            <a:ext cx="182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458200" y="2537460"/>
            <a:ext cx="182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458200" y="4823460"/>
            <a:ext cx="182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898380" y="3383280"/>
            <a:ext cx="0" cy="2971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05940" y="3680460"/>
            <a:ext cx="80924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05940" y="3680460"/>
            <a:ext cx="0" cy="2971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Visualizations &amp; Components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core visuals power the dashboard’s analytical narrative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173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TYPE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94960" y="14173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/ WHAT IT SHOWS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801368"/>
            <a:ext cx="11064240" cy="608076"/>
          </a:xfrm>
          <a:prstGeom prst="rect">
            <a:avLst/>
          </a:prstGeom>
          <a:solidFill>
            <a:srgbClr val="E7ECF3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93167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icons/gau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2001164"/>
            <a:ext cx="208483" cy="2084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801368"/>
            <a:ext cx="4114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394960" y="1801368"/>
            <a:ext cx="5943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 Events, % Traffic Blocked, Total Data Transferred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253974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icons/line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" y="2609240"/>
            <a:ext cx="208483" cy="2084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409444"/>
            <a:ext cx="4114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Traffic Trend (Area/Line Chart)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394960" y="2409444"/>
            <a:ext cx="5943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vs. blocked traffic volume over time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11064240" cy="608076"/>
          </a:xfrm>
          <a:prstGeom prst="rect">
            <a:avLst/>
          </a:prstGeom>
          <a:solidFill>
            <a:srgbClr val="E7ECF3"/>
          </a:solidFill>
          <a:ln/>
        </p:spPr>
      </p:sp>
      <p:sp>
        <p:nvSpPr>
          <p:cNvPr id="17" name="Shape 13"/>
          <p:cNvSpPr/>
          <p:nvPr/>
        </p:nvSpPr>
        <p:spPr>
          <a:xfrm>
            <a:off x="658368" y="3147822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icons/donu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3217316"/>
            <a:ext cx="208483" cy="2084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017520"/>
            <a:ext cx="4114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by Protocol (Donut Chart)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394960" y="3017520"/>
            <a:ext cx="5943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traffic across 7 network protocols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8368" y="375589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icons/treem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3825392"/>
            <a:ext cx="208483" cy="20848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625596"/>
            <a:ext cx="4114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Treemap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394960" y="3625596"/>
            <a:ext cx="5943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volume grouped by protocol security type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233672"/>
            <a:ext cx="11064240" cy="608076"/>
          </a:xfrm>
          <a:prstGeom prst="rect">
            <a:avLst/>
          </a:prstGeom>
          <a:solidFill>
            <a:srgbClr val="E7ECF3"/>
          </a:solidFill>
          <a:ln/>
        </p:spPr>
      </p:sp>
      <p:sp>
        <p:nvSpPr>
          <p:cNvPr id="26" name="Shape 20"/>
          <p:cNvSpPr/>
          <p:nvPr/>
        </p:nvSpPr>
        <p:spPr>
          <a:xfrm>
            <a:off x="658368" y="4363974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home/claude/icons/chartba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" y="4433468"/>
            <a:ext cx="208483" cy="20848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233672"/>
            <a:ext cx="4114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Count by Threat Response (Bar Chart)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394960" y="4233672"/>
            <a:ext cx="5943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Malicious, suspicious, and benign traffic by response outcome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58368" y="497205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icons/map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" y="5041544"/>
            <a:ext cx="208483" cy="2084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43000" y="4841748"/>
            <a:ext cx="4114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Destination Network Map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394960" y="4841748"/>
            <a:ext cx="5943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Geographic/subnet origins of attacks and most-targeted internal IPs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449824"/>
            <a:ext cx="11064240" cy="608076"/>
          </a:xfrm>
          <a:prstGeom prst="rect">
            <a:avLst/>
          </a:prstGeom>
          <a:solidFill>
            <a:srgbClr val="E7ECF3"/>
          </a:solidFill>
          <a:ln/>
        </p:spPr>
      </p:sp>
      <p:sp>
        <p:nvSpPr>
          <p:cNvPr id="35" name="Shape 27"/>
          <p:cNvSpPr/>
          <p:nvPr/>
        </p:nvSpPr>
        <p:spPr>
          <a:xfrm>
            <a:off x="658368" y="5580126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icons/flag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862" y="5649620"/>
            <a:ext cx="208483" cy="20848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43000" y="5449824"/>
            <a:ext cx="41148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Risk Gauge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394960" y="5449824"/>
            <a:ext cx="59436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and detection trend for leadership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through 4 structured milestones to ensure systematic progress and accuracy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12B4D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53896"/>
            <a:ext cx="402336" cy="402336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758" y="1544422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Source Used:  </a:t>
            </a:r>
            <a:pPr indent="0" marL="0">
              <a:buNone/>
            </a:pPr>
            <a:r>
              <a:rPr lang="en-US" sz="1200" dirty="0">
                <a:solidFill>
                  <a:srgbClr val="C3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“Cybersecurity Threat Detection Logs” — 6,000,000 raw rows, refined to 1,495,242 events (Jan–Mar 2024)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2651760" cy="397764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81912" y="24048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158191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" y="34107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Preprocessing (ETL)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3232" y="4233672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the raw dataset and executed a 12-step Power Query ETL pipeline to clean, format, and enrich the data.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868680" y="562356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E7ECF3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02-07-2026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37560" y="2148840"/>
            <a:ext cx="2651760" cy="397764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70832" y="24048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437083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7472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474720" y="34107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Visualization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502152" y="4233672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core DAX measures and developed the first two interactive dashboard pages.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3657600" y="562356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E7ECF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16-07-2026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126480" y="2148840"/>
            <a:ext cx="2651760" cy="397764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59752" y="2404872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3"/>
          <p:cNvSpPr/>
          <p:nvPr/>
        </p:nvSpPr>
        <p:spPr>
          <a:xfrm>
            <a:off x="715975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26364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63640" y="34107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Tactical Analytics Expansion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291072" y="4233672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deployed three pages covering protocol behavior, severity/urgency analysis, and network mapping.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6446520" y="562356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E7ECF3"/>
          </a:solidFill>
          <a:ln/>
        </p:spPr>
      </p:sp>
      <p:sp>
        <p:nvSpPr>
          <p:cNvPr id="31" name="Text 28"/>
          <p:cNvSpPr/>
          <p:nvPr/>
        </p:nvSpPr>
        <p:spPr>
          <a:xfrm>
            <a:off x="644652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06-08-2026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915400" y="2148840"/>
            <a:ext cx="2651760" cy="397764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948672" y="2404872"/>
            <a:ext cx="585216" cy="5852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4" name="Text 31"/>
          <p:cNvSpPr/>
          <p:nvPr/>
        </p:nvSpPr>
        <p:spPr>
          <a:xfrm>
            <a:off x="9948672" y="2404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052560" y="3136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052560" y="34107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Risk &amp; Deployment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079992" y="4233672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the final two pages — executive risk summary and high-volume traffic analysis — completing the 7-page framework.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9235440" y="5623560"/>
            <a:ext cx="2011680" cy="320040"/>
          </a:xfrm>
          <a:prstGeom prst="roundRect">
            <a:avLst>
              <a:gd name="adj" fmla="val 48571"/>
            </a:avLst>
          </a:prstGeom>
          <a:solidFill>
            <a:srgbClr val="E7ECF3"/>
          </a:solidFill>
          <a:ln/>
        </p:spPr>
      </p:sp>
      <p:sp>
        <p:nvSpPr>
          <p:cNvPr id="39" name="Text 36"/>
          <p:cNvSpPr/>
          <p:nvPr/>
        </p:nvSpPr>
        <p:spPr>
          <a:xfrm>
            <a:off x="923544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13-08-2026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Resolutions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F1C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Data &amp; Duplicates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029968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logs contained inconsistent data types and duplicate entries.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7E3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rgbClr val="D6EEF2"/>
          </a:solidFill>
          <a:ln/>
        </p:spPr>
      </p:sp>
      <p:pic>
        <p:nvPicPr>
          <p:cNvPr id="12" name="Image 0" descr="/home/claude/icons/check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95160" y="20299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explicit type conversions and a de-duplication step early in the Power Query pipeline.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48640" y="3044952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F1CDD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32735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17320" y="3227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 High-Cardinality Fields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6118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fields (user_agent, request_path) added noise without analytical value.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217920" y="3044952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7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55080" y="3273552"/>
            <a:ext cx="457200" cy="457200"/>
          </a:xfrm>
          <a:prstGeom prst="ellipse">
            <a:avLst/>
          </a:prstGeom>
          <a:solidFill>
            <a:srgbClr val="D6EEF2"/>
          </a:solidFill>
          <a:ln/>
        </p:spPr>
      </p:sp>
      <p:pic>
        <p:nvPicPr>
          <p:cNvPr id="22" name="Image 1" descr="/home/claude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364992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95160" y="32278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2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995160" y="3611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these columns after confirming they contributed no analytical value.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548640" y="4626864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F1CDD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77240" y="4855464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3"/>
          <p:cNvSpPr/>
          <p:nvPr/>
        </p:nvSpPr>
        <p:spPr>
          <a:xfrm>
            <a:off x="7772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417320" y="48097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Scoring Logic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17320" y="519379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conditional logic for Severity_score that meaningfully reflects event risk.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6217920" y="4626864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C7E3E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355080" y="4855464"/>
            <a:ext cx="457200" cy="457200"/>
          </a:xfrm>
          <a:prstGeom prst="ellipse">
            <a:avLst/>
          </a:prstGeom>
          <a:solidFill>
            <a:srgbClr val="D6EEF2"/>
          </a:solidFill>
          <a:ln/>
        </p:spPr>
      </p:sp>
      <p:pic>
        <p:nvPicPr>
          <p:cNvPr id="32" name="Image 2" descr="/home/claude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946904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95160" y="48097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3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995160" y="5193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tested conditional logic against sample rows before finalizing, then reused the pattern for Threat Response Status.</a:t>
            </a:r>
            <a:endParaRPr lang="en-US" sz="1080" dirty="0"/>
          </a:p>
        </p:txBody>
      </p:sp>
      <p:sp>
        <p:nvSpPr>
          <p:cNvPr id="35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Skills Acquired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B1F3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417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5407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220370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1488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 language) data transformation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279806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7432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 for KPI / risk-scoring logic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339242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3375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Power BI dashboard design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8680" y="3986784"/>
            <a:ext cx="109728" cy="1097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931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for risk-based analytics (severity scoring, urgency flagging)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1430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1417320"/>
            <a:ext cx="548640" cy="54864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7" name="Image 1" descr="/home/claude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5407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1417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537960" y="22037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21488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documentation and milestone-based self-management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537960" y="27980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27432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communication and iterative feedback with mentor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537960" y="33924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33375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problem-solving across a 4-person team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537960" y="3977640"/>
            <a:ext cx="470916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37960" y="4114800"/>
            <a:ext cx="384048" cy="38404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27" name="Image 2" descr="/home/claude/icons/lightbulb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371" y="4201211"/>
            <a:ext cx="211226" cy="21122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4114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Learning / Experience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537960" y="4434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i="1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hands-on, SOC-standard experience translating raw, noisy security logs into a decision-ready analytical tool for enterprise threat response.</a:t>
            </a:r>
            <a:endParaRPr lang="en-US" sz="1030" dirty="0"/>
          </a:p>
        </p:txBody>
      </p:sp>
      <p:sp>
        <p:nvSpPr>
          <p:cNvPr id="30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362456"/>
            <a:ext cx="475488" cy="47548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5" name="Image 0" descr="/home/claude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5" y="14694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52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17320" y="14721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Drill-through incident history for any Top-10 source IP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313432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532888"/>
            <a:ext cx="475488" cy="47548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0" name="Image 1" descr="/home/claude/icons/map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25" y="2639873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417320" y="264261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geolocation mapping instead of subnet-based grouping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483864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703320"/>
            <a:ext cx="475488" cy="47548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5" name="Image 2" descr="/home/claude/icons/c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5" y="3810305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593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417320" y="381304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near-real-time log data instead of a static extract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65429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873752"/>
            <a:ext cx="475488" cy="47548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20" name="Image 3" descr="/home/claude/icons/robo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5" y="4980737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764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417320" y="49834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in ML anomaly-detection scoring to complement Severity_score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217920" y="1143000"/>
            <a:ext cx="5394960" cy="5349240"/>
          </a:xfrm>
          <a:prstGeom prst="roundRect">
            <a:avLst>
              <a:gd name="adj" fmla="val 1368"/>
            </a:avLst>
          </a:prstGeom>
          <a:solidFill>
            <a:srgbClr val="0B1F3A"/>
          </a:solidFill>
          <a:ln/>
        </p:spPr>
      </p:sp>
      <p:sp>
        <p:nvSpPr>
          <p:cNvPr id="24" name="Text 18"/>
          <p:cNvSpPr/>
          <p:nvPr/>
        </p:nvSpPr>
        <p:spPr>
          <a:xfrm>
            <a:off x="653796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537960" y="17465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revealed about the organization’s security posture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37960" y="2212848"/>
            <a:ext cx="4846320" cy="0"/>
          </a:xfrm>
          <a:prstGeom prst="line">
            <a:avLst/>
          </a:prstGeom>
          <a:noFill/>
          <a:ln w="12700">
            <a:solidFill>
              <a:srgbClr val="23375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37960" y="2377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49.89%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8458200" y="23774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3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Breach Rate — nearly half of all malicious traffic bypassed perimeter defenses and was allowed through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6537960" y="3447288"/>
            <a:ext cx="4846320" cy="0"/>
          </a:xfrm>
          <a:prstGeom prst="line">
            <a:avLst/>
          </a:prstGeom>
          <a:noFill/>
          <a:ln w="12700">
            <a:solidFill>
              <a:srgbClr val="23375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537960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GB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8458200" y="36118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3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transferred over TCP alone — a strong indicator of potential data exfiltration</a:t>
            </a:r>
            <a:endParaRPr lang="en-US" sz="1030" dirty="0"/>
          </a:p>
        </p:txBody>
      </p:sp>
      <p:sp>
        <p:nvSpPr>
          <p:cNvPr id="32" name="Shape 26"/>
          <p:cNvSpPr/>
          <p:nvPr/>
        </p:nvSpPr>
        <p:spPr>
          <a:xfrm>
            <a:off x="6537960" y="4681728"/>
            <a:ext cx="4846320" cy="0"/>
          </a:xfrm>
          <a:prstGeom prst="line">
            <a:avLst/>
          </a:prstGeom>
          <a:noFill/>
          <a:ln w="12700">
            <a:solidFill>
              <a:srgbClr val="23375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37960" y="4846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/ 8,900</a:t>
            </a:r>
            <a:endParaRPr lang="en-US" sz="2600" dirty="0"/>
          </a:p>
        </p:txBody>
      </p:sp>
      <p:sp>
        <p:nvSpPr>
          <p:cNvPr id="34" name="Text 28"/>
          <p:cNvSpPr/>
          <p:nvPr/>
        </p:nvSpPr>
        <p:spPr>
          <a:xfrm>
            <a:off x="8458200" y="4846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3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subnets carried all malicious traffic; Subnet 88 alone was linked to ≈ 8,900 attacks</a:t>
            </a:r>
            <a:endParaRPr lang="en-US" sz="1030" dirty="0"/>
          </a:p>
        </p:txBody>
      </p:sp>
      <p:sp>
        <p:nvSpPr>
          <p:cNvPr id="35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12B4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 Threat Incident Analytics Framework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transformed 1.5 million raw network logs into a fully functional, 7-page interactive Power BI dashboard.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9359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788920"/>
            <a:ext cx="566928" cy="56692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7" name="Image 0" descr="/home/claude/icons/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291647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747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/ Technical Impact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technical foundation in DAX measures, calculated columns, and multi-page dashboard design.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5112" y="2514600"/>
            <a:ext cx="359359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2788920"/>
            <a:ext cx="566928" cy="56692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2" name="Image 1" descr="/home/claude/icons/glo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991" y="291647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34747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/ Practical Experience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4023360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firsthand, SOC-aligned experience turning raw security logs into an actionable, decision-ready tool.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1584" y="2514600"/>
            <a:ext cx="359359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75904" y="2788920"/>
            <a:ext cx="566928" cy="566928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17" name="Image 2" descr="/home/claude/icons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463" y="2916479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47472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Conclusion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75904" y="4023360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security teams a proactive, data-driven basis to close the detection-vs-prevention gap and strengthen posture.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and References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7ECF3"/>
            </a:solidFill>
            <a:prstDash val="solid"/>
          </a:ln>
          <a:effectLst>
            <a:outerShdw sx="100000" sy="100000" kx="0" ky="0" algn="bl" rotWithShape="0" blurRad="63500" dist="25400" dir="5400000">
              <a:srgbClr val="9AA5B5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417320"/>
            <a:ext cx="548640" cy="548640"/>
          </a:xfrm>
          <a:prstGeom prst="ellipse">
            <a:avLst/>
          </a:prstGeom>
          <a:solidFill>
            <a:srgbClr val="E7ECF3"/>
          </a:solidFill>
          <a:ln/>
        </p:spPr>
      </p:sp>
      <p:pic>
        <p:nvPicPr>
          <p:cNvPr id="5" name="Image 0" descr="/home/claude/icons/handshak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5407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17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heartfelt gratitude to: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542032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4414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Springboard Team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27157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organizing this structured, industry-aligned virtual internship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868680" y="3319272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2186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— Mrs. Nithyasri S J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3000" y="3493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consistent guidance and feedback throughout the project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868680" y="4096512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39959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43000" y="42702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 Dwivedi, Harini T, Akshay Jaiswal — for strong collaboration and shared commitment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868680" y="4873752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47731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50474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B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providing the publicly available dataset used in this project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6217920" y="114300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0B1F3A"/>
          </a:solidFill>
          <a:ln/>
        </p:spPr>
      </p:sp>
      <p:sp>
        <p:nvSpPr>
          <p:cNvPr id="21" name="Shape 18"/>
          <p:cNvSpPr/>
          <p:nvPr/>
        </p:nvSpPr>
        <p:spPr>
          <a:xfrm>
            <a:off x="6537960" y="1417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1" descr="/home/claude/icons/boo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1540764"/>
            <a:ext cx="301752" cy="3017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23760" y="1417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537960" y="2286000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112B4D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22860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086600" y="2286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“Cybersecurity Threat Detection Logs” dataset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537960" y="3154680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112B4D"/>
          </a:solidFill>
          <a:ln/>
        </p:spPr>
      </p:sp>
      <p:sp>
        <p:nvSpPr>
          <p:cNvPr id="28" name="Text 24"/>
          <p:cNvSpPr/>
          <p:nvPr/>
        </p:nvSpPr>
        <p:spPr>
          <a:xfrm>
            <a:off x="6675120" y="31546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7086600" y="3154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 and community resources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6537960" y="4023360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112B4D"/>
          </a:solidFill>
          <a:ln/>
        </p:spPr>
      </p:sp>
      <p:sp>
        <p:nvSpPr>
          <p:cNvPr id="31" name="Text 27"/>
          <p:cNvSpPr/>
          <p:nvPr/>
        </p:nvSpPr>
        <p:spPr>
          <a:xfrm>
            <a:off x="6675120" y="40233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7086600" y="4023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D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 program materials</a:t>
            </a:r>
            <a:endParaRPr lang="en-US" sz="1080" dirty="0"/>
          </a:p>
        </p:txBody>
      </p:sp>
      <p:sp>
        <p:nvSpPr>
          <p:cNvPr id="33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" y="8915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668780" y="61722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309860" y="54635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1041380" y="5920740"/>
            <a:ext cx="45720" cy="457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914400" y="640080"/>
            <a:ext cx="777240" cy="27432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5486400"/>
            <a:ext cx="731520" cy="45720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32120" y="2148840"/>
            <a:ext cx="1097280" cy="10972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42316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35204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5394960" y="4434840"/>
            <a:ext cx="13716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0" y="4617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  •  Hemanth 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Framework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2026-08-17T04:40:06Z</dcterms:created>
  <dcterms:modified xsi:type="dcterms:W3CDTF">2026-08-17T04:40:06Z</dcterms:modified>
</cp:coreProperties>
</file>