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5" r:id="rId4"/>
    <p:sldId id="258" r:id="rId5"/>
    <p:sldId id="259" r:id="rId6"/>
    <p:sldId id="260" r:id="rId7"/>
    <p:sldId id="261" r:id="rId8"/>
    <p:sldId id="262" r:id="rId9"/>
    <p:sldId id="263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57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677" y="8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MANTH MUDDURAJ" userId="663fe7243d41489a" providerId="LiveId" clId="{EA257F9E-2398-4F7A-A998-C7A2B60DC038}"/>
    <pc:docChg chg="modSld">
      <pc:chgData name="HEMANTH MUDDURAJ" userId="663fe7243d41489a" providerId="LiveId" clId="{EA257F9E-2398-4F7A-A998-C7A2B60DC038}" dt="2026-08-16T11:24:49.266" v="19" actId="20577"/>
      <pc:docMkLst>
        <pc:docMk/>
      </pc:docMkLst>
      <pc:sldChg chg="modSp mod">
        <pc:chgData name="HEMANTH MUDDURAJ" userId="663fe7243d41489a" providerId="LiveId" clId="{EA257F9E-2398-4F7A-A998-C7A2B60DC038}" dt="2026-08-16T11:24:49.266" v="19" actId="20577"/>
        <pc:sldMkLst>
          <pc:docMk/>
          <pc:sldMk cId="0" sldId="256"/>
        </pc:sldMkLst>
        <pc:spChg chg="mod">
          <ac:chgData name="HEMANTH MUDDURAJ" userId="663fe7243d41489a" providerId="LiveId" clId="{EA257F9E-2398-4F7A-A998-C7A2B60DC038}" dt="2026-08-16T11:24:49.266" v="19" actId="20577"/>
          <ac:spMkLst>
            <pc:docMk/>
            <pc:sldMk cId="0" sldId="256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840A1-B0A0-46A5-B54E-A85918D77DC3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C6A092-3684-4E75-A15F-C9990BEC5C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1414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g"/><Relationship Id="rId3" Type="http://schemas.openxmlformats.org/officeDocument/2006/relationships/image" Target="../media/image1.jpe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D6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INTERNSHIP 7.0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760720" y="320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Infosys  |  Springboard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100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COMPLETION REPORT   •   BATCH 1   •   GROUP 1   •   TEAM 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 Threat Analytics Platform with Incident Visualization System 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023360" y="3127248"/>
            <a:ext cx="1097280" cy="0"/>
          </a:xfrm>
          <a:prstGeom prst="line">
            <a:avLst/>
          </a:prstGeom>
          <a:noFill/>
          <a:ln w="19050">
            <a:solidFill>
              <a:srgbClr val="2AB7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3375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</a:t>
            </a: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Akshay Jaiswal, Darsh Dwivedi,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Harini T, Hemanth 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3886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Nithayasri S J    </a:t>
            </a:r>
            <a:r>
              <a:rPr lang="en-US" sz="1200" b="1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  Duration: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Weeks    </a:t>
            </a:r>
            <a:r>
              <a:rPr lang="en-US" sz="1200" b="1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  Year: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3D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457200" cy="457200"/>
          </a:xfrm>
          <a:prstGeom prst="ellipse">
            <a:avLst/>
          </a:prstGeom>
          <a:solidFill>
            <a:srgbClr val="0A3D62"/>
          </a:solidFill>
          <a:ln/>
        </p:spPr>
      </p:sp>
      <p:pic>
        <p:nvPicPr>
          <p:cNvPr id="5" name="Image 0" descr="./icons/bulls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55448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426464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real-world cyberattack data to detect patterns of malicious network activity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2286000"/>
            <a:ext cx="457200" cy="457200"/>
          </a:xfrm>
          <a:prstGeom prst="ellipse">
            <a:avLst/>
          </a:prstGeom>
          <a:solidFill>
            <a:srgbClr val="0A3D62"/>
          </a:solidFill>
          <a:ln/>
        </p:spPr>
      </p:sp>
      <p:pic>
        <p:nvPicPr>
          <p:cNvPr id="8" name="Image 1" descr="./icons/chart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239572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2267712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early detection of intrusions and reduce response time to security incidents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57200" y="3127248"/>
            <a:ext cx="457200" cy="457200"/>
          </a:xfrm>
          <a:prstGeom prst="ellipse">
            <a:avLst/>
          </a:prstGeom>
          <a:solidFill>
            <a:srgbClr val="0A3D62"/>
          </a:solidFill>
          <a:ln/>
        </p:spPr>
      </p:sp>
      <p:pic>
        <p:nvPicPr>
          <p:cNvPr id="11" name="Image 2" descr="./icons/chartp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236976"/>
            <a:ext cx="237744" cy="23774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3108960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raw security logs into clear, actionable visual dashboards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200" y="3968496"/>
            <a:ext cx="457200" cy="457200"/>
          </a:xfrm>
          <a:prstGeom prst="ellipse">
            <a:avLst/>
          </a:prstGeom>
          <a:solidFill>
            <a:srgbClr val="0A3D62"/>
          </a:solidFill>
          <a:ln/>
        </p:spPr>
      </p:sp>
      <p:pic>
        <p:nvPicPr>
          <p:cNvPr id="14" name="Image 3" descr="./icons/checkcirc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078224"/>
            <a:ext cx="237744" cy="23774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51560" y="3950208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 interactive Power BI dashboard revealing key threat trends and insights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4617720" y="1051560"/>
            <a:ext cx="0" cy="3703320"/>
          </a:xfrm>
          <a:prstGeom prst="line">
            <a:avLst/>
          </a:prstGeom>
          <a:noFill/>
          <a:ln w="12700">
            <a:solidFill>
              <a:srgbClr val="D8E3E8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489204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MODULES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92040" y="1481328"/>
            <a:ext cx="3749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5001768" y="1554480"/>
            <a:ext cx="402336" cy="402336"/>
          </a:xfrm>
          <a:prstGeom prst="ellipse">
            <a:avLst/>
          </a:prstGeom>
          <a:solidFill>
            <a:srgbClr val="2AB7CA"/>
          </a:solidFill>
          <a:ln/>
        </p:spPr>
      </p:sp>
      <p:pic>
        <p:nvPicPr>
          <p:cNvPr id="20" name="Image 4" descr="./icons/databa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98329" y="1651041"/>
            <a:ext cx="209215" cy="209215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532120" y="14813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Data Acquisition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4892040" y="2157984"/>
            <a:ext cx="3749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001768" y="2231136"/>
            <a:ext cx="402336" cy="402336"/>
          </a:xfrm>
          <a:prstGeom prst="ellipse">
            <a:avLst/>
          </a:prstGeom>
          <a:solidFill>
            <a:srgbClr val="2AB7CA"/>
          </a:solidFill>
          <a:ln/>
        </p:spPr>
      </p:sp>
      <p:pic>
        <p:nvPicPr>
          <p:cNvPr id="24" name="Image 5" descr="./icons/plu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8329" y="2327697"/>
            <a:ext cx="209215" cy="20921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5532120" y="21579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Data Understanding &amp; Connection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4892040" y="2834640"/>
            <a:ext cx="3749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001768" y="2907792"/>
            <a:ext cx="402336" cy="402336"/>
          </a:xfrm>
          <a:prstGeom prst="ellipse">
            <a:avLst/>
          </a:prstGeom>
          <a:solidFill>
            <a:srgbClr val="2AB7CA"/>
          </a:solidFill>
          <a:ln/>
        </p:spPr>
      </p:sp>
      <p:pic>
        <p:nvPicPr>
          <p:cNvPr id="28" name="Image 6" descr="./icons/broo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98329" y="3004353"/>
            <a:ext cx="209215" cy="209215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532120" y="2834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Data Preprocessing</a:t>
            </a:r>
            <a:endParaRPr lang="en-US" sz="1150" dirty="0"/>
          </a:p>
        </p:txBody>
      </p:sp>
      <p:sp>
        <p:nvSpPr>
          <p:cNvPr id="30" name="Shape 21"/>
          <p:cNvSpPr/>
          <p:nvPr/>
        </p:nvSpPr>
        <p:spPr>
          <a:xfrm>
            <a:off x="4892040" y="3511296"/>
            <a:ext cx="3749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5001768" y="3584448"/>
            <a:ext cx="402336" cy="402336"/>
          </a:xfrm>
          <a:prstGeom prst="ellipse">
            <a:avLst/>
          </a:prstGeom>
          <a:solidFill>
            <a:srgbClr val="2AB7CA"/>
          </a:solidFill>
          <a:ln/>
        </p:spPr>
      </p:sp>
      <p:pic>
        <p:nvPicPr>
          <p:cNvPr id="32" name="Image 7" descr="./icons/chartba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98329" y="3681009"/>
            <a:ext cx="209215" cy="209215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532120" y="351129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Threat Analytics &amp; Visualization</a:t>
            </a:r>
            <a:endParaRPr lang="en-US" sz="1150" dirty="0"/>
          </a:p>
        </p:txBody>
      </p:sp>
      <p:sp>
        <p:nvSpPr>
          <p:cNvPr id="34" name="Shape 24"/>
          <p:cNvSpPr/>
          <p:nvPr/>
        </p:nvSpPr>
        <p:spPr>
          <a:xfrm>
            <a:off x="4892040" y="4187952"/>
            <a:ext cx="3749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5001768" y="4261104"/>
            <a:ext cx="402336" cy="402336"/>
          </a:xfrm>
          <a:prstGeom prst="ellipse">
            <a:avLst/>
          </a:prstGeom>
          <a:solidFill>
            <a:srgbClr val="2AB7CA"/>
          </a:solidFill>
          <a:ln/>
        </p:spPr>
      </p:sp>
      <p:pic>
        <p:nvPicPr>
          <p:cNvPr id="36" name="Image 8" descr="./icons/tachomet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98329" y="4357665"/>
            <a:ext cx="209215" cy="209215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5532120" y="41879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Power BI Dashboard Development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20700"/>
            <a:ext cx="8138160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7" name="Text 3"/>
          <p:cNvSpPr/>
          <p:nvPr/>
        </p:nvSpPr>
        <p:spPr>
          <a:xfrm>
            <a:off x="576072" y="2441448"/>
            <a:ext cx="1636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endParaRPr lang="en-US" sz="1100" dirty="0"/>
          </a:p>
        </p:txBody>
      </p:sp>
      <p:pic>
        <p:nvPicPr>
          <p:cNvPr id="11" name="Image 2" descr="icons/FaCloudUploadAl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4248" y="1916948"/>
            <a:ext cx="280904" cy="28090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496312" y="2441448"/>
            <a:ext cx="1636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416552" y="2441448"/>
            <a:ext cx="1636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6336792" y="2441448"/>
            <a:ext cx="1636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endParaRPr lang="en-US" sz="1100" dirty="0"/>
          </a:p>
        </p:txBody>
      </p:sp>
      <p:sp>
        <p:nvSpPr>
          <p:cNvPr id="26" name="Text 18"/>
          <p:cNvSpPr/>
          <p:nvPr/>
        </p:nvSpPr>
        <p:spPr>
          <a:xfrm>
            <a:off x="576072" y="4315968"/>
            <a:ext cx="1636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2496312" y="4315968"/>
            <a:ext cx="1636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4343400" y="3474720"/>
            <a:ext cx="1783080" cy="1417320"/>
          </a:xfrm>
          <a:prstGeom prst="roundRect">
            <a:avLst>
              <a:gd name="adj" fmla="val 5806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6" name="Text 26"/>
          <p:cNvSpPr/>
          <p:nvPr/>
        </p:nvSpPr>
        <p:spPr>
          <a:xfrm>
            <a:off x="4416552" y="4315968"/>
            <a:ext cx="1636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endParaRPr lang="en-US" sz="1100" dirty="0"/>
          </a:p>
        </p:txBody>
      </p:sp>
      <p:sp>
        <p:nvSpPr>
          <p:cNvPr id="38" name="Shape 28"/>
          <p:cNvSpPr/>
          <p:nvPr/>
        </p:nvSpPr>
        <p:spPr>
          <a:xfrm>
            <a:off x="6263640" y="3474720"/>
            <a:ext cx="1783080" cy="1417320"/>
          </a:xfrm>
          <a:prstGeom prst="roundRect">
            <a:avLst>
              <a:gd name="adj" fmla="val 5806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1" name="Text 30"/>
          <p:cNvSpPr/>
          <p:nvPr/>
        </p:nvSpPr>
        <p:spPr>
          <a:xfrm>
            <a:off x="6336792" y="4315968"/>
            <a:ext cx="1636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endParaRPr lang="en-US" sz="11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4699" y="520700"/>
            <a:ext cx="3458633" cy="45508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3" name="TextBox 42"/>
          <p:cNvSpPr txBox="1"/>
          <p:nvPr/>
        </p:nvSpPr>
        <p:spPr>
          <a:xfrm>
            <a:off x="152400" y="684768"/>
            <a:ext cx="345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A3D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Diagram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230357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3D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Execution Milestones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40664" y="1517904"/>
            <a:ext cx="7790688" cy="0"/>
          </a:xfrm>
          <a:prstGeom prst="line">
            <a:avLst/>
          </a:prstGeom>
          <a:noFill/>
          <a:ln w="25400">
            <a:solidFill>
              <a:srgbClr val="D8E3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1234440"/>
            <a:ext cx="566928" cy="566928"/>
          </a:xfrm>
          <a:prstGeom prst="ellipse">
            <a:avLst/>
          </a:prstGeom>
          <a:solidFill>
            <a:srgbClr val="0A3D62"/>
          </a:solidFill>
          <a:ln/>
        </p:spPr>
      </p:sp>
      <p:pic>
        <p:nvPicPr>
          <p:cNvPr id="5" name="Image 0" descr=".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6495" y="1370503"/>
            <a:ext cx="294803" cy="294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911096"/>
            <a:ext cx="1993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7200" y="2148840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A3D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Acquisition &amp; Cleaning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2697480"/>
            <a:ext cx="199339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21792" y="2807208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dataset from Kaggle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Studied structure &amp; fields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raw data for use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91840" y="1234440"/>
            <a:ext cx="566928" cy="566928"/>
          </a:xfrm>
          <a:prstGeom prst="ellipse">
            <a:avLst/>
          </a:prstGeom>
          <a:solidFill>
            <a:srgbClr val="0A3D62"/>
          </a:solidFill>
          <a:ln/>
        </p:spPr>
      </p:sp>
      <p:pic>
        <p:nvPicPr>
          <p:cNvPr id="11" name="Image 1" descr="./icons/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7903" y="137050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578608" y="1911096"/>
            <a:ext cx="1993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2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2578608" y="2148840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A3D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Modeling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2578608" y="2697480"/>
            <a:ext cx="199339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2743200" y="2807208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dataset in Power BI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data types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Understood key features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413248" y="1234440"/>
            <a:ext cx="566928" cy="566928"/>
          </a:xfrm>
          <a:prstGeom prst="ellipse">
            <a:avLst/>
          </a:prstGeom>
          <a:solidFill>
            <a:srgbClr val="0A3D62"/>
          </a:solidFill>
          <a:ln/>
        </p:spPr>
      </p:sp>
      <p:pic>
        <p:nvPicPr>
          <p:cNvPr id="17" name="Image 2" descr="./icons/cog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9311" y="1370503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700016" y="1911096"/>
            <a:ext cx="1993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3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4700016" y="2148840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A3D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4700016" y="2697480"/>
            <a:ext cx="199339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4864608" y="2807208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12-step preprocessing pipeline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Power BI dashboards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threat visualizations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7534656" y="1234440"/>
            <a:ext cx="566928" cy="566928"/>
          </a:xfrm>
          <a:prstGeom prst="ellipse">
            <a:avLst/>
          </a:prstGeom>
          <a:solidFill>
            <a:srgbClr val="0A3D62"/>
          </a:solidFill>
          <a:ln/>
        </p:spPr>
      </p:sp>
      <p:pic>
        <p:nvPicPr>
          <p:cNvPr id="23" name="Image 3" descr="./icons/checkdoub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0719" y="1370503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821424" y="1911096"/>
            <a:ext cx="1993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4</a:t>
            </a:r>
            <a:endParaRPr lang="en-US" sz="950" dirty="0"/>
          </a:p>
        </p:txBody>
      </p:sp>
      <p:sp>
        <p:nvSpPr>
          <p:cNvPr id="25" name="Text 19"/>
          <p:cNvSpPr/>
          <p:nvPr/>
        </p:nvSpPr>
        <p:spPr>
          <a:xfrm>
            <a:off x="6821424" y="2148840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A3D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 Optimization</a:t>
            </a:r>
            <a:endParaRPr lang="en-US" sz="1350" dirty="0"/>
          </a:p>
        </p:txBody>
      </p:sp>
      <p:sp>
        <p:nvSpPr>
          <p:cNvPr id="26" name="Shape 20"/>
          <p:cNvSpPr/>
          <p:nvPr/>
        </p:nvSpPr>
        <p:spPr>
          <a:xfrm>
            <a:off x="6821424" y="2697480"/>
            <a:ext cx="199339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27" name="Text 21"/>
          <p:cNvSpPr/>
          <p:nvPr/>
        </p:nvSpPr>
        <p:spPr>
          <a:xfrm>
            <a:off x="6986016" y="2807208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dashboard accuracy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Analyzed threat patterns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key insights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3D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Resolutions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24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04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92040" y="1024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617720" y="1051560"/>
            <a:ext cx="0" cy="3657600"/>
          </a:xfrm>
          <a:prstGeom prst="line">
            <a:avLst/>
          </a:prstGeom>
          <a:noFill/>
          <a:ln w="12700">
            <a:solidFill>
              <a:srgbClr val="D8E3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39319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" y="1563624"/>
            <a:ext cx="457200" cy="457200"/>
          </a:xfrm>
          <a:prstGeom prst="ellipse">
            <a:avLst/>
          </a:prstGeom>
          <a:solidFill>
            <a:srgbClr val="B04A3C"/>
          </a:solidFill>
          <a:ln/>
        </p:spPr>
      </p:sp>
      <p:pic>
        <p:nvPicPr>
          <p:cNvPr id="8" name="Image 0" descr=".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673352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25296" y="1463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volume of raw cybersecurity data to process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2587752"/>
            <a:ext cx="39319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03504" y="2734056"/>
            <a:ext cx="457200" cy="457200"/>
          </a:xfrm>
          <a:prstGeom prst="ellipse">
            <a:avLst/>
          </a:prstGeom>
          <a:solidFill>
            <a:srgbClr val="B04A3C"/>
          </a:solidFill>
          <a:ln/>
        </p:spPr>
      </p:sp>
      <p:pic>
        <p:nvPicPr>
          <p:cNvPr id="12" name="Image 1" descr="./icons/b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2843784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25296" y="2633472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identifying malicious traffic and meaningful threat patterns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3758184"/>
            <a:ext cx="39319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03504" y="3904488"/>
            <a:ext cx="457200" cy="457200"/>
          </a:xfrm>
          <a:prstGeom prst="ellipse">
            <a:avLst/>
          </a:prstGeom>
          <a:solidFill>
            <a:srgbClr val="B04A3C"/>
          </a:solidFill>
          <a:ln/>
        </p:spPr>
      </p:sp>
      <p:pic>
        <p:nvPicPr>
          <p:cNvPr id="16" name="Image 2" descr="./icons/broo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401421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25296" y="380390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required cleaning and preprocessing before visualization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892040" y="1417320"/>
            <a:ext cx="39319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038344" y="1563624"/>
            <a:ext cx="457200" cy="457200"/>
          </a:xfrm>
          <a:prstGeom prst="ellipse">
            <a:avLst/>
          </a:prstGeom>
          <a:solidFill>
            <a:srgbClr val="2AB7CA"/>
          </a:solidFill>
          <a:ln/>
        </p:spPr>
      </p:sp>
      <p:pic>
        <p:nvPicPr>
          <p:cNvPr id="20" name="Image 3" descr="./icons/chartb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8072" y="167335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660136" y="1463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and processed the cybersecurity dataset using Power BI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892040" y="2587752"/>
            <a:ext cx="39319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038344" y="2734056"/>
            <a:ext cx="457200" cy="457200"/>
          </a:xfrm>
          <a:prstGeom prst="ellipse">
            <a:avLst/>
          </a:prstGeom>
          <a:solidFill>
            <a:srgbClr val="2AB7CA"/>
          </a:solidFill>
          <a:ln/>
        </p:spPr>
      </p:sp>
      <p:pic>
        <p:nvPicPr>
          <p:cNvPr id="24" name="Image 4" descr="./icons/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8072" y="2843784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660136" y="2633472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systematic analysis and interactive visualizations to identify patterns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4892040" y="3758184"/>
            <a:ext cx="39319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5038344" y="3904488"/>
            <a:ext cx="457200" cy="457200"/>
          </a:xfrm>
          <a:prstGeom prst="ellipse">
            <a:avLst/>
          </a:prstGeom>
          <a:solidFill>
            <a:srgbClr val="2AB7CA"/>
          </a:solidFill>
          <a:ln/>
        </p:spPr>
      </p:sp>
      <p:pic>
        <p:nvPicPr>
          <p:cNvPr id="28" name="Image 5" descr="./icons/checkcirc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48072" y="4014216"/>
            <a:ext cx="237744" cy="23774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660136" y="380390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the complete 12-step preprocessing workflow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3D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Enhancements &amp; Key Insights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335024"/>
            <a:ext cx="384048" cy="384048"/>
          </a:xfrm>
          <a:prstGeom prst="ellipse">
            <a:avLst/>
          </a:prstGeom>
          <a:solidFill>
            <a:srgbClr val="0A3D62"/>
          </a:solidFill>
          <a:ln/>
        </p:spPr>
      </p:sp>
      <p:pic>
        <p:nvPicPr>
          <p:cNvPr id="5" name="Image 0" descr="./icons/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372" y="1427196"/>
            <a:ext cx="199705" cy="1997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9264" y="13075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threat monitoring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57200" y="1901952"/>
            <a:ext cx="384048" cy="384048"/>
          </a:xfrm>
          <a:prstGeom prst="ellipse">
            <a:avLst/>
          </a:prstGeom>
          <a:solidFill>
            <a:srgbClr val="0A3D62"/>
          </a:solidFill>
          <a:ln/>
        </p:spPr>
      </p:sp>
      <p:pic>
        <p:nvPicPr>
          <p:cNvPr id="8" name="Image 1" descr="./icons/be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372" y="1994124"/>
            <a:ext cx="199705" cy="19970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9264" y="18745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threat alerts &amp; notifications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57200" y="2468880"/>
            <a:ext cx="384048" cy="384048"/>
          </a:xfrm>
          <a:prstGeom prst="ellipse">
            <a:avLst/>
          </a:prstGeom>
          <a:solidFill>
            <a:srgbClr val="0A3D62"/>
          </a:solidFill>
          <a:ln/>
        </p:spPr>
      </p:sp>
      <p:pic>
        <p:nvPicPr>
          <p:cNvPr id="11" name="Image 2" descr="./icons/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372" y="2561052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9264" y="244144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additional cybersecurity datasets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457200" y="3035808"/>
            <a:ext cx="384048" cy="384048"/>
          </a:xfrm>
          <a:prstGeom prst="ellipse">
            <a:avLst/>
          </a:prstGeom>
          <a:solidFill>
            <a:srgbClr val="0A3D62"/>
          </a:solidFill>
          <a:ln/>
        </p:spPr>
      </p:sp>
      <p:pic>
        <p:nvPicPr>
          <p:cNvPr id="14" name="Image 3" descr="./icons/bra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372" y="3127980"/>
            <a:ext cx="199705" cy="19970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9264" y="30083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AI/ML-based threat prediction &amp; anomaly detection</a:t>
            </a:r>
            <a:endParaRPr lang="en-US" sz="1000" dirty="0"/>
          </a:p>
        </p:txBody>
      </p:sp>
      <p:sp>
        <p:nvSpPr>
          <p:cNvPr id="16" name="Text 10"/>
          <p:cNvSpPr/>
          <p:nvPr/>
        </p:nvSpPr>
        <p:spPr>
          <a:xfrm>
            <a:off x="457200" y="36576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457200" y="393192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70" b="1" dirty="0">
                <a:solidFill>
                  <a:srgbClr val="0A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44.60 </a:t>
            </a:r>
            <a:r>
              <a:rPr lang="en-US" sz="97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Risk Index — above the 40 elevated-risk threshold
</a:t>
            </a:r>
            <a:r>
              <a:rPr lang="en-US" sz="970" b="1" dirty="0">
                <a:solidFill>
                  <a:srgbClr val="0A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50.11% </a:t>
            </a:r>
            <a:r>
              <a:rPr lang="en-US" sz="97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rate; </a:t>
            </a:r>
            <a:r>
              <a:rPr lang="en-US" sz="970" b="1" dirty="0">
                <a:solidFill>
                  <a:srgbClr val="0A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49.99% </a:t>
            </a:r>
            <a:r>
              <a:rPr lang="en-US" sz="97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traffic actively blocked
</a:t>
            </a:r>
            <a:r>
              <a:rPr lang="en-US" sz="970" b="1" dirty="0">
                <a:solidFill>
                  <a:srgbClr val="0A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</a:t>
            </a:r>
            <a:r>
              <a:rPr lang="en-US" sz="97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the highest share of critical breaches</a:t>
            </a:r>
            <a:endParaRPr lang="en-US" sz="970" dirty="0"/>
          </a:p>
        </p:txBody>
      </p:sp>
      <p:sp>
        <p:nvSpPr>
          <p:cNvPr id="18" name="Shape 12"/>
          <p:cNvSpPr/>
          <p:nvPr/>
        </p:nvSpPr>
        <p:spPr>
          <a:xfrm>
            <a:off x="4526280" y="1005840"/>
            <a:ext cx="4251960" cy="2743200"/>
          </a:xfrm>
          <a:prstGeom prst="roundRect">
            <a:avLst>
              <a:gd name="adj" fmla="val 2000"/>
            </a:avLst>
          </a:prstGeom>
          <a:solidFill>
            <a:srgbClr val="0F1621"/>
          </a:solidFill>
          <a:ln w="12700">
            <a:solidFill>
              <a:srgbClr val="D8E3E8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4" descr="./assets/dash7_mai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1115568"/>
            <a:ext cx="4014216" cy="223113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645152" y="3364992"/>
            <a:ext cx="4014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CA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7 of 7  —  Overall Threat Detection Performance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3D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0A3D62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051560"/>
            <a:ext cx="7589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 Threat  Analytics Platform with Incident </a:t>
            </a:r>
            <a:r>
              <a:rPr lang="en-US" sz="135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Visualisation</a:t>
            </a:r>
            <a:r>
              <a:rPr lang="en-US" sz="1350" i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System successfully </a:t>
            </a:r>
            <a:r>
              <a:rPr lang="en-US" sz="13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transformed raw cybersecurity threat detection logs into an interactive Power BI-based threat analytics and visualization solution.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SKILLS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633472"/>
            <a:ext cx="97292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3D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633472"/>
            <a:ext cx="972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576426" y="2633472"/>
            <a:ext cx="1241755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3D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6426" y="2633472"/>
            <a:ext cx="12417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64485" y="2633472"/>
            <a:ext cx="186903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3D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64485" y="2633472"/>
            <a:ext cx="1869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79822" y="2633472"/>
            <a:ext cx="186903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3D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79822" y="2633472"/>
            <a:ext cx="1869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95160" y="2633472"/>
            <a:ext cx="142097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3D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95160" y="2633472"/>
            <a:ext cx="14209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429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AB7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SKILLS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776472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2AB7C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776472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Solving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03704" y="3776472"/>
            <a:ext cx="1420978" cy="402336"/>
          </a:xfrm>
          <a:prstGeom prst="roundRect">
            <a:avLst>
              <a:gd name="adj" fmla="val 50000"/>
            </a:avLst>
          </a:prstGeom>
          <a:solidFill>
            <a:srgbClr val="2AB7CA"/>
          </a:solidFill>
          <a:ln/>
        </p:spPr>
      </p:sp>
      <p:sp>
        <p:nvSpPr>
          <p:cNvPr id="20" name="Text 18"/>
          <p:cNvSpPr/>
          <p:nvPr/>
        </p:nvSpPr>
        <p:spPr>
          <a:xfrm>
            <a:off x="2203704" y="3776472"/>
            <a:ext cx="14209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770986" y="3776472"/>
            <a:ext cx="972922" cy="402336"/>
          </a:xfrm>
          <a:prstGeom prst="roundRect">
            <a:avLst>
              <a:gd name="adj" fmla="val 50000"/>
            </a:avLst>
          </a:prstGeom>
          <a:solidFill>
            <a:srgbClr val="2AB7CA"/>
          </a:solidFill>
          <a:ln/>
        </p:spPr>
      </p:sp>
      <p:sp>
        <p:nvSpPr>
          <p:cNvPr id="22" name="Text 20"/>
          <p:cNvSpPr/>
          <p:nvPr/>
        </p:nvSpPr>
        <p:spPr>
          <a:xfrm>
            <a:off x="3770986" y="3776472"/>
            <a:ext cx="972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0211" y="3776472"/>
            <a:ext cx="1331366" cy="402336"/>
          </a:xfrm>
          <a:prstGeom prst="roundRect">
            <a:avLst>
              <a:gd name="adj" fmla="val 50000"/>
            </a:avLst>
          </a:prstGeom>
          <a:solidFill>
            <a:srgbClr val="2AB7CA"/>
          </a:solidFill>
          <a:ln/>
        </p:spPr>
      </p:sp>
      <p:sp>
        <p:nvSpPr>
          <p:cNvPr id="24" name="Text 22"/>
          <p:cNvSpPr/>
          <p:nvPr/>
        </p:nvSpPr>
        <p:spPr>
          <a:xfrm>
            <a:off x="4890211" y="3776472"/>
            <a:ext cx="133136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3D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Acknowledgements &amp; References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57200" cy="457200"/>
          </a:xfrm>
          <a:prstGeom prst="ellipse">
            <a:avLst/>
          </a:prstGeom>
          <a:solidFill>
            <a:srgbClr val="0A3D62"/>
          </a:solidFill>
          <a:ln/>
        </p:spPr>
      </p:sp>
      <p:pic>
        <p:nvPicPr>
          <p:cNvPr id="4" name="Image 0" descr="./icons/handsh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2070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50" dirty="0">
                <a:solidFill>
                  <a:srgbClr val="0A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ACKNOWLEDGEMENTS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02920" y="182880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 Virtual Internship 7.0</a:t>
            </a:r>
            <a:endParaRPr lang="en-US" sz="1150" dirty="0"/>
          </a:p>
          <a:p>
            <a:pPr marL="177800" indent="-1778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— Mrs. Nithayasri S J</a:t>
            </a:r>
            <a:endParaRPr lang="en-US" sz="1150" dirty="0"/>
          </a:p>
          <a:p>
            <a:pPr marL="177800" indent="-1778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 — Akshay Jaiswal, Srinidhi, Darsh Dwivedi, Deepan S, Harini T, Hemanth M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17720" y="1143000"/>
            <a:ext cx="0" cy="3566160"/>
          </a:xfrm>
          <a:prstGeom prst="line">
            <a:avLst/>
          </a:prstGeom>
          <a:noFill/>
          <a:ln w="12700">
            <a:solidFill>
              <a:srgbClr val="D8E3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92040" y="1143000"/>
            <a:ext cx="457200" cy="457200"/>
          </a:xfrm>
          <a:prstGeom prst="ellipse">
            <a:avLst/>
          </a:prstGeom>
          <a:solidFill>
            <a:srgbClr val="2AB7CA"/>
          </a:solidFill>
          <a:ln/>
        </p:spPr>
      </p:sp>
      <p:pic>
        <p:nvPicPr>
          <p:cNvPr id="9" name="Image 1" descr="./icons/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1768" y="12527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0" y="12070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50" dirty="0">
                <a:solidFill>
                  <a:srgbClr val="0A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4937760" y="182880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Cybersecurity Threat Detection Dataset</a:t>
            </a:r>
            <a:endParaRPr lang="en-US" sz="1150" dirty="0"/>
          </a:p>
          <a:p>
            <a:pPr marL="177800" indent="-1778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Official Documentation</a:t>
            </a:r>
            <a:endParaRPr lang="en-US" sz="1150" dirty="0"/>
          </a:p>
          <a:p>
            <a:pPr marL="177800" indent="-1778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Documentation</a:t>
            </a:r>
            <a:endParaRPr lang="en-US" sz="1150" dirty="0"/>
          </a:p>
          <a:p>
            <a:pPr marL="177800" indent="-1778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 Training &amp; Internship Materials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3D6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60520" y="1234440"/>
            <a:ext cx="822960" cy="822960"/>
          </a:xfrm>
          <a:prstGeom prst="ellipse">
            <a:avLst/>
          </a:prstGeom>
          <a:solidFill>
            <a:srgbClr val="2AB7CA"/>
          </a:solidFill>
          <a:ln/>
        </p:spPr>
      </p:sp>
      <p:pic>
        <p:nvPicPr>
          <p:cNvPr id="3" name="Image 0" descr="./icons/shielda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8030" y="1431950"/>
            <a:ext cx="427939" cy="42793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331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434</Words>
  <Application>Microsoft Office PowerPoint</Application>
  <PresentationFormat>On-screen Show (16:9)</PresentationFormat>
  <Paragraphs>91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HEMANTH MUDDURAJ</cp:lastModifiedBy>
  <cp:revision>6</cp:revision>
  <dcterms:created xsi:type="dcterms:W3CDTF">2026-08-15T16:22:36Z</dcterms:created>
  <dcterms:modified xsi:type="dcterms:W3CDTF">2026-08-16T11:24:49Z</dcterms:modified>
</cp:coreProperties>
</file>